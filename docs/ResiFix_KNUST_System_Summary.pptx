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ResiFix KNUST is a two-application platform: a React Native student app and a React admin dashboard, both talking to one Supabase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replaces the paper logbook with a digital trail that students, hall admins and the estate office can all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Supabase project backs both clients. Row-level security means the database, not the app, decides what each person can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Around 26 screens. Auth is Supabase, with the session persisted so a returning student lands straight in the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technician role was removed from the dashboard; its two pages are now dead stubs. Scheduling is handled by hall admins.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open reports block a new one. A resolved fault that recurs can be reported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Counts are from the live project. The reports table is empty because test data was cleared before the duplicate constraint was added.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Email goes out through Resend, falling back to a Gmail app password. Admin recipients are read from the database, never from the request 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explicit about the dormant and drifted parts is stronger in a defence than implying everything is finished.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loop rather than the technology list — that is what the system is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C1C"/>
        </a:solidFill>
      </p:bgPr>
    </p:bg>
    <p:spTree>
      <p:nvGrpSpPr>
        <p:cNvPr id="1" name=""/>
        <p:cNvGrpSpPr/>
        <p:nvPr/>
      </p:nvGrpSpPr>
      <p:grpSpPr>
        <a:xfrm>
          <a:off x="0" y="0"/>
          <a:ext cx="0" cy="0"/>
          <a:chOff x="0" y="0"/>
          <a:chExt cx="0" cy="0"/>
        </a:xfrm>
      </p:grpSpPr>
      <p:sp>
        <p:nvSpPr>
          <p:cNvPr id="2" name="Shape 0"/>
          <p:cNvSpPr/>
          <p:nvPr/>
        </p:nvSpPr>
        <p:spPr>
          <a:xfrm>
            <a:off x="8549640" y="1691640"/>
            <a:ext cx="2834640" cy="2834640"/>
          </a:xfrm>
          <a:prstGeom prst="ellipse">
            <a:avLst/>
          </a:prstGeom>
          <a:solidFill>
            <a:srgbClr val="AF101A"/>
          </a:solidFill>
          <a:ln w="12700">
            <a:solidFill>
              <a:srgbClr val="AF101A"/>
            </a:solidFill>
            <a:prstDash val="solid"/>
          </a:ln>
        </p:spPr>
      </p:sp>
      <p:sp>
        <p:nvSpPr>
          <p:cNvPr id="3" name="Text 1"/>
          <p:cNvSpPr txBox="1"/>
          <p:nvPr/>
        </p:nvSpPr>
        <p:spPr>
          <a:xfrm>
            <a:off x="8549640" y="1691640"/>
            <a:ext cx="2834640" cy="2834640"/>
          </a:xfrm>
          <a:prstGeom prst="rect">
            <a:avLst/>
          </a:prstGeom>
          <a:noFill/>
          <a:ln/>
        </p:spPr>
        <p:txBody>
          <a:bodyPr wrap="square" lIns="0" tIns="0" rIns="0" bIns="0" rtlCol="0" anchor="ctr"/>
          <a:lstStyle/>
          <a:p>
            <a:pPr algn="ctr" indent="0" marL="0">
              <a:buNone/>
            </a:pPr>
            <a:r>
              <a:rPr lang="en-US" sz="6600" b="1" dirty="0">
                <a:solidFill>
                  <a:srgbClr val="FFFFFF"/>
                </a:solidFill>
                <a:latin typeface="Cambria" pitchFamily="34" charset="0"/>
                <a:ea typeface="Cambria" pitchFamily="34" charset="-122"/>
                <a:cs typeface="Cambria" pitchFamily="34" charset="-120"/>
              </a:rPr>
              <a:t>RF</a:t>
            </a:r>
            <a:endParaRPr lang="en-US" sz="6600" dirty="0"/>
          </a:p>
        </p:txBody>
      </p:sp>
      <p:sp>
        <p:nvSpPr>
          <p:cNvPr id="4" name="Text 2"/>
          <p:cNvSpPr txBox="1"/>
          <p:nvPr/>
        </p:nvSpPr>
        <p:spPr>
          <a:xfrm>
            <a:off x="822960" y="1965960"/>
            <a:ext cx="7406640" cy="914400"/>
          </a:xfrm>
          <a:prstGeom prst="rect">
            <a:avLst/>
          </a:prstGeom>
          <a:noFill/>
          <a:ln/>
        </p:spPr>
        <p:txBody>
          <a:bodyPr wrap="square" lIns="0" tIns="0" rIns="0" bIns="0"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ResiFix KNUST</a:t>
            </a:r>
            <a:endParaRPr lang="en-US" sz="5000" dirty="0"/>
          </a:p>
        </p:txBody>
      </p:sp>
      <p:sp>
        <p:nvSpPr>
          <p:cNvPr id="5" name="Text 3"/>
          <p:cNvSpPr txBox="1"/>
          <p:nvPr/>
        </p:nvSpPr>
        <p:spPr>
          <a:xfrm>
            <a:off x="822960" y="2962656"/>
            <a:ext cx="7406640" cy="457200"/>
          </a:xfrm>
          <a:prstGeom prst="rect">
            <a:avLst/>
          </a:prstGeom>
          <a:noFill/>
          <a:ln/>
        </p:spPr>
        <p:txBody>
          <a:bodyPr wrap="square" lIns="0" tIns="0" rIns="0" bIns="0" rtlCol="0" anchor="ctr"/>
          <a:lstStyle/>
          <a:p>
            <a:pPr indent="0" marL="0">
              <a:buNone/>
            </a:pPr>
            <a:r>
              <a:rPr lang="en-US" sz="2000" dirty="0">
                <a:solidFill>
                  <a:srgbClr val="FCF6F5"/>
                </a:solidFill>
                <a:latin typeface="Calibri" pitchFamily="34" charset="0"/>
                <a:ea typeface="Calibri" pitchFamily="34" charset="-122"/>
                <a:cs typeface="Calibri" pitchFamily="34" charset="-120"/>
              </a:rPr>
              <a:t>A hall maintenance platform for KNUST</a:t>
            </a:r>
            <a:endParaRPr lang="en-US" sz="2000" dirty="0"/>
          </a:p>
        </p:txBody>
      </p:sp>
      <p:sp>
        <p:nvSpPr>
          <p:cNvPr id="6" name="Text 4"/>
          <p:cNvSpPr txBox="1"/>
          <p:nvPr/>
        </p:nvSpPr>
        <p:spPr>
          <a:xfrm>
            <a:off x="822960" y="3584448"/>
            <a:ext cx="7406640" cy="640080"/>
          </a:xfrm>
          <a:prstGeom prst="rect">
            <a:avLst/>
          </a:prstGeom>
          <a:noFill/>
          <a:ln/>
        </p:spPr>
        <p:txBody>
          <a:bodyPr wrap="square" lIns="0" tIns="0" rIns="0" bIns="0" rtlCol="0" anchor="ctr"/>
          <a:lstStyle/>
          <a:p>
            <a:pPr indent="0" marL="0">
              <a:buNone/>
            </a:pPr>
            <a:r>
              <a:rPr lang="en-US" sz="1400" i="1" dirty="0">
                <a:solidFill>
                  <a:srgbClr val="B8ADAB"/>
                </a:solidFill>
                <a:latin typeface="Calibri" pitchFamily="34" charset="0"/>
                <a:ea typeface="Calibri" pitchFamily="34" charset="-122"/>
                <a:cs typeface="Calibri" pitchFamily="34" charset="-120"/>
              </a:rPr>
              <a:t>Mobile app for residents  ·  Web dashboard for administrators  ·  One shared database</a:t>
            </a:r>
            <a:endParaRPr lang="en-US" sz="1400" dirty="0"/>
          </a:p>
        </p:txBody>
      </p:sp>
      <p:sp>
        <p:nvSpPr>
          <p:cNvPr id="7" name="Text 5"/>
          <p:cNvSpPr txBox="1"/>
          <p:nvPr/>
        </p:nvSpPr>
        <p:spPr>
          <a:xfrm>
            <a:off x="822960" y="5852160"/>
            <a:ext cx="7315200" cy="320040"/>
          </a:xfrm>
          <a:prstGeom prst="rect">
            <a:avLst/>
          </a:prstGeom>
          <a:noFill/>
          <a:ln/>
        </p:spPr>
        <p:txBody>
          <a:bodyPr wrap="square" lIns="0" tIns="0" rIns="0" bIns="0" rtlCol="0" anchor="ctr"/>
          <a:lstStyle/>
          <a:p>
            <a:pPr indent="0" marL="0">
              <a:buNone/>
            </a:pPr>
            <a:r>
              <a:rPr lang="en-US" sz="1200" dirty="0">
                <a:solidFill>
                  <a:srgbClr val="8A7E7C"/>
                </a:solidFill>
                <a:latin typeface="Calibri" pitchFamily="34" charset="0"/>
                <a:ea typeface="Calibri" pitchFamily="34" charset="-122"/>
                <a:cs typeface="Calibri" pitchFamily="34" charset="-120"/>
              </a:rPr>
              <a:t>System summary  ·  September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6F5"/>
        </a:solidFill>
      </p:bgPr>
    </p:bg>
    <p:spTree>
      <p:nvGrpSpPr>
        <p:cNvPr id="1" name=""/>
        <p:cNvGrpSpPr/>
        <p:nvPr/>
      </p:nvGrpSpPr>
      <p:grpSpPr>
        <a:xfrm>
          <a:off x="0" y="0"/>
          <a:ext cx="0" cy="0"/>
          <a:chOff x="0" y="0"/>
          <a:chExt cx="0" cy="0"/>
        </a:xfrm>
      </p:grpSpPr>
      <p:sp>
        <p:nvSpPr>
          <p:cNvPr id="2" name="Text 0"/>
          <p:cNvSpPr txBox="1"/>
          <p:nvPr/>
        </p:nvSpPr>
        <p:spPr>
          <a:xfrm>
            <a:off x="594360" y="457200"/>
            <a:ext cx="10058400" cy="621792"/>
          </a:xfrm>
          <a:prstGeom prst="rect">
            <a:avLst/>
          </a:prstGeom>
          <a:noFill/>
          <a:ln/>
        </p:spPr>
        <p:txBody>
          <a:bodyPr wrap="square" lIns="0" tIns="0" rIns="0" bIns="0" rtlCol="0" anchor="t"/>
          <a:lstStyle/>
          <a:p>
            <a:pPr indent="0" marL="0">
              <a:buNone/>
            </a:pPr>
            <a:r>
              <a:rPr lang="en-US" sz="3600" b="1" dirty="0">
                <a:solidFill>
                  <a:srgbClr val="1A1C1C"/>
                </a:solidFill>
                <a:latin typeface="Cambria" pitchFamily="34" charset="0"/>
                <a:ea typeface="Cambria" pitchFamily="34" charset="-122"/>
                <a:cs typeface="Cambria" pitchFamily="34" charset="-120"/>
              </a:rPr>
              <a:t>The problem</a:t>
            </a:r>
            <a:endParaRPr lang="en-US" sz="3600" dirty="0"/>
          </a:p>
        </p:txBody>
      </p:sp>
      <p:sp>
        <p:nvSpPr>
          <p:cNvPr id="3" name="Text 1"/>
          <p:cNvSpPr txBox="1"/>
          <p:nvPr/>
        </p:nvSpPr>
        <p:spPr>
          <a:xfrm>
            <a:off x="594360" y="1106424"/>
            <a:ext cx="10607040" cy="347472"/>
          </a:xfrm>
          <a:prstGeom prst="rect">
            <a:avLst/>
          </a:prstGeom>
          <a:noFill/>
          <a:ln/>
        </p:spPr>
        <p:txBody>
          <a:bodyPr wrap="square" lIns="0" tIns="0" rIns="0" bIns="0" rtlCol="0" anchor="t"/>
          <a:lstStyle/>
          <a:p>
            <a:pPr indent="0" marL="0">
              <a:buNone/>
            </a:pPr>
            <a:r>
              <a:rPr lang="en-US" sz="1450" dirty="0">
                <a:solidFill>
                  <a:srgbClr val="6B6360"/>
                </a:solidFill>
                <a:latin typeface="Calibri" pitchFamily="34" charset="0"/>
                <a:ea typeface="Calibri" pitchFamily="34" charset="-122"/>
                <a:cs typeface="Calibri" pitchFamily="34" charset="-120"/>
              </a:rPr>
              <a:t>Hall maintenance ran on paper logbooks at the porter's lodge.</a:t>
            </a:r>
            <a:endParaRPr lang="en-US" sz="1450" dirty="0"/>
          </a:p>
        </p:txBody>
      </p:sp>
      <p:sp>
        <p:nvSpPr>
          <p:cNvPr id="4" name="Shape 2"/>
          <p:cNvSpPr/>
          <p:nvPr/>
        </p:nvSpPr>
        <p:spPr>
          <a:xfrm>
            <a:off x="594360" y="1783080"/>
            <a:ext cx="5349240" cy="2560320"/>
          </a:xfrm>
          <a:prstGeom prst="roundRect">
            <a:avLst>
              <a:gd name="adj" fmla="val 3571"/>
            </a:avLst>
          </a:prstGeom>
          <a:solidFill>
            <a:srgbClr val="FFFFFF"/>
          </a:solidFill>
          <a:ln w="9525">
            <a:solidFill>
              <a:srgbClr val="E4BEBA"/>
            </a:solidFill>
            <a:prstDash val="solid"/>
          </a:ln>
          <a:effectLst>
            <a:outerShdw sx="100000" sy="100000" kx="0" ky="0" algn="bl" rotWithShape="0" blurRad="127000" dist="25400" dir="5400000">
              <a:srgbClr val="8A7A78">
                <a:alpha val="18000"/>
              </a:srgbClr>
            </a:outerShdw>
          </a:effectLst>
        </p:spPr>
      </p:sp>
      <p:sp>
        <p:nvSpPr>
          <p:cNvPr id="5" name="Text 3"/>
          <p:cNvSpPr txBox="1"/>
          <p:nvPr/>
        </p:nvSpPr>
        <p:spPr>
          <a:xfrm>
            <a:off x="960120" y="2057400"/>
            <a:ext cx="4206240" cy="384048"/>
          </a:xfrm>
          <a:prstGeom prst="rect">
            <a:avLst/>
          </a:prstGeom>
          <a:noFill/>
          <a:ln/>
        </p:spPr>
        <p:txBody>
          <a:bodyPr wrap="square" lIns="0" tIns="0" rIns="0" bIns="0" rtlCol="0" anchor="t"/>
          <a:lstStyle/>
          <a:p>
            <a:pPr indent="0" marL="0">
              <a:buNone/>
            </a:pPr>
            <a:r>
              <a:rPr lang="en-US" sz="2100" b="1" dirty="0">
                <a:solidFill>
                  <a:srgbClr val="6B6360"/>
                </a:solidFill>
                <a:latin typeface="Cambria" pitchFamily="34" charset="0"/>
                <a:ea typeface="Cambria" pitchFamily="34" charset="-122"/>
                <a:cs typeface="Cambria" pitchFamily="34" charset="-120"/>
              </a:rPr>
              <a:t>Before</a:t>
            </a:r>
            <a:endParaRPr lang="en-US" sz="2100" dirty="0"/>
          </a:p>
        </p:txBody>
      </p:sp>
      <p:sp>
        <p:nvSpPr>
          <p:cNvPr id="6" name="Text 4"/>
          <p:cNvSpPr txBox="1"/>
          <p:nvPr/>
        </p:nvSpPr>
        <p:spPr>
          <a:xfrm>
            <a:off x="914400" y="2578608"/>
            <a:ext cx="4709160" cy="2788920"/>
          </a:xfrm>
          <a:prstGeom prst="rect">
            <a:avLst/>
          </a:prstGeom>
          <a:noFill/>
          <a:ln/>
        </p:spPr>
        <p:txBody>
          <a:bodyPr wrap="square" lIns="0" tIns="0" rIns="0" bIns="0" rtlCol="0" anchor="t"/>
          <a:lstStyle/>
          <a:p>
            <a:pPr marL="342900" indent="-342900">
              <a:spcAft>
                <a:spcPts val="700"/>
              </a:spcAft>
              <a:buSzPct val="100000"/>
              <a:buChar char="•"/>
            </a:pPr>
            <a:r>
              <a:rPr lang="en-US" sz="1350" dirty="0">
                <a:solidFill>
                  <a:srgbClr val="4A4340"/>
                </a:solidFill>
                <a:latin typeface="Calibri" pitchFamily="34" charset="0"/>
                <a:ea typeface="Calibri" pitchFamily="34" charset="-122"/>
                <a:cs typeface="Calibri" pitchFamily="34" charset="-120"/>
              </a:rPr>
              <a:t>Complaints written by hand, often illegible</a:t>
            </a:r>
            <a:endParaRPr lang="en-US" sz="1350" dirty="0"/>
          </a:p>
          <a:p>
            <a:pPr marL="342900" indent="-342900">
              <a:spcAft>
                <a:spcPts val="700"/>
              </a:spcAft>
              <a:buSzPct val="100000"/>
              <a:buChar char="•"/>
            </a:pPr>
            <a:r>
              <a:rPr lang="en-US" sz="1350" dirty="0">
                <a:solidFill>
                  <a:srgbClr val="4A4340"/>
                </a:solidFill>
                <a:latin typeface="Calibri" pitchFamily="34" charset="0"/>
                <a:ea typeface="Calibri" pitchFamily="34" charset="-122"/>
                <a:cs typeface="Calibri" pitchFamily="34" charset="-120"/>
              </a:rPr>
              <a:t>No reference, no way to follow up</a:t>
            </a:r>
            <a:endParaRPr lang="en-US" sz="1350" dirty="0"/>
          </a:p>
          <a:p>
            <a:pPr marL="342900" indent="-342900">
              <a:spcAft>
                <a:spcPts val="700"/>
              </a:spcAft>
              <a:buSzPct val="100000"/>
              <a:buChar char="•"/>
            </a:pPr>
            <a:r>
              <a:rPr lang="en-US" sz="1350" dirty="0">
                <a:solidFill>
                  <a:srgbClr val="4A4340"/>
                </a:solidFill>
                <a:latin typeface="Calibri" pitchFamily="34" charset="0"/>
                <a:ea typeface="Calibri" pitchFamily="34" charset="-122"/>
                <a:cs typeface="Calibri" pitchFamily="34" charset="-120"/>
              </a:rPr>
              <a:t>Technicians dispatched blind, with no photos</a:t>
            </a:r>
            <a:endParaRPr lang="en-US" sz="1350" dirty="0"/>
          </a:p>
          <a:p>
            <a:pPr marL="342900" indent="-342900">
              <a:spcAft>
                <a:spcPts val="700"/>
              </a:spcAft>
              <a:buSzPct val="100000"/>
              <a:buChar char="•"/>
            </a:pPr>
            <a:r>
              <a:rPr lang="en-US" sz="1350" dirty="0">
                <a:solidFill>
                  <a:srgbClr val="4A4340"/>
                </a:solidFill>
                <a:latin typeface="Calibri" pitchFamily="34" charset="0"/>
                <a:ea typeface="Calibri" pitchFamily="34" charset="-122"/>
                <a:cs typeface="Calibri" pitchFamily="34" charset="-120"/>
              </a:rPr>
              <a:t>No record anyone could analyse</a:t>
            </a:r>
            <a:endParaRPr lang="en-US" sz="1350" dirty="0"/>
          </a:p>
        </p:txBody>
      </p:sp>
      <p:sp>
        <p:nvSpPr>
          <p:cNvPr id="7" name="Shape 5"/>
          <p:cNvSpPr/>
          <p:nvPr/>
        </p:nvSpPr>
        <p:spPr>
          <a:xfrm>
            <a:off x="6236208" y="1783080"/>
            <a:ext cx="5349240" cy="2560320"/>
          </a:xfrm>
          <a:prstGeom prst="roundRect">
            <a:avLst>
              <a:gd name="adj" fmla="val 3571"/>
            </a:avLst>
          </a:prstGeom>
          <a:solidFill>
            <a:srgbClr val="FDF6F5"/>
          </a:solidFill>
          <a:ln w="9525">
            <a:solidFill>
              <a:srgbClr val="E4BEBA"/>
            </a:solidFill>
            <a:prstDash val="solid"/>
          </a:ln>
          <a:effectLst>
            <a:outerShdw sx="100000" sy="100000" kx="0" ky="0" algn="bl" rotWithShape="0" blurRad="127000" dist="25400" dir="5400000">
              <a:srgbClr val="8A7A78">
                <a:alpha val="18000"/>
              </a:srgbClr>
            </a:outerShdw>
          </a:effectLst>
        </p:spPr>
      </p:sp>
      <p:sp>
        <p:nvSpPr>
          <p:cNvPr id="8" name="Text 6"/>
          <p:cNvSpPr txBox="1"/>
          <p:nvPr/>
        </p:nvSpPr>
        <p:spPr>
          <a:xfrm>
            <a:off x="6601968" y="2057400"/>
            <a:ext cx="4206240" cy="384048"/>
          </a:xfrm>
          <a:prstGeom prst="rect">
            <a:avLst/>
          </a:prstGeom>
          <a:noFill/>
          <a:ln/>
        </p:spPr>
        <p:txBody>
          <a:bodyPr wrap="square" lIns="0" tIns="0" rIns="0" bIns="0" rtlCol="0" anchor="t"/>
          <a:lstStyle/>
          <a:p>
            <a:pPr indent="0" marL="0">
              <a:buNone/>
            </a:pPr>
            <a:r>
              <a:rPr lang="en-US" sz="2100" b="1" dirty="0">
                <a:solidFill>
                  <a:srgbClr val="AF101A"/>
                </a:solidFill>
                <a:latin typeface="Cambria" pitchFamily="34" charset="0"/>
                <a:ea typeface="Cambria" pitchFamily="34" charset="-122"/>
                <a:cs typeface="Cambria" pitchFamily="34" charset="-120"/>
              </a:rPr>
              <a:t>With ResiFix</a:t>
            </a:r>
            <a:endParaRPr lang="en-US" sz="2100" dirty="0"/>
          </a:p>
        </p:txBody>
      </p:sp>
      <p:sp>
        <p:nvSpPr>
          <p:cNvPr id="9" name="Text 7"/>
          <p:cNvSpPr txBox="1"/>
          <p:nvPr/>
        </p:nvSpPr>
        <p:spPr>
          <a:xfrm>
            <a:off x="6556248" y="2578608"/>
            <a:ext cx="4709160" cy="2788920"/>
          </a:xfrm>
          <a:prstGeom prst="rect">
            <a:avLst/>
          </a:prstGeom>
          <a:noFill/>
          <a:ln/>
        </p:spPr>
        <p:txBody>
          <a:bodyPr wrap="square" lIns="0" tIns="0" rIns="0" bIns="0" rtlCol="0" anchor="t"/>
          <a:lstStyle/>
          <a:p>
            <a:pPr marL="342900" indent="-342900">
              <a:spcAft>
                <a:spcPts val="700"/>
              </a:spcAft>
              <a:buSzPct val="100000"/>
              <a:buChar char="•"/>
            </a:pPr>
            <a:r>
              <a:rPr lang="en-US" sz="1350" dirty="0">
                <a:solidFill>
                  <a:srgbClr val="4A4340"/>
                </a:solidFill>
                <a:latin typeface="Calibri" pitchFamily="34" charset="0"/>
                <a:ea typeface="Calibri" pitchFamily="34" charset="-122"/>
                <a:cs typeface="Calibri" pitchFamily="34" charset="-120"/>
              </a:rPr>
              <a:t>Reports filed from the phone in under a minute</a:t>
            </a:r>
            <a:endParaRPr lang="en-US" sz="1350" dirty="0"/>
          </a:p>
          <a:p>
            <a:pPr marL="342900" indent="-342900">
              <a:spcAft>
                <a:spcPts val="700"/>
              </a:spcAft>
              <a:buSzPct val="100000"/>
              <a:buChar char="•"/>
            </a:pPr>
            <a:r>
              <a:rPr lang="en-US" sz="1350" dirty="0">
                <a:solidFill>
                  <a:srgbClr val="4A4340"/>
                </a:solidFill>
                <a:latin typeface="Calibri" pitchFamily="34" charset="0"/>
                <a:ea typeface="Calibri" pitchFamily="34" charset="-122"/>
                <a:cs typeface="Calibri" pitchFamily="34" charset="-120"/>
              </a:rPr>
              <a:t>Every report carries a reference and a live status</a:t>
            </a:r>
            <a:endParaRPr lang="en-US" sz="1350" dirty="0"/>
          </a:p>
          <a:p>
            <a:pPr marL="342900" indent="-342900">
              <a:spcAft>
                <a:spcPts val="700"/>
              </a:spcAft>
              <a:buSzPct val="100000"/>
              <a:buChar char="•"/>
            </a:pPr>
            <a:r>
              <a:rPr lang="en-US" sz="1350" dirty="0">
                <a:solidFill>
                  <a:srgbClr val="4A4340"/>
                </a:solidFill>
                <a:latin typeface="Calibri" pitchFamily="34" charset="0"/>
                <a:ea typeface="Calibri" pitchFamily="34" charset="-122"/>
                <a:cs typeface="Calibri" pitchFamily="34" charset="-120"/>
              </a:rPr>
              <a:t>Photos and video attached before dispatch</a:t>
            </a:r>
            <a:endParaRPr lang="en-US" sz="1350" dirty="0"/>
          </a:p>
          <a:p>
            <a:pPr marL="342900" indent="-342900">
              <a:spcAft>
                <a:spcPts val="700"/>
              </a:spcAft>
              <a:buSzPct val="100000"/>
              <a:buChar char="•"/>
            </a:pPr>
            <a:r>
              <a:rPr lang="en-US" sz="1350" dirty="0">
                <a:solidFill>
                  <a:srgbClr val="4A4340"/>
                </a:solidFill>
                <a:latin typeface="Calibri" pitchFamily="34" charset="0"/>
                <a:ea typeface="Calibri" pitchFamily="34" charset="-122"/>
                <a:cs typeface="Calibri" pitchFamily="34" charset="-120"/>
              </a:rPr>
              <a:t>Every action stored and queryable</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457200"/>
            <a:ext cx="10058400" cy="621792"/>
          </a:xfrm>
          <a:prstGeom prst="rect">
            <a:avLst/>
          </a:prstGeom>
          <a:noFill/>
          <a:ln/>
        </p:spPr>
        <p:txBody>
          <a:bodyPr wrap="square" lIns="0" tIns="0" rIns="0" bIns="0" rtlCol="0" anchor="t"/>
          <a:lstStyle/>
          <a:p>
            <a:pPr indent="0" marL="0">
              <a:buNone/>
            </a:pPr>
            <a:r>
              <a:rPr lang="en-US" sz="3600" b="1" dirty="0">
                <a:solidFill>
                  <a:srgbClr val="1A1C1C"/>
                </a:solidFill>
                <a:latin typeface="Cambria" pitchFamily="34" charset="0"/>
                <a:ea typeface="Cambria" pitchFamily="34" charset="-122"/>
                <a:cs typeface="Cambria" pitchFamily="34" charset="-120"/>
              </a:rPr>
              <a:t>Two apps, one database</a:t>
            </a:r>
            <a:endParaRPr lang="en-US" sz="3600" dirty="0"/>
          </a:p>
        </p:txBody>
      </p:sp>
      <p:sp>
        <p:nvSpPr>
          <p:cNvPr id="3" name="Text 1"/>
          <p:cNvSpPr txBox="1"/>
          <p:nvPr/>
        </p:nvSpPr>
        <p:spPr>
          <a:xfrm>
            <a:off x="594360" y="1106424"/>
            <a:ext cx="10607040" cy="347472"/>
          </a:xfrm>
          <a:prstGeom prst="rect">
            <a:avLst/>
          </a:prstGeom>
          <a:noFill/>
          <a:ln/>
        </p:spPr>
        <p:txBody>
          <a:bodyPr wrap="square" lIns="0" tIns="0" rIns="0" bIns="0" rtlCol="0" anchor="t"/>
          <a:lstStyle/>
          <a:p>
            <a:pPr indent="0" marL="0">
              <a:buNone/>
            </a:pPr>
            <a:r>
              <a:rPr lang="en-US" sz="1450" dirty="0">
                <a:solidFill>
                  <a:srgbClr val="6B6360"/>
                </a:solidFill>
                <a:latin typeface="Calibri" pitchFamily="34" charset="0"/>
                <a:ea typeface="Calibri" pitchFamily="34" charset="-122"/>
                <a:cs typeface="Calibri" pitchFamily="34" charset="-120"/>
              </a:rPr>
              <a:t>Neither application owns the data — Supabase does, and the rules live there.</a:t>
            </a:r>
            <a:endParaRPr lang="en-US" sz="1450" dirty="0"/>
          </a:p>
        </p:txBody>
      </p:sp>
      <p:sp>
        <p:nvSpPr>
          <p:cNvPr id="4" name="Shape 2"/>
          <p:cNvSpPr/>
          <p:nvPr/>
        </p:nvSpPr>
        <p:spPr>
          <a:xfrm>
            <a:off x="594360" y="1828800"/>
            <a:ext cx="3136392" cy="2651760"/>
          </a:xfrm>
          <a:prstGeom prst="roundRect">
            <a:avLst>
              <a:gd name="adj" fmla="val 3448"/>
            </a:avLst>
          </a:prstGeom>
          <a:solidFill>
            <a:srgbClr val="FFFFFF"/>
          </a:solidFill>
          <a:ln w="9525">
            <a:solidFill>
              <a:srgbClr val="E4BEBA"/>
            </a:solidFill>
            <a:prstDash val="solid"/>
          </a:ln>
          <a:effectLst>
            <a:outerShdw sx="100000" sy="100000" kx="0" ky="0" algn="bl" rotWithShape="0" blurRad="127000" dist="25400" dir="5400000">
              <a:srgbClr val="8A7A78">
                <a:alpha val="18000"/>
              </a:srgbClr>
            </a:outerShdw>
          </a:effectLst>
        </p:spPr>
      </p:sp>
      <p:sp>
        <p:nvSpPr>
          <p:cNvPr id="5" name="Shape 3"/>
          <p:cNvSpPr/>
          <p:nvPr/>
        </p:nvSpPr>
        <p:spPr>
          <a:xfrm>
            <a:off x="914400" y="2121408"/>
            <a:ext cx="475488" cy="475488"/>
          </a:xfrm>
          <a:prstGeom prst="ellipse">
            <a:avLst/>
          </a:prstGeom>
          <a:solidFill>
            <a:srgbClr val="AF101A"/>
          </a:solidFill>
          <a:ln w="12700">
            <a:solidFill>
              <a:srgbClr val="AF101A"/>
            </a:solidFill>
            <a:prstDash val="solid"/>
          </a:ln>
        </p:spPr>
      </p:sp>
      <p:sp>
        <p:nvSpPr>
          <p:cNvPr id="6" name="Text 4"/>
          <p:cNvSpPr txBox="1"/>
          <p:nvPr/>
        </p:nvSpPr>
        <p:spPr>
          <a:xfrm>
            <a:off x="914400" y="2121408"/>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914400" y="2706624"/>
            <a:ext cx="2514600" cy="365760"/>
          </a:xfrm>
          <a:prstGeom prst="rect">
            <a:avLst/>
          </a:prstGeom>
          <a:noFill/>
          <a:ln/>
        </p:spPr>
        <p:txBody>
          <a:bodyPr wrap="square" lIns="0" tIns="0" rIns="0" bIns="0" rtlCol="0" anchor="t"/>
          <a:lstStyle/>
          <a:p>
            <a:pPr indent="0" marL="0">
              <a:buNone/>
            </a:pPr>
            <a:r>
              <a:rPr lang="en-US" sz="2100" b="1" dirty="0">
                <a:solidFill>
                  <a:srgbClr val="AF101A"/>
                </a:solidFill>
                <a:latin typeface="Cambria" pitchFamily="34" charset="0"/>
                <a:ea typeface="Cambria" pitchFamily="34" charset="-122"/>
                <a:cs typeface="Cambria" pitchFamily="34" charset="-120"/>
              </a:rPr>
              <a:t>Mobile</a:t>
            </a:r>
            <a:endParaRPr lang="en-US" sz="2100" dirty="0"/>
          </a:p>
        </p:txBody>
      </p:sp>
      <p:sp>
        <p:nvSpPr>
          <p:cNvPr id="8" name="Text 6"/>
          <p:cNvSpPr txBox="1"/>
          <p:nvPr/>
        </p:nvSpPr>
        <p:spPr>
          <a:xfrm>
            <a:off x="914400" y="3090672"/>
            <a:ext cx="2514600" cy="274320"/>
          </a:xfrm>
          <a:prstGeom prst="rect">
            <a:avLst/>
          </a:prstGeom>
          <a:noFill/>
          <a:ln/>
        </p:spPr>
        <p:txBody>
          <a:bodyPr wrap="square" lIns="0" tIns="0" rIns="0" bIns="0" rtlCol="0" anchor="t"/>
          <a:lstStyle/>
          <a:p>
            <a:pPr indent="0" marL="0">
              <a:buNone/>
            </a:pPr>
            <a:r>
              <a:rPr lang="en-US" sz="1150" b="1" dirty="0">
                <a:solidFill>
                  <a:srgbClr val="6B6360"/>
                </a:solidFill>
                <a:latin typeface="Calibri" pitchFamily="34" charset="0"/>
                <a:ea typeface="Calibri" pitchFamily="34" charset="-122"/>
                <a:cs typeface="Calibri" pitchFamily="34" charset="-120"/>
              </a:rPr>
              <a:t>Students</a:t>
            </a:r>
            <a:endParaRPr lang="en-US" sz="1150" dirty="0"/>
          </a:p>
        </p:txBody>
      </p:sp>
      <p:sp>
        <p:nvSpPr>
          <p:cNvPr id="9" name="Text 7"/>
          <p:cNvSpPr txBox="1"/>
          <p:nvPr/>
        </p:nvSpPr>
        <p:spPr>
          <a:xfrm>
            <a:off x="868680" y="3438144"/>
            <a:ext cx="2606040" cy="146304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4A4340"/>
                </a:solidFill>
                <a:latin typeface="Calibri" pitchFamily="34" charset="0"/>
                <a:ea typeface="Calibri" pitchFamily="34" charset="-122"/>
                <a:cs typeface="Calibri" pitchFamily="34" charset="-120"/>
              </a:rPr>
              <a:t>React Native on Expo SDK 54</a:t>
            </a:r>
            <a:endParaRPr lang="en-US" sz="1250" dirty="0"/>
          </a:p>
          <a:p>
            <a:pPr marL="342900" indent="-342900">
              <a:spcAft>
                <a:spcPts val="700"/>
              </a:spcAft>
              <a:buSzPct val="100000"/>
              <a:buChar char="•"/>
            </a:pPr>
            <a:r>
              <a:rPr lang="en-US" sz="1250" dirty="0">
                <a:solidFill>
                  <a:srgbClr val="4A4340"/>
                </a:solidFill>
                <a:latin typeface="Calibri" pitchFamily="34" charset="0"/>
                <a:ea typeface="Calibri" pitchFamily="34" charset="-122"/>
                <a:cs typeface="Calibri" pitchFamily="34" charset="-120"/>
              </a:rPr>
              <a:t>Report, track, news, emergency</a:t>
            </a:r>
            <a:endParaRPr lang="en-US" sz="1250" dirty="0"/>
          </a:p>
          <a:p>
            <a:pPr marL="342900" indent="-342900">
              <a:spcAft>
                <a:spcPts val="700"/>
              </a:spcAft>
              <a:buSzPct val="100000"/>
              <a:buChar char="•"/>
            </a:pPr>
            <a:r>
              <a:rPr lang="en-US" sz="1250" dirty="0">
                <a:solidFill>
                  <a:srgbClr val="4A4340"/>
                </a:solidFill>
                <a:latin typeface="Calibri" pitchFamily="34" charset="0"/>
                <a:ea typeface="Calibri" pitchFamily="34" charset="-122"/>
                <a:cs typeface="Calibri" pitchFamily="34" charset="-120"/>
              </a:rPr>
              <a:t>Offline cache for feeds</a:t>
            </a:r>
            <a:endParaRPr lang="en-US" sz="1250" dirty="0"/>
          </a:p>
        </p:txBody>
      </p:sp>
      <p:sp>
        <p:nvSpPr>
          <p:cNvPr id="10" name="Shape 8"/>
          <p:cNvSpPr/>
          <p:nvPr/>
        </p:nvSpPr>
        <p:spPr>
          <a:xfrm>
            <a:off x="4526280" y="1828800"/>
            <a:ext cx="3136392" cy="2651760"/>
          </a:xfrm>
          <a:prstGeom prst="roundRect">
            <a:avLst>
              <a:gd name="adj" fmla="val 3448"/>
            </a:avLst>
          </a:prstGeom>
          <a:solidFill>
            <a:srgbClr val="FDF6F5"/>
          </a:solidFill>
          <a:ln w="9525">
            <a:solidFill>
              <a:srgbClr val="E4BEBA"/>
            </a:solidFill>
            <a:prstDash val="solid"/>
          </a:ln>
          <a:effectLst>
            <a:outerShdw sx="100000" sy="100000" kx="0" ky="0" algn="bl" rotWithShape="0" blurRad="127000" dist="25400" dir="5400000">
              <a:srgbClr val="8A7A78">
                <a:alpha val="18000"/>
              </a:srgbClr>
            </a:outerShdw>
          </a:effectLst>
        </p:spPr>
      </p:sp>
      <p:sp>
        <p:nvSpPr>
          <p:cNvPr id="11" name="Shape 9"/>
          <p:cNvSpPr/>
          <p:nvPr/>
        </p:nvSpPr>
        <p:spPr>
          <a:xfrm>
            <a:off x="4846320" y="2121408"/>
            <a:ext cx="475488" cy="475488"/>
          </a:xfrm>
          <a:prstGeom prst="ellipse">
            <a:avLst/>
          </a:prstGeom>
          <a:solidFill>
            <a:srgbClr val="AF101A"/>
          </a:solidFill>
          <a:ln w="12700">
            <a:solidFill>
              <a:srgbClr val="AF101A"/>
            </a:solidFill>
            <a:prstDash val="solid"/>
          </a:ln>
        </p:spPr>
      </p:sp>
      <p:sp>
        <p:nvSpPr>
          <p:cNvPr id="12" name="Text 10"/>
          <p:cNvSpPr txBox="1"/>
          <p:nvPr/>
        </p:nvSpPr>
        <p:spPr>
          <a:xfrm>
            <a:off x="4846320" y="2121408"/>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txBox="1"/>
          <p:nvPr/>
        </p:nvSpPr>
        <p:spPr>
          <a:xfrm>
            <a:off x="4846320" y="2706624"/>
            <a:ext cx="2514600" cy="365760"/>
          </a:xfrm>
          <a:prstGeom prst="rect">
            <a:avLst/>
          </a:prstGeom>
          <a:noFill/>
          <a:ln/>
        </p:spPr>
        <p:txBody>
          <a:bodyPr wrap="square" lIns="0" tIns="0" rIns="0" bIns="0" rtlCol="0" anchor="t"/>
          <a:lstStyle/>
          <a:p>
            <a:pPr indent="0" marL="0">
              <a:buNone/>
            </a:pPr>
            <a:r>
              <a:rPr lang="en-US" sz="2100" b="1" dirty="0">
                <a:solidFill>
                  <a:srgbClr val="AF101A"/>
                </a:solidFill>
                <a:latin typeface="Cambria" pitchFamily="34" charset="0"/>
                <a:ea typeface="Cambria" pitchFamily="34" charset="-122"/>
                <a:cs typeface="Cambria" pitchFamily="34" charset="-120"/>
              </a:rPr>
              <a:t>Supabase</a:t>
            </a:r>
            <a:endParaRPr lang="en-US" sz="2100" dirty="0"/>
          </a:p>
        </p:txBody>
      </p:sp>
      <p:sp>
        <p:nvSpPr>
          <p:cNvPr id="14" name="Text 12"/>
          <p:cNvSpPr txBox="1"/>
          <p:nvPr/>
        </p:nvSpPr>
        <p:spPr>
          <a:xfrm>
            <a:off x="4846320" y="3090672"/>
            <a:ext cx="2514600" cy="274320"/>
          </a:xfrm>
          <a:prstGeom prst="rect">
            <a:avLst/>
          </a:prstGeom>
          <a:noFill/>
          <a:ln/>
        </p:spPr>
        <p:txBody>
          <a:bodyPr wrap="square" lIns="0" tIns="0" rIns="0" bIns="0" rtlCol="0" anchor="t"/>
          <a:lstStyle/>
          <a:p>
            <a:pPr indent="0" marL="0">
              <a:buNone/>
            </a:pPr>
            <a:r>
              <a:rPr lang="en-US" sz="1150" b="1" dirty="0">
                <a:solidFill>
                  <a:srgbClr val="6B6360"/>
                </a:solidFill>
                <a:latin typeface="Calibri" pitchFamily="34" charset="0"/>
                <a:ea typeface="Calibri" pitchFamily="34" charset="-122"/>
                <a:cs typeface="Calibri" pitchFamily="34" charset="-120"/>
              </a:rPr>
              <a:t>Shared core</a:t>
            </a:r>
            <a:endParaRPr lang="en-US" sz="1150" dirty="0"/>
          </a:p>
        </p:txBody>
      </p:sp>
      <p:sp>
        <p:nvSpPr>
          <p:cNvPr id="15" name="Text 13"/>
          <p:cNvSpPr txBox="1"/>
          <p:nvPr/>
        </p:nvSpPr>
        <p:spPr>
          <a:xfrm>
            <a:off x="4800600" y="3438144"/>
            <a:ext cx="2606040" cy="146304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4A4340"/>
                </a:solidFill>
                <a:latin typeface="Calibri" pitchFamily="34" charset="0"/>
                <a:ea typeface="Calibri" pitchFamily="34" charset="-122"/>
                <a:cs typeface="Calibri" pitchFamily="34" charset="-120"/>
              </a:rPr>
              <a:t>Postgres 17 with row-level security</a:t>
            </a:r>
            <a:endParaRPr lang="en-US" sz="1250" dirty="0"/>
          </a:p>
          <a:p>
            <a:pPr marL="342900" indent="-342900">
              <a:spcAft>
                <a:spcPts val="700"/>
              </a:spcAft>
              <a:buSzPct val="100000"/>
              <a:buChar char="•"/>
            </a:pPr>
            <a:r>
              <a:rPr lang="en-US" sz="1250" dirty="0">
                <a:solidFill>
                  <a:srgbClr val="4A4340"/>
                </a:solidFill>
                <a:latin typeface="Calibri" pitchFamily="34" charset="0"/>
                <a:ea typeface="Calibri" pitchFamily="34" charset="-122"/>
                <a:cs typeface="Calibri" pitchFamily="34" charset="-120"/>
              </a:rPr>
              <a:t>Auth, storage, realtime</a:t>
            </a:r>
            <a:endParaRPr lang="en-US" sz="1250" dirty="0"/>
          </a:p>
          <a:p>
            <a:pPr marL="342900" indent="-342900">
              <a:spcAft>
                <a:spcPts val="700"/>
              </a:spcAft>
              <a:buSzPct val="100000"/>
              <a:buChar char="•"/>
            </a:pPr>
            <a:r>
              <a:rPr lang="en-US" sz="1250" dirty="0">
                <a:solidFill>
                  <a:srgbClr val="4A4340"/>
                </a:solidFill>
                <a:latin typeface="Calibri" pitchFamily="34" charset="0"/>
                <a:ea typeface="Calibri" pitchFamily="34" charset="-122"/>
                <a:cs typeface="Calibri" pitchFamily="34" charset="-120"/>
              </a:rPr>
              <a:t>Triggers and edge functions</a:t>
            </a:r>
            <a:endParaRPr lang="en-US" sz="1250" dirty="0"/>
          </a:p>
        </p:txBody>
      </p:sp>
      <p:sp>
        <p:nvSpPr>
          <p:cNvPr id="16" name="Shape 14"/>
          <p:cNvSpPr/>
          <p:nvPr/>
        </p:nvSpPr>
        <p:spPr>
          <a:xfrm>
            <a:off x="8458200" y="1828800"/>
            <a:ext cx="3136392" cy="2651760"/>
          </a:xfrm>
          <a:prstGeom prst="roundRect">
            <a:avLst>
              <a:gd name="adj" fmla="val 3448"/>
            </a:avLst>
          </a:prstGeom>
          <a:solidFill>
            <a:srgbClr val="FFFFFF"/>
          </a:solidFill>
          <a:ln w="9525">
            <a:solidFill>
              <a:srgbClr val="E4BEBA"/>
            </a:solidFill>
            <a:prstDash val="solid"/>
          </a:ln>
          <a:effectLst>
            <a:outerShdw sx="100000" sy="100000" kx="0" ky="0" algn="bl" rotWithShape="0" blurRad="127000" dist="25400" dir="5400000">
              <a:srgbClr val="8A7A78">
                <a:alpha val="18000"/>
              </a:srgbClr>
            </a:outerShdw>
          </a:effectLst>
        </p:spPr>
      </p:sp>
      <p:sp>
        <p:nvSpPr>
          <p:cNvPr id="17" name="Shape 15"/>
          <p:cNvSpPr/>
          <p:nvPr/>
        </p:nvSpPr>
        <p:spPr>
          <a:xfrm>
            <a:off x="8778240" y="2121408"/>
            <a:ext cx="475488" cy="475488"/>
          </a:xfrm>
          <a:prstGeom prst="ellipse">
            <a:avLst/>
          </a:prstGeom>
          <a:solidFill>
            <a:srgbClr val="AF101A"/>
          </a:solidFill>
          <a:ln w="12700">
            <a:solidFill>
              <a:srgbClr val="AF101A"/>
            </a:solidFill>
            <a:prstDash val="solid"/>
          </a:ln>
        </p:spPr>
      </p:sp>
      <p:sp>
        <p:nvSpPr>
          <p:cNvPr id="18" name="Text 16"/>
          <p:cNvSpPr txBox="1"/>
          <p:nvPr/>
        </p:nvSpPr>
        <p:spPr>
          <a:xfrm>
            <a:off x="8778240" y="2121408"/>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txBox="1"/>
          <p:nvPr/>
        </p:nvSpPr>
        <p:spPr>
          <a:xfrm>
            <a:off x="8778240" y="2706624"/>
            <a:ext cx="2514600" cy="365760"/>
          </a:xfrm>
          <a:prstGeom prst="rect">
            <a:avLst/>
          </a:prstGeom>
          <a:noFill/>
          <a:ln/>
        </p:spPr>
        <p:txBody>
          <a:bodyPr wrap="square" lIns="0" tIns="0" rIns="0" bIns="0" rtlCol="0" anchor="t"/>
          <a:lstStyle/>
          <a:p>
            <a:pPr indent="0" marL="0">
              <a:buNone/>
            </a:pPr>
            <a:r>
              <a:rPr lang="en-US" sz="2100" b="1" dirty="0">
                <a:solidFill>
                  <a:srgbClr val="AF101A"/>
                </a:solidFill>
                <a:latin typeface="Cambria" pitchFamily="34" charset="0"/>
                <a:ea typeface="Cambria" pitchFamily="34" charset="-122"/>
                <a:cs typeface="Cambria" pitchFamily="34" charset="-120"/>
              </a:rPr>
              <a:t>Web</a:t>
            </a:r>
            <a:endParaRPr lang="en-US" sz="2100" dirty="0"/>
          </a:p>
        </p:txBody>
      </p:sp>
      <p:sp>
        <p:nvSpPr>
          <p:cNvPr id="20" name="Text 18"/>
          <p:cNvSpPr txBox="1"/>
          <p:nvPr/>
        </p:nvSpPr>
        <p:spPr>
          <a:xfrm>
            <a:off x="8778240" y="3090672"/>
            <a:ext cx="2514600" cy="274320"/>
          </a:xfrm>
          <a:prstGeom prst="rect">
            <a:avLst/>
          </a:prstGeom>
          <a:noFill/>
          <a:ln/>
        </p:spPr>
        <p:txBody>
          <a:bodyPr wrap="square" lIns="0" tIns="0" rIns="0" bIns="0" rtlCol="0" anchor="t"/>
          <a:lstStyle/>
          <a:p>
            <a:pPr indent="0" marL="0">
              <a:buNone/>
            </a:pPr>
            <a:r>
              <a:rPr lang="en-US" sz="1150" b="1" dirty="0">
                <a:solidFill>
                  <a:srgbClr val="6B6360"/>
                </a:solidFill>
                <a:latin typeface="Calibri" pitchFamily="34" charset="0"/>
                <a:ea typeface="Calibri" pitchFamily="34" charset="-122"/>
                <a:cs typeface="Calibri" pitchFamily="34" charset="-120"/>
              </a:rPr>
              <a:t>Admins</a:t>
            </a:r>
            <a:endParaRPr lang="en-US" sz="1150" dirty="0"/>
          </a:p>
        </p:txBody>
      </p:sp>
      <p:sp>
        <p:nvSpPr>
          <p:cNvPr id="21" name="Text 19"/>
          <p:cNvSpPr txBox="1"/>
          <p:nvPr/>
        </p:nvSpPr>
        <p:spPr>
          <a:xfrm>
            <a:off x="8732520" y="3438144"/>
            <a:ext cx="2606040" cy="146304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4A4340"/>
                </a:solidFill>
                <a:latin typeface="Calibri" pitchFamily="34" charset="0"/>
                <a:ea typeface="Calibri" pitchFamily="34" charset="-122"/>
                <a:cs typeface="Calibri" pitchFamily="34" charset="-120"/>
              </a:rPr>
              <a:t>React 19 with React Router 7</a:t>
            </a:r>
            <a:endParaRPr lang="en-US" sz="1250" dirty="0"/>
          </a:p>
          <a:p>
            <a:pPr marL="342900" indent="-342900">
              <a:spcAft>
                <a:spcPts val="700"/>
              </a:spcAft>
              <a:buSzPct val="100000"/>
              <a:buChar char="•"/>
            </a:pPr>
            <a:r>
              <a:rPr lang="en-US" sz="1250" dirty="0">
                <a:solidFill>
                  <a:srgbClr val="4A4340"/>
                </a:solidFill>
                <a:latin typeface="Calibri" pitchFamily="34" charset="0"/>
                <a:ea typeface="Calibri" pitchFamily="34" charset="-122"/>
                <a:cs typeface="Calibri" pitchFamily="34" charset="-120"/>
              </a:rPr>
              <a:t>Triage, staff, halls, analytics</a:t>
            </a:r>
            <a:endParaRPr lang="en-US" sz="1250" dirty="0"/>
          </a:p>
          <a:p>
            <a:pPr marL="342900" indent="-342900">
              <a:spcAft>
                <a:spcPts val="700"/>
              </a:spcAft>
              <a:buSzPct val="100000"/>
              <a:buChar char="•"/>
            </a:pPr>
            <a:r>
              <a:rPr lang="en-US" sz="1250" dirty="0">
                <a:solidFill>
                  <a:srgbClr val="4A4340"/>
                </a:solidFill>
                <a:latin typeface="Calibri" pitchFamily="34" charset="0"/>
                <a:ea typeface="Calibri" pitchFamily="34" charset="-122"/>
                <a:cs typeface="Calibri" pitchFamily="34" charset="-120"/>
              </a:rPr>
              <a:t>Role read from the database</a:t>
            </a:r>
            <a:endParaRPr lang="en-US" sz="1250" dirty="0"/>
          </a:p>
        </p:txBody>
      </p:sp>
      <p:sp>
        <p:nvSpPr>
          <p:cNvPr id="22" name="Text 20"/>
          <p:cNvSpPr txBox="1"/>
          <p:nvPr/>
        </p:nvSpPr>
        <p:spPr>
          <a:xfrm>
            <a:off x="594360" y="4754880"/>
            <a:ext cx="10991088" cy="411480"/>
          </a:xfrm>
          <a:prstGeom prst="rect">
            <a:avLst/>
          </a:prstGeom>
          <a:noFill/>
          <a:ln/>
        </p:spPr>
        <p:txBody>
          <a:bodyPr wrap="square" lIns="0" tIns="0" rIns="0" bIns="0" rtlCol="0" anchor="t"/>
          <a:lstStyle/>
          <a:p>
            <a:pPr indent="0" marL="0">
              <a:buNone/>
            </a:pPr>
            <a:r>
              <a:rPr lang="en-US" sz="1400" i="1" dirty="0">
                <a:solidFill>
                  <a:srgbClr val="6B6360"/>
                </a:solidFill>
                <a:latin typeface="Calibri" pitchFamily="34" charset="0"/>
                <a:ea typeface="Calibri" pitchFamily="34" charset="-122"/>
                <a:cs typeface="Calibri" pitchFamily="34" charset="-120"/>
              </a:rPr>
              <a:t>A status changed on the dashboard reaches the student's phone over realtime — no polling, no refresh.</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6F5"/>
        </a:solidFill>
      </p:bgPr>
    </p:bg>
    <p:spTree>
      <p:nvGrpSpPr>
        <p:cNvPr id="1" name=""/>
        <p:cNvGrpSpPr/>
        <p:nvPr/>
      </p:nvGrpSpPr>
      <p:grpSpPr>
        <a:xfrm>
          <a:off x="0" y="0"/>
          <a:ext cx="0" cy="0"/>
          <a:chOff x="0" y="0"/>
          <a:chExt cx="0" cy="0"/>
        </a:xfrm>
      </p:grpSpPr>
      <p:sp>
        <p:nvSpPr>
          <p:cNvPr id="2" name="Text 0"/>
          <p:cNvSpPr txBox="1"/>
          <p:nvPr/>
        </p:nvSpPr>
        <p:spPr>
          <a:xfrm>
            <a:off x="594360" y="457200"/>
            <a:ext cx="10058400" cy="621792"/>
          </a:xfrm>
          <a:prstGeom prst="rect">
            <a:avLst/>
          </a:prstGeom>
          <a:noFill/>
          <a:ln/>
        </p:spPr>
        <p:txBody>
          <a:bodyPr wrap="square" lIns="0" tIns="0" rIns="0" bIns="0" rtlCol="0" anchor="t"/>
          <a:lstStyle/>
          <a:p>
            <a:pPr indent="0" marL="0">
              <a:buNone/>
            </a:pPr>
            <a:r>
              <a:rPr lang="en-US" sz="3600" b="1" dirty="0">
                <a:solidFill>
                  <a:srgbClr val="1A1C1C"/>
                </a:solidFill>
                <a:latin typeface="Cambria" pitchFamily="34" charset="0"/>
                <a:ea typeface="Cambria" pitchFamily="34" charset="-122"/>
                <a:cs typeface="Cambria" pitchFamily="34" charset="-120"/>
              </a:rPr>
              <a:t>Mobile — the student app</a:t>
            </a:r>
            <a:endParaRPr lang="en-US" sz="3600" dirty="0"/>
          </a:p>
        </p:txBody>
      </p:sp>
      <p:sp>
        <p:nvSpPr>
          <p:cNvPr id="3" name="Text 1"/>
          <p:cNvSpPr txBox="1"/>
          <p:nvPr/>
        </p:nvSpPr>
        <p:spPr>
          <a:xfrm>
            <a:off x="594360" y="1106424"/>
            <a:ext cx="10607040" cy="347472"/>
          </a:xfrm>
          <a:prstGeom prst="rect">
            <a:avLst/>
          </a:prstGeom>
          <a:noFill/>
          <a:ln/>
        </p:spPr>
        <p:txBody>
          <a:bodyPr wrap="square" lIns="0" tIns="0" rIns="0" bIns="0" rtlCol="0" anchor="t"/>
          <a:lstStyle/>
          <a:p>
            <a:pPr indent="0" marL="0">
              <a:buNone/>
            </a:pPr>
            <a:r>
              <a:rPr lang="en-US" sz="1450" dirty="0">
                <a:solidFill>
                  <a:srgbClr val="6B6360"/>
                </a:solidFill>
                <a:latin typeface="Calibri" pitchFamily="34" charset="0"/>
                <a:ea typeface="Calibri" pitchFamily="34" charset="-122"/>
                <a:cs typeface="Calibri" pitchFamily="34" charset="-120"/>
              </a:rPr>
              <a:t>Four tabs and a four-step reporting wizard.</a:t>
            </a:r>
            <a:endParaRPr lang="en-US" sz="1450" dirty="0"/>
          </a:p>
        </p:txBody>
      </p:sp>
      <p:sp>
        <p:nvSpPr>
          <p:cNvPr id="4" name="Shape 2"/>
          <p:cNvSpPr/>
          <p:nvPr/>
        </p:nvSpPr>
        <p:spPr>
          <a:xfrm>
            <a:off x="594360" y="1783080"/>
            <a:ext cx="5669280" cy="868680"/>
          </a:xfrm>
          <a:prstGeom prst="roundRect">
            <a:avLst>
              <a:gd name="adj" fmla="val 10526"/>
            </a:avLst>
          </a:prstGeom>
          <a:solidFill>
            <a:srgbClr val="FFFFFF"/>
          </a:solidFill>
          <a:ln w="9525">
            <a:solidFill>
              <a:srgbClr val="E4BEBA"/>
            </a:solidFill>
            <a:prstDash val="solid"/>
          </a:ln>
          <a:effectLst>
            <a:outerShdw sx="100000" sy="100000" kx="0" ky="0" algn="bl" rotWithShape="0" blurRad="127000" dist="25400" dir="5400000">
              <a:srgbClr val="8A7A78">
                <a:alpha val="18000"/>
              </a:srgbClr>
            </a:outerShdw>
          </a:effectLst>
        </p:spPr>
      </p:sp>
      <p:sp>
        <p:nvSpPr>
          <p:cNvPr id="5" name="Text 3"/>
          <p:cNvSpPr txBox="1"/>
          <p:nvPr/>
        </p:nvSpPr>
        <p:spPr>
          <a:xfrm>
            <a:off x="960120" y="1911096"/>
            <a:ext cx="1600200" cy="292608"/>
          </a:xfrm>
          <a:prstGeom prst="rect">
            <a:avLst/>
          </a:prstGeom>
          <a:noFill/>
          <a:ln/>
        </p:spPr>
        <p:txBody>
          <a:bodyPr wrap="square" lIns="0" tIns="0" rIns="0" bIns="0" rtlCol="0" anchor="t"/>
          <a:lstStyle/>
          <a:p>
            <a:pPr indent="0" marL="0">
              <a:buNone/>
            </a:pPr>
            <a:r>
              <a:rPr lang="en-US" sz="1600" b="1" dirty="0">
                <a:solidFill>
                  <a:srgbClr val="AF101A"/>
                </a:solidFill>
                <a:latin typeface="Cambria" pitchFamily="34" charset="0"/>
                <a:ea typeface="Cambria" pitchFamily="34" charset="-122"/>
                <a:cs typeface="Cambria" pitchFamily="34" charset="-120"/>
              </a:rPr>
              <a:t>Home</a:t>
            </a:r>
            <a:endParaRPr lang="en-US" sz="1600" dirty="0"/>
          </a:p>
        </p:txBody>
      </p:sp>
      <p:sp>
        <p:nvSpPr>
          <p:cNvPr id="6" name="Text 4"/>
          <p:cNvSpPr txBox="1"/>
          <p:nvPr/>
        </p:nvSpPr>
        <p:spPr>
          <a:xfrm>
            <a:off x="960120" y="2221992"/>
            <a:ext cx="4937760" cy="292608"/>
          </a:xfrm>
          <a:prstGeom prst="rect">
            <a:avLst/>
          </a:prstGeom>
          <a:noFill/>
          <a:ln/>
        </p:spPr>
        <p:txBody>
          <a:bodyPr wrap="square" lIns="0" tIns="0" rIns="0" bIns="0" rtlCol="0" anchor="t"/>
          <a:lstStyle/>
          <a:p>
            <a:pPr indent="0" marL="0">
              <a:buNone/>
            </a:pPr>
            <a:r>
              <a:rPr lang="en-US" sz="1200" dirty="0">
                <a:solidFill>
                  <a:srgbClr val="4A4340"/>
                </a:solidFill>
                <a:latin typeface="Calibri" pitchFamily="34" charset="0"/>
                <a:ea typeface="Calibri" pitchFamily="34" charset="-122"/>
                <a:cs typeface="Calibri" pitchFamily="34" charset="-120"/>
              </a:rPr>
              <a:t>Entry point to the reporting wizard.</a:t>
            </a:r>
            <a:endParaRPr lang="en-US" sz="1200" dirty="0"/>
          </a:p>
        </p:txBody>
      </p:sp>
      <p:sp>
        <p:nvSpPr>
          <p:cNvPr id="7" name="Shape 5"/>
          <p:cNvSpPr/>
          <p:nvPr/>
        </p:nvSpPr>
        <p:spPr>
          <a:xfrm>
            <a:off x="594360" y="2788920"/>
            <a:ext cx="5669280" cy="868680"/>
          </a:xfrm>
          <a:prstGeom prst="roundRect">
            <a:avLst>
              <a:gd name="adj" fmla="val 10526"/>
            </a:avLst>
          </a:prstGeom>
          <a:solidFill>
            <a:srgbClr val="FFFFFF"/>
          </a:solidFill>
          <a:ln w="9525">
            <a:solidFill>
              <a:srgbClr val="E4BEBA"/>
            </a:solidFill>
            <a:prstDash val="solid"/>
          </a:ln>
          <a:effectLst>
            <a:outerShdw sx="100000" sy="100000" kx="0" ky="0" algn="bl" rotWithShape="0" blurRad="127000" dist="25400" dir="5400000">
              <a:srgbClr val="8A7A78">
                <a:alpha val="18000"/>
              </a:srgbClr>
            </a:outerShdw>
          </a:effectLst>
        </p:spPr>
      </p:sp>
      <p:sp>
        <p:nvSpPr>
          <p:cNvPr id="8" name="Text 6"/>
          <p:cNvSpPr txBox="1"/>
          <p:nvPr/>
        </p:nvSpPr>
        <p:spPr>
          <a:xfrm>
            <a:off x="960120" y="2916936"/>
            <a:ext cx="1600200" cy="292608"/>
          </a:xfrm>
          <a:prstGeom prst="rect">
            <a:avLst/>
          </a:prstGeom>
          <a:noFill/>
          <a:ln/>
        </p:spPr>
        <p:txBody>
          <a:bodyPr wrap="square" lIns="0" tIns="0" rIns="0" bIns="0" rtlCol="0" anchor="t"/>
          <a:lstStyle/>
          <a:p>
            <a:pPr indent="0" marL="0">
              <a:buNone/>
            </a:pPr>
            <a:r>
              <a:rPr lang="en-US" sz="1600" b="1" dirty="0">
                <a:solidFill>
                  <a:srgbClr val="AF101A"/>
                </a:solidFill>
                <a:latin typeface="Cambria" pitchFamily="34" charset="0"/>
                <a:ea typeface="Cambria" pitchFamily="34" charset="-122"/>
                <a:cs typeface="Cambria" pitchFamily="34" charset="-120"/>
              </a:rPr>
              <a:t>Requests</a:t>
            </a:r>
            <a:endParaRPr lang="en-US" sz="1600" dirty="0"/>
          </a:p>
        </p:txBody>
      </p:sp>
      <p:sp>
        <p:nvSpPr>
          <p:cNvPr id="9" name="Text 7"/>
          <p:cNvSpPr txBox="1"/>
          <p:nvPr/>
        </p:nvSpPr>
        <p:spPr>
          <a:xfrm>
            <a:off x="960120" y="3227832"/>
            <a:ext cx="4937760" cy="292608"/>
          </a:xfrm>
          <a:prstGeom prst="rect">
            <a:avLst/>
          </a:prstGeom>
          <a:noFill/>
          <a:ln/>
        </p:spPr>
        <p:txBody>
          <a:bodyPr wrap="square" lIns="0" tIns="0" rIns="0" bIns="0" rtlCol="0" anchor="t"/>
          <a:lstStyle/>
          <a:p>
            <a:pPr indent="0" marL="0">
              <a:buNone/>
            </a:pPr>
            <a:r>
              <a:rPr lang="en-US" sz="1200" dirty="0">
                <a:solidFill>
                  <a:srgbClr val="4A4340"/>
                </a:solidFill>
                <a:latin typeface="Calibri" pitchFamily="34" charset="0"/>
                <a:ea typeface="Calibri" pitchFamily="34" charset="-122"/>
                <a:cs typeface="Calibri" pitchFamily="34" charset="-120"/>
              </a:rPr>
              <a:t>Every report the student filed, with live status.</a:t>
            </a:r>
            <a:endParaRPr lang="en-US" sz="1200" dirty="0"/>
          </a:p>
        </p:txBody>
      </p:sp>
      <p:sp>
        <p:nvSpPr>
          <p:cNvPr id="10" name="Shape 8"/>
          <p:cNvSpPr/>
          <p:nvPr/>
        </p:nvSpPr>
        <p:spPr>
          <a:xfrm>
            <a:off x="594360" y="3794760"/>
            <a:ext cx="5669280" cy="868680"/>
          </a:xfrm>
          <a:prstGeom prst="roundRect">
            <a:avLst>
              <a:gd name="adj" fmla="val 10526"/>
            </a:avLst>
          </a:prstGeom>
          <a:solidFill>
            <a:srgbClr val="FFFFFF"/>
          </a:solidFill>
          <a:ln w="9525">
            <a:solidFill>
              <a:srgbClr val="E4BEBA"/>
            </a:solidFill>
            <a:prstDash val="solid"/>
          </a:ln>
          <a:effectLst>
            <a:outerShdw sx="100000" sy="100000" kx="0" ky="0" algn="bl" rotWithShape="0" blurRad="127000" dist="25400" dir="5400000">
              <a:srgbClr val="8A7A78">
                <a:alpha val="18000"/>
              </a:srgbClr>
            </a:outerShdw>
          </a:effectLst>
        </p:spPr>
      </p:sp>
      <p:sp>
        <p:nvSpPr>
          <p:cNvPr id="11" name="Text 9"/>
          <p:cNvSpPr txBox="1"/>
          <p:nvPr/>
        </p:nvSpPr>
        <p:spPr>
          <a:xfrm>
            <a:off x="960120" y="3922776"/>
            <a:ext cx="1600200" cy="292608"/>
          </a:xfrm>
          <a:prstGeom prst="rect">
            <a:avLst/>
          </a:prstGeom>
          <a:noFill/>
          <a:ln/>
        </p:spPr>
        <p:txBody>
          <a:bodyPr wrap="square" lIns="0" tIns="0" rIns="0" bIns="0" rtlCol="0" anchor="t"/>
          <a:lstStyle/>
          <a:p>
            <a:pPr indent="0" marL="0">
              <a:buNone/>
            </a:pPr>
            <a:r>
              <a:rPr lang="en-US" sz="1600" b="1" dirty="0">
                <a:solidFill>
                  <a:srgbClr val="AF101A"/>
                </a:solidFill>
                <a:latin typeface="Cambria" pitchFamily="34" charset="0"/>
                <a:ea typeface="Cambria" pitchFamily="34" charset="-122"/>
                <a:cs typeface="Cambria" pitchFamily="34" charset="-120"/>
              </a:rPr>
              <a:t>News</a:t>
            </a:r>
            <a:endParaRPr lang="en-US" sz="1600" dirty="0"/>
          </a:p>
        </p:txBody>
      </p:sp>
      <p:sp>
        <p:nvSpPr>
          <p:cNvPr id="12" name="Text 10"/>
          <p:cNvSpPr txBox="1"/>
          <p:nvPr/>
        </p:nvSpPr>
        <p:spPr>
          <a:xfrm>
            <a:off x="960120" y="4233672"/>
            <a:ext cx="4937760" cy="292608"/>
          </a:xfrm>
          <a:prstGeom prst="rect">
            <a:avLst/>
          </a:prstGeom>
          <a:noFill/>
          <a:ln/>
        </p:spPr>
        <p:txBody>
          <a:bodyPr wrap="square" lIns="0" tIns="0" rIns="0" bIns="0" rtlCol="0" anchor="t"/>
          <a:lstStyle/>
          <a:p>
            <a:pPr indent="0" marL="0">
              <a:buNone/>
            </a:pPr>
            <a:r>
              <a:rPr lang="en-US" sz="1200" dirty="0">
                <a:solidFill>
                  <a:srgbClr val="4A4340"/>
                </a:solidFill>
                <a:latin typeface="Calibri" pitchFamily="34" charset="0"/>
                <a:ea typeface="Calibri" pitchFamily="34" charset="-122"/>
                <a:cs typeface="Calibri" pitchFamily="34" charset="-120"/>
              </a:rPr>
              <a:t>50 KNUST stories, synced from knust.edu.gh.</a:t>
            </a:r>
            <a:endParaRPr lang="en-US" sz="1200" dirty="0"/>
          </a:p>
        </p:txBody>
      </p:sp>
      <p:sp>
        <p:nvSpPr>
          <p:cNvPr id="13" name="Shape 11"/>
          <p:cNvSpPr/>
          <p:nvPr/>
        </p:nvSpPr>
        <p:spPr>
          <a:xfrm>
            <a:off x="594360" y="4800600"/>
            <a:ext cx="5669280" cy="868680"/>
          </a:xfrm>
          <a:prstGeom prst="roundRect">
            <a:avLst>
              <a:gd name="adj" fmla="val 10526"/>
            </a:avLst>
          </a:prstGeom>
          <a:solidFill>
            <a:srgbClr val="FFFFFF"/>
          </a:solidFill>
          <a:ln w="9525">
            <a:solidFill>
              <a:srgbClr val="E4BEBA"/>
            </a:solidFill>
            <a:prstDash val="solid"/>
          </a:ln>
          <a:effectLst>
            <a:outerShdw sx="100000" sy="100000" kx="0" ky="0" algn="bl" rotWithShape="0" blurRad="127000" dist="25400" dir="5400000">
              <a:srgbClr val="8A7A78">
                <a:alpha val="18000"/>
              </a:srgbClr>
            </a:outerShdw>
          </a:effectLst>
        </p:spPr>
      </p:sp>
      <p:sp>
        <p:nvSpPr>
          <p:cNvPr id="14" name="Text 12"/>
          <p:cNvSpPr txBox="1"/>
          <p:nvPr/>
        </p:nvSpPr>
        <p:spPr>
          <a:xfrm>
            <a:off x="960120" y="4928616"/>
            <a:ext cx="1600200" cy="292608"/>
          </a:xfrm>
          <a:prstGeom prst="rect">
            <a:avLst/>
          </a:prstGeom>
          <a:noFill/>
          <a:ln/>
        </p:spPr>
        <p:txBody>
          <a:bodyPr wrap="square" lIns="0" tIns="0" rIns="0" bIns="0" rtlCol="0" anchor="t"/>
          <a:lstStyle/>
          <a:p>
            <a:pPr indent="0" marL="0">
              <a:buNone/>
            </a:pPr>
            <a:r>
              <a:rPr lang="en-US" sz="1600" b="1" dirty="0">
                <a:solidFill>
                  <a:srgbClr val="AF101A"/>
                </a:solidFill>
                <a:latin typeface="Cambria" pitchFamily="34" charset="0"/>
                <a:ea typeface="Cambria" pitchFamily="34" charset="-122"/>
                <a:cs typeface="Cambria" pitchFamily="34" charset="-120"/>
              </a:rPr>
              <a:t>Emergency</a:t>
            </a:r>
            <a:endParaRPr lang="en-US" sz="1600" dirty="0"/>
          </a:p>
        </p:txBody>
      </p:sp>
      <p:sp>
        <p:nvSpPr>
          <p:cNvPr id="15" name="Text 13"/>
          <p:cNvSpPr txBox="1"/>
          <p:nvPr/>
        </p:nvSpPr>
        <p:spPr>
          <a:xfrm>
            <a:off x="960120" y="5239512"/>
            <a:ext cx="4937760" cy="292608"/>
          </a:xfrm>
          <a:prstGeom prst="rect">
            <a:avLst/>
          </a:prstGeom>
          <a:noFill/>
          <a:ln/>
        </p:spPr>
        <p:txBody>
          <a:bodyPr wrap="square" lIns="0" tIns="0" rIns="0" bIns="0" rtlCol="0" anchor="t"/>
          <a:lstStyle/>
          <a:p>
            <a:pPr indent="0" marL="0">
              <a:buNone/>
            </a:pPr>
            <a:r>
              <a:rPr lang="en-US" sz="1200" dirty="0">
                <a:solidFill>
                  <a:srgbClr val="4A4340"/>
                </a:solidFill>
                <a:latin typeface="Calibri" pitchFamily="34" charset="0"/>
                <a:ea typeface="Calibri" pitchFamily="34" charset="-122"/>
                <a:cs typeface="Calibri" pitchFamily="34" charset="-120"/>
              </a:rPr>
              <a:t>Six campus lines, one tap to dial.</a:t>
            </a:r>
            <a:endParaRPr lang="en-US" sz="1200" dirty="0"/>
          </a:p>
        </p:txBody>
      </p:sp>
      <p:sp>
        <p:nvSpPr>
          <p:cNvPr id="16" name="Shape 14"/>
          <p:cNvSpPr/>
          <p:nvPr/>
        </p:nvSpPr>
        <p:spPr>
          <a:xfrm>
            <a:off x="6583680" y="1783080"/>
            <a:ext cx="5001768" cy="3886200"/>
          </a:xfrm>
          <a:prstGeom prst="roundRect">
            <a:avLst>
              <a:gd name="adj" fmla="val 2353"/>
            </a:avLst>
          </a:prstGeom>
          <a:solidFill>
            <a:srgbClr val="FDF6F5"/>
          </a:solidFill>
          <a:ln w="9525">
            <a:solidFill>
              <a:srgbClr val="E4BEBA"/>
            </a:solidFill>
            <a:prstDash val="solid"/>
          </a:ln>
          <a:effectLst>
            <a:outerShdw sx="100000" sy="100000" kx="0" ky="0" algn="bl" rotWithShape="0" blurRad="127000" dist="25400" dir="5400000">
              <a:srgbClr val="8A7A78">
                <a:alpha val="18000"/>
              </a:srgbClr>
            </a:outerShdw>
          </a:effectLst>
        </p:spPr>
      </p:sp>
      <p:sp>
        <p:nvSpPr>
          <p:cNvPr id="17" name="Text 15"/>
          <p:cNvSpPr txBox="1"/>
          <p:nvPr/>
        </p:nvSpPr>
        <p:spPr>
          <a:xfrm>
            <a:off x="6949440" y="2029968"/>
            <a:ext cx="4206240" cy="365760"/>
          </a:xfrm>
          <a:prstGeom prst="rect">
            <a:avLst/>
          </a:prstGeom>
          <a:noFill/>
          <a:ln/>
        </p:spPr>
        <p:txBody>
          <a:bodyPr wrap="square" lIns="0" tIns="0" rIns="0" bIns="0" rtlCol="0" anchor="t"/>
          <a:lstStyle/>
          <a:p>
            <a:pPr indent="0" marL="0">
              <a:buNone/>
            </a:pPr>
            <a:r>
              <a:rPr lang="en-US" sz="2000" b="1" dirty="0">
                <a:solidFill>
                  <a:srgbClr val="1A1C1C"/>
                </a:solidFill>
                <a:latin typeface="Cambria" pitchFamily="34" charset="0"/>
                <a:ea typeface="Cambria" pitchFamily="34" charset="-122"/>
                <a:cs typeface="Cambria" pitchFamily="34" charset="-120"/>
              </a:rPr>
              <a:t>Filing a report</a:t>
            </a:r>
            <a:endParaRPr lang="en-US" sz="2000" dirty="0"/>
          </a:p>
        </p:txBody>
      </p:sp>
      <p:sp>
        <p:nvSpPr>
          <p:cNvPr id="18" name="Text 16"/>
          <p:cNvSpPr txBox="1"/>
          <p:nvPr/>
        </p:nvSpPr>
        <p:spPr>
          <a:xfrm>
            <a:off x="6903720" y="2542032"/>
            <a:ext cx="4389120" cy="192024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4A4340"/>
                </a:solidFill>
                <a:latin typeface="Calibri" pitchFamily="34" charset="0"/>
                <a:ea typeface="Calibri" pitchFamily="34" charset="-122"/>
                <a:cs typeface="Calibri" pitchFamily="34" charset="-120"/>
              </a:rPr>
              <a:t>Category — Electrical, Plumbing, Carpentry, Masonry</a:t>
            </a:r>
            <a:endParaRPr lang="en-US" sz="1250" dirty="0"/>
          </a:p>
          <a:p>
            <a:pPr marL="342900" indent="-342900">
              <a:spcAft>
                <a:spcPts val="700"/>
              </a:spcAft>
              <a:buSzPct val="100000"/>
              <a:buChar char="•"/>
            </a:pPr>
            <a:r>
              <a:rPr lang="en-US" sz="1250" dirty="0">
                <a:solidFill>
                  <a:srgbClr val="4A4340"/>
                </a:solidFill>
                <a:latin typeface="Calibri" pitchFamily="34" charset="0"/>
                <a:ea typeface="Calibri" pitchFamily="34" charset="-122"/>
                <a:cs typeface="Calibri" pitchFamily="34" charset="-120"/>
              </a:rPr>
              <a:t>Issue — five common faults each, or write your own</a:t>
            </a:r>
            <a:endParaRPr lang="en-US" sz="1250" dirty="0"/>
          </a:p>
          <a:p>
            <a:pPr marL="342900" indent="-342900">
              <a:spcAft>
                <a:spcPts val="700"/>
              </a:spcAft>
              <a:buSzPct val="100000"/>
              <a:buChar char="•"/>
            </a:pPr>
            <a:r>
              <a:rPr lang="en-US" sz="1250" dirty="0">
                <a:solidFill>
                  <a:srgbClr val="4A4340"/>
                </a:solidFill>
                <a:latin typeface="Calibri" pitchFamily="34" charset="0"/>
                <a:ea typeface="Calibri" pitchFamily="34" charset="-122"/>
                <a:cs typeface="Calibri" pitchFamily="34" charset="-120"/>
              </a:rPr>
              <a:t>Evidence — photos or video, into Supabase storage</a:t>
            </a:r>
            <a:endParaRPr lang="en-US" sz="1250" dirty="0"/>
          </a:p>
          <a:p>
            <a:pPr marL="342900" indent="-342900">
              <a:spcAft>
                <a:spcPts val="700"/>
              </a:spcAft>
              <a:buSzPct val="100000"/>
              <a:buChar char="•"/>
            </a:pPr>
            <a:r>
              <a:rPr lang="en-US" sz="1250" dirty="0">
                <a:solidFill>
                  <a:srgbClr val="4A4340"/>
                </a:solidFill>
                <a:latin typeface="Calibri" pitchFamily="34" charset="0"/>
                <a:ea typeface="Calibri" pitchFamily="34" charset="-122"/>
                <a:cs typeface="Calibri" pitchFamily="34" charset="-120"/>
              </a:rPr>
              <a:t>Review — room confirmed from the profile, then submit</a:t>
            </a:r>
            <a:endParaRPr lang="en-US" sz="1250" dirty="0"/>
          </a:p>
        </p:txBody>
      </p:sp>
      <p:sp>
        <p:nvSpPr>
          <p:cNvPr id="19" name="Text 17"/>
          <p:cNvSpPr txBox="1"/>
          <p:nvPr/>
        </p:nvSpPr>
        <p:spPr>
          <a:xfrm>
            <a:off x="6949440" y="4224528"/>
            <a:ext cx="4297680" cy="868680"/>
          </a:xfrm>
          <a:prstGeom prst="rect">
            <a:avLst/>
          </a:prstGeom>
          <a:noFill/>
          <a:ln/>
        </p:spPr>
        <p:txBody>
          <a:bodyPr wrap="square" lIns="0" tIns="0" rIns="0" bIns="0" rtlCol="0" anchor="t"/>
          <a:lstStyle/>
          <a:p>
            <a:pPr indent="0" marL="0">
              <a:buNone/>
            </a:pPr>
            <a:r>
              <a:rPr lang="en-US" sz="1200" i="1" dirty="0">
                <a:solidFill>
                  <a:srgbClr val="6B6360"/>
                </a:solidFill>
                <a:latin typeface="Calibri" pitchFamily="34" charset="0"/>
                <a:ea typeface="Calibri" pitchFamily="34" charset="-122"/>
                <a:cs typeface="Calibri" pitchFamily="34" charset="-120"/>
              </a:rPr>
              <a:t>A reference such as REP-60090C is issued by the database, so the app and the dashboard always agree on it.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457200"/>
            <a:ext cx="10058400" cy="621792"/>
          </a:xfrm>
          <a:prstGeom prst="rect">
            <a:avLst/>
          </a:prstGeom>
          <a:noFill/>
          <a:ln/>
        </p:spPr>
        <p:txBody>
          <a:bodyPr wrap="square" lIns="0" tIns="0" rIns="0" bIns="0" rtlCol="0" anchor="t"/>
          <a:lstStyle/>
          <a:p>
            <a:pPr indent="0" marL="0">
              <a:buNone/>
            </a:pPr>
            <a:r>
              <a:rPr lang="en-US" sz="3600" b="1" dirty="0">
                <a:solidFill>
                  <a:srgbClr val="1A1C1C"/>
                </a:solidFill>
                <a:latin typeface="Cambria" pitchFamily="34" charset="0"/>
                <a:ea typeface="Cambria" pitchFamily="34" charset="-122"/>
                <a:cs typeface="Cambria" pitchFamily="34" charset="-120"/>
              </a:rPr>
              <a:t>Web — the admin dashboard</a:t>
            </a:r>
            <a:endParaRPr lang="en-US" sz="3600" dirty="0"/>
          </a:p>
        </p:txBody>
      </p:sp>
      <p:sp>
        <p:nvSpPr>
          <p:cNvPr id="3" name="Text 1"/>
          <p:cNvSpPr txBox="1"/>
          <p:nvPr/>
        </p:nvSpPr>
        <p:spPr>
          <a:xfrm>
            <a:off x="594360" y="1106424"/>
            <a:ext cx="10607040" cy="347472"/>
          </a:xfrm>
          <a:prstGeom prst="rect">
            <a:avLst/>
          </a:prstGeom>
          <a:noFill/>
          <a:ln/>
        </p:spPr>
        <p:txBody>
          <a:bodyPr wrap="square" lIns="0" tIns="0" rIns="0" bIns="0" rtlCol="0" anchor="t"/>
          <a:lstStyle/>
          <a:p>
            <a:pPr indent="0" marL="0">
              <a:buNone/>
            </a:pPr>
            <a:r>
              <a:rPr lang="en-US" sz="1450" dirty="0">
                <a:solidFill>
                  <a:srgbClr val="6B6360"/>
                </a:solidFill>
                <a:latin typeface="Calibri" pitchFamily="34" charset="0"/>
                <a:ea typeface="Calibri" pitchFamily="34" charset="-122"/>
                <a:cs typeface="Calibri" pitchFamily="34" charset="-120"/>
              </a:rPr>
              <a:t>Two roles, each seeing only the routes its role allows.</a:t>
            </a:r>
            <a:endParaRPr lang="en-US" sz="14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94360" y="1783080"/>
          <a:ext cx="10991088" cy="914400"/>
        </p:xfrm>
        <a:graphic>
          <a:graphicData uri="http://schemas.openxmlformats.org/drawingml/2006/table">
            <a:tbl>
              <a:tblPr/>
              <a:tblGrid>
                <a:gridCol w="2240280"/>
                <a:gridCol w="4983480"/>
                <a:gridCol w="3767328"/>
              </a:tblGrid>
              <a:tr h="384048">
                <a:tc>
                  <a:txBody>
                    <a:bodyPr/>
                    <a:lstStyle/>
                    <a:p>
                      <a:pPr algn="l" indent="0" marL="0">
                        <a:buNone/>
                      </a:pPr>
                      <a:r>
                        <a:rPr lang="en-US" sz="1250" b="1" dirty="0">
                          <a:solidFill>
                            <a:srgbClr val="4A4340"/>
                          </a:solidFill>
                          <a:latin typeface="Calibri" pitchFamily="34" charset="0"/>
                          <a:ea typeface="Calibri" pitchFamily="34" charset="-122"/>
                          <a:cs typeface="Calibri" pitchFamily="34" charset="-120"/>
                        </a:rPr>
                        <a:t>Page</a:t>
                      </a:r>
                      <a:endParaRPr lang="en-US" sz="1250" dirty="0">
                        <a:latin typeface="Calibri" charset="0"/>
                        <a:ea typeface="Calibri" charset="0"/>
                        <a:cs typeface="Calibri" charset="0"/>
                      </a:endParaRPr>
                    </a:p>
                  </a:txBody>
                  <a:tcPr marL="127000" marR="127000" marT="50800" marB="50800" anchor="ctr">
                    <a:lnL w="9525" cap="flat" cmpd="sng" algn="ctr">
                      <a:solidFill>
                        <a:srgbClr val="E4BEBA"/>
                      </a:solidFill>
                      <a:prstDash val="solid"/>
                      <a:round/>
                      <a:headEnd type="none" w="med" len="med"/>
                      <a:tailEnd type="none" w="med" len="med"/>
                    </a:lnL>
                    <a:lnR w="9525" cap="flat" cmpd="sng" algn="ctr">
                      <a:solidFill>
                        <a:srgbClr val="E4BEBA"/>
                      </a:solidFill>
                      <a:prstDash val="solid"/>
                      <a:round/>
                      <a:headEnd type="none" w="med" len="med"/>
                      <a:tailEnd type="none" w="med" len="med"/>
                    </a:lnR>
                    <a:lnT w="9525" cap="flat" cmpd="sng" algn="ctr">
                      <a:solidFill>
                        <a:srgbClr val="E4BEBA"/>
                      </a:solidFill>
                      <a:prstDash val="solid"/>
                      <a:round/>
                      <a:headEnd type="none" w="med" len="med"/>
                      <a:tailEnd type="none" w="med" len="med"/>
                    </a:lnT>
                    <a:lnB w="9525" cap="flat" cmpd="sng" algn="ctr">
                      <a:solidFill>
                        <a:srgbClr val="E4BEBA"/>
                      </a:solidFill>
                      <a:prstDash val="solid"/>
                      <a:round/>
                      <a:headEnd type="none" w="med" len="med"/>
                      <a:tailEnd type="none" w="med" len="med"/>
                    </a:lnB>
                    <a:solidFill>
                      <a:srgbClr val="FFFFFF"/>
                    </a:solidFill>
                  </a:tcPr>
                </a:tc>
                <a:tc>
                  <a:txBody>
                    <a:bodyPr/>
                    <a:lstStyle/>
                    <a:p>
                      <a:pPr algn="l" indent="0" marL="0">
                        <a:buNone/>
                      </a:pPr>
                      <a:r>
                        <a:rPr lang="en-US" sz="1250" b="1" dirty="0">
                          <a:solidFill>
                            <a:srgbClr val="4A4340"/>
                          </a:solidFill>
                          <a:latin typeface="Calibri" pitchFamily="34" charset="0"/>
                          <a:ea typeface="Calibri" pitchFamily="34" charset="-122"/>
                          <a:cs typeface="Calibri" pitchFamily="34" charset="-120"/>
                        </a:rPr>
                        <a:t>What it does</a:t>
                      </a:r>
                      <a:endParaRPr lang="en-US" sz="1250" dirty="0">
                        <a:latin typeface="Calibri" charset="0"/>
                        <a:ea typeface="Calibri" charset="0"/>
                        <a:cs typeface="Calibri" charset="0"/>
                      </a:endParaRPr>
                    </a:p>
                  </a:txBody>
                  <a:tcPr marL="127000" marR="127000" marT="50800" marB="50800" anchor="ctr">
                    <a:lnL w="9525" cap="flat" cmpd="sng" algn="ctr">
                      <a:solidFill>
                        <a:srgbClr val="E4BEBA"/>
                      </a:solidFill>
                      <a:prstDash val="solid"/>
                      <a:round/>
                      <a:headEnd type="none" w="med" len="med"/>
                      <a:tailEnd type="none" w="med" len="med"/>
                    </a:lnL>
                    <a:lnR w="9525" cap="flat" cmpd="sng" algn="ctr">
                      <a:solidFill>
                        <a:srgbClr val="E4BEBA"/>
                      </a:solidFill>
                      <a:prstDash val="solid"/>
                      <a:round/>
                      <a:headEnd type="none" w="med" len="med"/>
                      <a:tailEnd type="none" w="med" len="med"/>
                    </a:lnR>
                    <a:lnT w="9525" cap="flat" cmpd="sng" algn="ctr">
                      <a:solidFill>
                        <a:srgbClr val="E4BEBA"/>
                      </a:solidFill>
                      <a:prstDash val="solid"/>
                      <a:round/>
                      <a:headEnd type="none" w="med" len="med"/>
                      <a:tailEnd type="none" w="med" len="med"/>
                    </a:lnT>
                    <a:lnB w="9525" cap="flat" cmpd="sng" algn="ctr">
                      <a:solidFill>
                        <a:srgbClr val="E4BEBA"/>
                      </a:solidFill>
                      <a:prstDash val="solid"/>
                      <a:round/>
                      <a:headEnd type="none" w="med" len="med"/>
                      <a:tailEnd type="none" w="med" len="med"/>
                    </a:lnB>
                    <a:solidFill>
                      <a:srgbClr val="FFFFFF"/>
                    </a:solidFill>
                  </a:tcPr>
                </a:tc>
                <a:tc>
                  <a:txBody>
                    <a:bodyPr/>
                    <a:lstStyle/>
                    <a:p>
                      <a:pPr algn="l" indent="0" marL="0">
                        <a:buNone/>
                      </a:pPr>
                      <a:r>
                        <a:rPr lang="en-US" sz="1250" b="1" dirty="0">
                          <a:solidFill>
                            <a:srgbClr val="4A4340"/>
                          </a:solidFill>
                          <a:latin typeface="Calibri" pitchFamily="34" charset="0"/>
                          <a:ea typeface="Calibri" pitchFamily="34" charset="-122"/>
                          <a:cs typeface="Calibri" pitchFamily="34" charset="-120"/>
                        </a:rPr>
                        <a:t>Who can open it</a:t>
                      </a:r>
                      <a:endParaRPr lang="en-US" sz="1250" dirty="0">
                        <a:latin typeface="Calibri" charset="0"/>
                        <a:ea typeface="Calibri" charset="0"/>
                        <a:cs typeface="Calibri" charset="0"/>
                      </a:endParaRPr>
                    </a:p>
                  </a:txBody>
                  <a:tcPr marL="127000" marR="127000" marT="50800" marB="50800" anchor="ctr">
                    <a:lnL w="9525" cap="flat" cmpd="sng" algn="ctr">
                      <a:solidFill>
                        <a:srgbClr val="E4BEBA"/>
                      </a:solidFill>
                      <a:prstDash val="solid"/>
                      <a:round/>
                      <a:headEnd type="none" w="med" len="med"/>
                      <a:tailEnd type="none" w="med" len="med"/>
                    </a:lnL>
                    <a:lnR w="9525" cap="flat" cmpd="sng" algn="ctr">
                      <a:solidFill>
                        <a:srgbClr val="E4BEBA"/>
                      </a:solidFill>
                      <a:prstDash val="solid"/>
                      <a:round/>
                      <a:headEnd type="none" w="med" len="med"/>
                      <a:tailEnd type="none" w="med" len="med"/>
                    </a:lnR>
                    <a:lnT w="9525" cap="flat" cmpd="sng" algn="ctr">
                      <a:solidFill>
                        <a:srgbClr val="E4BEBA"/>
                      </a:solidFill>
                      <a:prstDash val="solid"/>
                      <a:round/>
                      <a:headEnd type="none" w="med" len="med"/>
                      <a:tailEnd type="none" w="med" len="med"/>
                    </a:lnT>
                    <a:lnB w="9525" cap="flat" cmpd="sng" algn="ctr">
                      <a:solidFill>
                        <a:srgbClr val="E4BEBA"/>
                      </a:solidFill>
                      <a:prstDash val="solid"/>
                      <a:round/>
                      <a:headEnd type="none" w="med" len="med"/>
                      <a:tailEnd type="none" w="med" len="med"/>
                    </a:lnB>
                    <a:solidFill>
                      <a:srgbClr val="FFFFFF"/>
                    </a:solidFill>
                  </a:tcPr>
                </a:tc>
              </a:tr>
              <a:tr h="384048">
                <a:tc>
                  <a:txBody>
                    <a:bodyPr/>
                    <a:lstStyle/>
                    <a:p>
                      <a:pPr algn="l" indent="0" marL="0">
                        <a:buNone/>
                      </a:pPr>
                      <a:r>
                        <a:rPr lang="en-US" sz="1250" dirty="0">
                          <a:solidFill>
                            <a:srgbClr val="4A4340"/>
                          </a:solidFill>
                          <a:latin typeface="Calibri" pitchFamily="34" charset="0"/>
                          <a:ea typeface="Calibri" pitchFamily="34" charset="-122"/>
                          <a:cs typeface="Calibri" pitchFamily="34" charset="-120"/>
                        </a:rPr>
                        <a:t>Dashboard</a:t>
                      </a:r>
                      <a:endParaRPr lang="en-US" sz="1250" dirty="0">
                        <a:latin typeface="Calibri" charset="0"/>
                        <a:ea typeface="Calibri" charset="0"/>
                        <a:cs typeface="Calibri" charset="0"/>
                      </a:endParaRPr>
                    </a:p>
                  </a:txBody>
                  <a:tcPr marL="127000" marR="127000" marT="50800" marB="50800" anchor="ctr">
                    <a:lnL w="9525" cap="flat" cmpd="sng" algn="ctr">
                      <a:solidFill>
                        <a:srgbClr val="E4BEBA"/>
                      </a:solidFill>
                      <a:prstDash val="solid"/>
                      <a:round/>
                      <a:headEnd type="none" w="med" len="med"/>
                      <a:tailEnd type="none" w="med" len="med"/>
                    </a:lnL>
                    <a:lnR w="9525" cap="flat" cmpd="sng" algn="ctr">
                      <a:solidFill>
                        <a:srgbClr val="E4BEBA"/>
                      </a:solidFill>
                      <a:prstDash val="solid"/>
                      <a:round/>
                      <a:headEnd type="none" w="med" len="med"/>
                      <a:tailEnd type="none" w="med" len="med"/>
                    </a:lnR>
                    <a:lnT w="9525" cap="flat" cmpd="sng" algn="ctr">
                      <a:solidFill>
                        <a:srgbClr val="E4BEBA"/>
                      </a:solidFill>
                      <a:prstDash val="solid"/>
                      <a:round/>
                      <a:headEnd type="none" w="med" len="med"/>
                      <a:tailEnd type="none" w="med" len="med"/>
                    </a:lnT>
                    <a:lnB w="9525" cap="flat" cmpd="sng" algn="ctr">
                      <a:solidFill>
                        <a:srgbClr val="E4BEBA"/>
                      </a:solidFill>
                      <a:prstDash val="solid"/>
                      <a:round/>
                      <a:headEnd type="none" w="med" len="med"/>
                      <a:tailEnd type="none" w="med" len="med"/>
                    </a:lnB>
                    <a:solidFill>
                      <a:srgbClr val="FFFFFF"/>
                    </a:solidFill>
                  </a:tcPr>
                </a:tc>
                <a:tc>
                  <a:txBody>
                    <a:bodyPr/>
                    <a:lstStyle/>
                    <a:p>
                      <a:pPr algn="l" indent="0" marL="0">
                        <a:buNone/>
                      </a:pPr>
                      <a:r>
                        <a:rPr lang="en-US" sz="1250" dirty="0">
                          <a:solidFill>
                            <a:srgbClr val="4A4340"/>
                          </a:solidFill>
                          <a:latin typeface="Calibri" pitchFamily="34" charset="0"/>
                          <a:ea typeface="Calibri" pitchFamily="34" charset="-122"/>
                          <a:cs typeface="Calibri" pitchFamily="34" charset="-120"/>
                        </a:rPr>
                        <a:t>Report volume, status mix, live analytics</a:t>
                      </a:r>
                      <a:endParaRPr lang="en-US" sz="1250" dirty="0">
                        <a:latin typeface="Calibri" charset="0"/>
                        <a:ea typeface="Calibri" charset="0"/>
                        <a:cs typeface="Calibri" charset="0"/>
                      </a:endParaRPr>
                    </a:p>
                  </a:txBody>
                  <a:tcPr marL="127000" marR="127000" marT="50800" marB="50800" anchor="ctr">
                    <a:lnL w="9525" cap="flat" cmpd="sng" algn="ctr">
                      <a:solidFill>
                        <a:srgbClr val="E4BEBA"/>
                      </a:solidFill>
                      <a:prstDash val="solid"/>
                      <a:round/>
                      <a:headEnd type="none" w="med" len="med"/>
                      <a:tailEnd type="none" w="med" len="med"/>
                    </a:lnL>
                    <a:lnR w="9525" cap="flat" cmpd="sng" algn="ctr">
                      <a:solidFill>
                        <a:srgbClr val="E4BEBA"/>
                      </a:solidFill>
                      <a:prstDash val="solid"/>
                      <a:round/>
                      <a:headEnd type="none" w="med" len="med"/>
                      <a:tailEnd type="none" w="med" len="med"/>
                    </a:lnR>
                    <a:lnT w="9525" cap="flat" cmpd="sng" algn="ctr">
                      <a:solidFill>
                        <a:srgbClr val="E4BEBA"/>
                      </a:solidFill>
                      <a:prstDash val="solid"/>
                      <a:round/>
                      <a:headEnd type="none" w="med" len="med"/>
                      <a:tailEnd type="none" w="med" len="med"/>
                    </a:lnT>
                    <a:lnB w="9525" cap="flat" cmpd="sng" algn="ctr">
                      <a:solidFill>
                        <a:srgbClr val="E4BEBA"/>
                      </a:solidFill>
                      <a:prstDash val="solid"/>
                      <a:round/>
                      <a:headEnd type="none" w="med" len="med"/>
                      <a:tailEnd type="none" w="med" len="med"/>
                    </a:lnB>
                    <a:solidFill>
                      <a:srgbClr val="FFFFFF"/>
                    </a:solidFill>
                  </a:tcPr>
                </a:tc>
                <a:tc>
                  <a:txBody>
                    <a:bodyPr/>
                    <a:lstStyle/>
                    <a:p>
                      <a:pPr algn="l" indent="0" marL="0">
                        <a:buNone/>
                      </a:pPr>
                      <a:r>
                        <a:rPr lang="en-US" sz="1250" dirty="0">
                          <a:solidFill>
                            <a:srgbClr val="4A4340"/>
                          </a:solidFill>
                          <a:latin typeface="Calibri" pitchFamily="34" charset="0"/>
                          <a:ea typeface="Calibri" pitchFamily="34" charset="-122"/>
                          <a:cs typeface="Calibri" pitchFamily="34" charset="-120"/>
                        </a:rPr>
                        <a:t>Super admin · Hall admin</a:t>
                      </a:r>
                      <a:endParaRPr lang="en-US" sz="1250" dirty="0">
                        <a:latin typeface="Calibri" charset="0"/>
                        <a:ea typeface="Calibri" charset="0"/>
                        <a:cs typeface="Calibri" charset="0"/>
                      </a:endParaRPr>
                    </a:p>
                  </a:txBody>
                  <a:tcPr marL="127000" marR="127000" marT="50800" marB="50800" anchor="ctr">
                    <a:lnL w="9525" cap="flat" cmpd="sng" algn="ctr">
                      <a:solidFill>
                        <a:srgbClr val="E4BEBA"/>
                      </a:solidFill>
                      <a:prstDash val="solid"/>
                      <a:round/>
                      <a:headEnd type="none" w="med" len="med"/>
                      <a:tailEnd type="none" w="med" len="med"/>
                    </a:lnL>
                    <a:lnR w="9525" cap="flat" cmpd="sng" algn="ctr">
                      <a:solidFill>
                        <a:srgbClr val="E4BEBA"/>
                      </a:solidFill>
                      <a:prstDash val="solid"/>
                      <a:round/>
                      <a:headEnd type="none" w="med" len="med"/>
                      <a:tailEnd type="none" w="med" len="med"/>
                    </a:lnR>
                    <a:lnT w="9525" cap="flat" cmpd="sng" algn="ctr">
                      <a:solidFill>
                        <a:srgbClr val="E4BEBA"/>
                      </a:solidFill>
                      <a:prstDash val="solid"/>
                      <a:round/>
                      <a:headEnd type="none" w="med" len="med"/>
                      <a:tailEnd type="none" w="med" len="med"/>
                    </a:lnT>
                    <a:lnB w="9525" cap="flat" cmpd="sng" algn="ctr">
                      <a:solidFill>
                        <a:srgbClr val="E4BEBA"/>
                      </a:solidFill>
                      <a:prstDash val="solid"/>
                      <a:round/>
                      <a:headEnd type="none" w="med" len="med"/>
                      <a:tailEnd type="none" w="med" len="med"/>
                    </a:lnB>
                    <a:solidFill>
                      <a:srgbClr val="FFFFFF"/>
                    </a:solidFill>
                  </a:tcPr>
                </a:tc>
              </a:tr>
              <a:tr h="384048">
                <a:tc>
                  <a:txBody>
                    <a:bodyPr/>
                    <a:lstStyle/>
                    <a:p>
                      <a:pPr algn="l" indent="0" marL="0">
                        <a:buNone/>
                      </a:pPr>
                      <a:r>
                        <a:rPr lang="en-US" sz="1250" dirty="0">
                          <a:solidFill>
                            <a:srgbClr val="4A4340"/>
                          </a:solidFill>
                          <a:latin typeface="Calibri" pitchFamily="34" charset="0"/>
                          <a:ea typeface="Calibri" pitchFamily="34" charset="-122"/>
                          <a:cs typeface="Calibri" pitchFamily="34" charset="-120"/>
                        </a:rPr>
                        <a:t>Students</a:t>
                      </a:r>
                      <a:endParaRPr lang="en-US" sz="1250" dirty="0">
                        <a:latin typeface="Calibri" charset="0"/>
                        <a:ea typeface="Calibri" charset="0"/>
                        <a:cs typeface="Calibri" charset="0"/>
                      </a:endParaRPr>
                    </a:p>
                  </a:txBody>
                  <a:tcPr marL="127000" marR="127000" marT="50800" marB="50800" anchor="ctr">
                    <a:lnL w="9525" cap="flat" cmpd="sng" algn="ctr">
                      <a:solidFill>
                        <a:srgbClr val="E4BEBA"/>
                      </a:solidFill>
                      <a:prstDash val="solid"/>
                      <a:round/>
                      <a:headEnd type="none" w="med" len="med"/>
                      <a:tailEnd type="none" w="med" len="med"/>
                    </a:lnL>
                    <a:lnR w="9525" cap="flat" cmpd="sng" algn="ctr">
                      <a:solidFill>
                        <a:srgbClr val="E4BEBA"/>
                      </a:solidFill>
                      <a:prstDash val="solid"/>
                      <a:round/>
                      <a:headEnd type="none" w="med" len="med"/>
                      <a:tailEnd type="none" w="med" len="med"/>
                    </a:lnR>
                    <a:lnT w="9525" cap="flat" cmpd="sng" algn="ctr">
                      <a:solidFill>
                        <a:srgbClr val="E4BEBA"/>
                      </a:solidFill>
                      <a:prstDash val="solid"/>
                      <a:round/>
                      <a:headEnd type="none" w="med" len="med"/>
                      <a:tailEnd type="none" w="med" len="med"/>
                    </a:lnT>
                    <a:lnB w="9525" cap="flat" cmpd="sng" algn="ctr">
                      <a:solidFill>
                        <a:srgbClr val="E4BEBA"/>
                      </a:solidFill>
                      <a:prstDash val="solid"/>
                      <a:round/>
                      <a:headEnd type="none" w="med" len="med"/>
                      <a:tailEnd type="none" w="med" len="med"/>
                    </a:lnB>
                    <a:solidFill>
                      <a:srgbClr val="FFFFFF"/>
                    </a:solidFill>
                  </a:tcPr>
                </a:tc>
                <a:tc>
                  <a:txBody>
                    <a:bodyPr/>
                    <a:lstStyle/>
                    <a:p>
                      <a:pPr algn="l" indent="0" marL="0">
                        <a:buNone/>
                      </a:pPr>
                      <a:r>
                        <a:rPr lang="en-US" sz="1250" dirty="0">
                          <a:solidFill>
                            <a:srgbClr val="4A4340"/>
                          </a:solidFill>
                          <a:latin typeface="Calibri" pitchFamily="34" charset="0"/>
                          <a:ea typeface="Calibri" pitchFamily="34" charset="-122"/>
                          <a:cs typeface="Calibri" pitchFamily="34" charset="-120"/>
                        </a:rPr>
                        <a:t>Resident directory by hall</a:t>
                      </a:r>
                      <a:endParaRPr lang="en-US" sz="1250" dirty="0">
                        <a:latin typeface="Calibri" charset="0"/>
                        <a:ea typeface="Calibri" charset="0"/>
                        <a:cs typeface="Calibri" charset="0"/>
                      </a:endParaRPr>
                    </a:p>
                  </a:txBody>
                  <a:tcPr marL="127000" marR="127000" marT="50800" marB="50800" anchor="ctr">
                    <a:lnL w="9525" cap="flat" cmpd="sng" algn="ctr">
                      <a:solidFill>
                        <a:srgbClr val="E4BEBA"/>
                      </a:solidFill>
                      <a:prstDash val="solid"/>
                      <a:round/>
                      <a:headEnd type="none" w="med" len="med"/>
                      <a:tailEnd type="none" w="med" len="med"/>
                    </a:lnL>
                    <a:lnR w="9525" cap="flat" cmpd="sng" algn="ctr">
                      <a:solidFill>
                        <a:srgbClr val="E4BEBA"/>
                      </a:solidFill>
                      <a:prstDash val="solid"/>
                      <a:round/>
                      <a:headEnd type="none" w="med" len="med"/>
                      <a:tailEnd type="none" w="med" len="med"/>
                    </a:lnR>
                    <a:lnT w="9525" cap="flat" cmpd="sng" algn="ctr">
                      <a:solidFill>
                        <a:srgbClr val="E4BEBA"/>
                      </a:solidFill>
                      <a:prstDash val="solid"/>
                      <a:round/>
                      <a:headEnd type="none" w="med" len="med"/>
                      <a:tailEnd type="none" w="med" len="med"/>
                    </a:lnT>
                    <a:lnB w="9525" cap="flat" cmpd="sng" algn="ctr">
                      <a:solidFill>
                        <a:srgbClr val="E4BEBA"/>
                      </a:solidFill>
                      <a:prstDash val="solid"/>
                      <a:round/>
                      <a:headEnd type="none" w="med" len="med"/>
                      <a:tailEnd type="none" w="med" len="med"/>
                    </a:lnB>
                    <a:solidFill>
                      <a:srgbClr val="FFFFFF"/>
                    </a:solidFill>
                  </a:tcPr>
                </a:tc>
                <a:tc>
                  <a:txBody>
                    <a:bodyPr/>
                    <a:lstStyle/>
                    <a:p>
                      <a:pPr algn="l" indent="0" marL="0">
                        <a:buNone/>
                      </a:pPr>
                      <a:r>
                        <a:rPr lang="en-US" sz="1250" dirty="0">
                          <a:solidFill>
                            <a:srgbClr val="4A4340"/>
                          </a:solidFill>
                          <a:latin typeface="Calibri" pitchFamily="34" charset="0"/>
                          <a:ea typeface="Calibri" pitchFamily="34" charset="-122"/>
                          <a:cs typeface="Calibri" pitchFamily="34" charset="-120"/>
                        </a:rPr>
                        <a:t>Super admin · Hall admin</a:t>
                      </a:r>
                      <a:endParaRPr lang="en-US" sz="1250" dirty="0">
                        <a:latin typeface="Calibri" charset="0"/>
                        <a:ea typeface="Calibri" charset="0"/>
                        <a:cs typeface="Calibri" charset="0"/>
                      </a:endParaRPr>
                    </a:p>
                  </a:txBody>
                  <a:tcPr marL="127000" marR="127000" marT="50800" marB="50800" anchor="ctr">
                    <a:lnL w="9525" cap="flat" cmpd="sng" algn="ctr">
                      <a:solidFill>
                        <a:srgbClr val="E4BEBA"/>
                      </a:solidFill>
                      <a:prstDash val="solid"/>
                      <a:round/>
                      <a:headEnd type="none" w="med" len="med"/>
                      <a:tailEnd type="none" w="med" len="med"/>
                    </a:lnL>
                    <a:lnR w="9525" cap="flat" cmpd="sng" algn="ctr">
                      <a:solidFill>
                        <a:srgbClr val="E4BEBA"/>
                      </a:solidFill>
                      <a:prstDash val="solid"/>
                      <a:round/>
                      <a:headEnd type="none" w="med" len="med"/>
                      <a:tailEnd type="none" w="med" len="med"/>
                    </a:lnR>
                    <a:lnT w="9525" cap="flat" cmpd="sng" algn="ctr">
                      <a:solidFill>
                        <a:srgbClr val="E4BEBA"/>
                      </a:solidFill>
                      <a:prstDash val="solid"/>
                      <a:round/>
                      <a:headEnd type="none" w="med" len="med"/>
                      <a:tailEnd type="none" w="med" len="med"/>
                    </a:lnT>
                    <a:lnB w="9525" cap="flat" cmpd="sng" algn="ctr">
                      <a:solidFill>
                        <a:srgbClr val="E4BEBA"/>
                      </a:solidFill>
                      <a:prstDash val="solid"/>
                      <a:round/>
                      <a:headEnd type="none" w="med" len="med"/>
                      <a:tailEnd type="none" w="med" len="med"/>
                    </a:lnB>
                    <a:solidFill>
                      <a:srgbClr val="FFFFFF"/>
                    </a:solidFill>
                  </a:tcPr>
                </a:tc>
              </a:tr>
              <a:tr h="384048">
                <a:tc>
                  <a:txBody>
                    <a:bodyPr/>
                    <a:lstStyle/>
                    <a:p>
                      <a:pPr algn="l" indent="0" marL="0">
                        <a:buNone/>
                      </a:pPr>
                      <a:r>
                        <a:rPr lang="en-US" sz="1250" dirty="0">
                          <a:solidFill>
                            <a:srgbClr val="4A4340"/>
                          </a:solidFill>
                          <a:latin typeface="Calibri" pitchFamily="34" charset="0"/>
                          <a:ea typeface="Calibri" pitchFamily="34" charset="-122"/>
                          <a:cs typeface="Calibri" pitchFamily="34" charset="-120"/>
                        </a:rPr>
                        <a:t>News</a:t>
                      </a:r>
                      <a:endParaRPr lang="en-US" sz="1250" dirty="0">
                        <a:latin typeface="Calibri" charset="0"/>
                        <a:ea typeface="Calibri" charset="0"/>
                        <a:cs typeface="Calibri" charset="0"/>
                      </a:endParaRPr>
                    </a:p>
                  </a:txBody>
                  <a:tcPr marL="127000" marR="127000" marT="50800" marB="50800" anchor="ctr">
                    <a:lnL w="9525" cap="flat" cmpd="sng" algn="ctr">
                      <a:solidFill>
                        <a:srgbClr val="E4BEBA"/>
                      </a:solidFill>
                      <a:prstDash val="solid"/>
                      <a:round/>
                      <a:headEnd type="none" w="med" len="med"/>
                      <a:tailEnd type="none" w="med" len="med"/>
                    </a:lnL>
                    <a:lnR w="9525" cap="flat" cmpd="sng" algn="ctr">
                      <a:solidFill>
                        <a:srgbClr val="E4BEBA"/>
                      </a:solidFill>
                      <a:prstDash val="solid"/>
                      <a:round/>
                      <a:headEnd type="none" w="med" len="med"/>
                      <a:tailEnd type="none" w="med" len="med"/>
                    </a:lnR>
                    <a:lnT w="9525" cap="flat" cmpd="sng" algn="ctr">
                      <a:solidFill>
                        <a:srgbClr val="E4BEBA"/>
                      </a:solidFill>
                      <a:prstDash val="solid"/>
                      <a:round/>
                      <a:headEnd type="none" w="med" len="med"/>
                      <a:tailEnd type="none" w="med" len="med"/>
                    </a:lnT>
                    <a:lnB w="9525" cap="flat" cmpd="sng" algn="ctr">
                      <a:solidFill>
                        <a:srgbClr val="E4BEBA"/>
                      </a:solidFill>
                      <a:prstDash val="solid"/>
                      <a:round/>
                      <a:headEnd type="none" w="med" len="med"/>
                      <a:tailEnd type="none" w="med" len="med"/>
                    </a:lnB>
                    <a:solidFill>
                      <a:srgbClr val="FFFFFF"/>
                    </a:solidFill>
                  </a:tcPr>
                </a:tc>
                <a:tc>
                  <a:txBody>
                    <a:bodyPr/>
                    <a:lstStyle/>
                    <a:p>
                      <a:pPr algn="l" indent="0" marL="0">
                        <a:buNone/>
                      </a:pPr>
                      <a:r>
                        <a:rPr lang="en-US" sz="1250" dirty="0">
                          <a:solidFill>
                            <a:srgbClr val="4A4340"/>
                          </a:solidFill>
                          <a:latin typeface="Calibri" pitchFamily="34" charset="0"/>
                          <a:ea typeface="Calibri" pitchFamily="34" charset="-122"/>
                          <a:cs typeface="Calibri" pitchFamily="34" charset="-120"/>
                        </a:rPr>
                        <a:t>Write and publish hall bulletins</a:t>
                      </a:r>
                      <a:endParaRPr lang="en-US" sz="1250" dirty="0">
                        <a:latin typeface="Calibri" charset="0"/>
                        <a:ea typeface="Calibri" charset="0"/>
                        <a:cs typeface="Calibri" charset="0"/>
                      </a:endParaRPr>
                    </a:p>
                  </a:txBody>
                  <a:tcPr marL="127000" marR="127000" marT="50800" marB="50800" anchor="ctr">
                    <a:lnL w="9525" cap="flat" cmpd="sng" algn="ctr">
                      <a:solidFill>
                        <a:srgbClr val="E4BEBA"/>
                      </a:solidFill>
                      <a:prstDash val="solid"/>
                      <a:round/>
                      <a:headEnd type="none" w="med" len="med"/>
                      <a:tailEnd type="none" w="med" len="med"/>
                    </a:lnL>
                    <a:lnR w="9525" cap="flat" cmpd="sng" algn="ctr">
                      <a:solidFill>
                        <a:srgbClr val="E4BEBA"/>
                      </a:solidFill>
                      <a:prstDash val="solid"/>
                      <a:round/>
                      <a:headEnd type="none" w="med" len="med"/>
                      <a:tailEnd type="none" w="med" len="med"/>
                    </a:lnR>
                    <a:lnT w="9525" cap="flat" cmpd="sng" algn="ctr">
                      <a:solidFill>
                        <a:srgbClr val="E4BEBA"/>
                      </a:solidFill>
                      <a:prstDash val="solid"/>
                      <a:round/>
                      <a:headEnd type="none" w="med" len="med"/>
                      <a:tailEnd type="none" w="med" len="med"/>
                    </a:lnT>
                    <a:lnB w="9525" cap="flat" cmpd="sng" algn="ctr">
                      <a:solidFill>
                        <a:srgbClr val="E4BEBA"/>
                      </a:solidFill>
                      <a:prstDash val="solid"/>
                      <a:round/>
                      <a:headEnd type="none" w="med" len="med"/>
                      <a:tailEnd type="none" w="med" len="med"/>
                    </a:lnB>
                    <a:solidFill>
                      <a:srgbClr val="FFFFFF"/>
                    </a:solidFill>
                  </a:tcPr>
                </a:tc>
                <a:tc>
                  <a:txBody>
                    <a:bodyPr/>
                    <a:lstStyle/>
                    <a:p>
                      <a:pPr algn="l" indent="0" marL="0">
                        <a:buNone/>
                      </a:pPr>
                      <a:r>
                        <a:rPr lang="en-US" sz="1250" dirty="0">
                          <a:solidFill>
                            <a:srgbClr val="4A4340"/>
                          </a:solidFill>
                          <a:latin typeface="Calibri" pitchFamily="34" charset="0"/>
                          <a:ea typeface="Calibri" pitchFamily="34" charset="-122"/>
                          <a:cs typeface="Calibri" pitchFamily="34" charset="-120"/>
                        </a:rPr>
                        <a:t>Super admin · Hall admin</a:t>
                      </a:r>
                      <a:endParaRPr lang="en-US" sz="1250" dirty="0">
                        <a:latin typeface="Calibri" charset="0"/>
                        <a:ea typeface="Calibri" charset="0"/>
                        <a:cs typeface="Calibri" charset="0"/>
                      </a:endParaRPr>
                    </a:p>
                  </a:txBody>
                  <a:tcPr marL="127000" marR="127000" marT="50800" marB="50800" anchor="ctr">
                    <a:lnL w="9525" cap="flat" cmpd="sng" algn="ctr">
                      <a:solidFill>
                        <a:srgbClr val="E4BEBA"/>
                      </a:solidFill>
                      <a:prstDash val="solid"/>
                      <a:round/>
                      <a:headEnd type="none" w="med" len="med"/>
                      <a:tailEnd type="none" w="med" len="med"/>
                    </a:lnL>
                    <a:lnR w="9525" cap="flat" cmpd="sng" algn="ctr">
                      <a:solidFill>
                        <a:srgbClr val="E4BEBA"/>
                      </a:solidFill>
                      <a:prstDash val="solid"/>
                      <a:round/>
                      <a:headEnd type="none" w="med" len="med"/>
                      <a:tailEnd type="none" w="med" len="med"/>
                    </a:lnR>
                    <a:lnT w="9525" cap="flat" cmpd="sng" algn="ctr">
                      <a:solidFill>
                        <a:srgbClr val="E4BEBA"/>
                      </a:solidFill>
                      <a:prstDash val="solid"/>
                      <a:round/>
                      <a:headEnd type="none" w="med" len="med"/>
                      <a:tailEnd type="none" w="med" len="med"/>
                    </a:lnT>
                    <a:lnB w="9525" cap="flat" cmpd="sng" algn="ctr">
                      <a:solidFill>
                        <a:srgbClr val="E4BEBA"/>
                      </a:solidFill>
                      <a:prstDash val="solid"/>
                      <a:round/>
                      <a:headEnd type="none" w="med" len="med"/>
                      <a:tailEnd type="none" w="med" len="med"/>
                    </a:lnB>
                    <a:solidFill>
                      <a:srgbClr val="FFFFFF"/>
                    </a:solidFill>
                  </a:tcPr>
                </a:tc>
              </a:tr>
              <a:tr h="384048">
                <a:tc>
                  <a:txBody>
                    <a:bodyPr/>
                    <a:lstStyle/>
                    <a:p>
                      <a:pPr algn="l" indent="0" marL="0">
                        <a:buNone/>
                      </a:pPr>
                      <a:r>
                        <a:rPr lang="en-US" sz="1250" dirty="0">
                          <a:solidFill>
                            <a:srgbClr val="4A4340"/>
                          </a:solidFill>
                          <a:latin typeface="Calibri" pitchFamily="34" charset="0"/>
                          <a:ea typeface="Calibri" pitchFamily="34" charset="-122"/>
                          <a:cs typeface="Calibri" pitchFamily="34" charset="-120"/>
                        </a:rPr>
                        <a:t>Schedule</a:t>
                      </a:r>
                      <a:endParaRPr lang="en-US" sz="1250" dirty="0">
                        <a:latin typeface="Calibri" charset="0"/>
                        <a:ea typeface="Calibri" charset="0"/>
                        <a:cs typeface="Calibri" charset="0"/>
                      </a:endParaRPr>
                    </a:p>
                  </a:txBody>
                  <a:tcPr marL="127000" marR="127000" marT="50800" marB="50800" anchor="ctr">
                    <a:lnL w="9525" cap="flat" cmpd="sng" algn="ctr">
                      <a:solidFill>
                        <a:srgbClr val="E4BEBA"/>
                      </a:solidFill>
                      <a:prstDash val="solid"/>
                      <a:round/>
                      <a:headEnd type="none" w="med" len="med"/>
                      <a:tailEnd type="none" w="med" len="med"/>
                    </a:lnL>
                    <a:lnR w="9525" cap="flat" cmpd="sng" algn="ctr">
                      <a:solidFill>
                        <a:srgbClr val="E4BEBA"/>
                      </a:solidFill>
                      <a:prstDash val="solid"/>
                      <a:round/>
                      <a:headEnd type="none" w="med" len="med"/>
                      <a:tailEnd type="none" w="med" len="med"/>
                    </a:lnR>
                    <a:lnT w="9525" cap="flat" cmpd="sng" algn="ctr">
                      <a:solidFill>
                        <a:srgbClr val="E4BEBA"/>
                      </a:solidFill>
                      <a:prstDash val="solid"/>
                      <a:round/>
                      <a:headEnd type="none" w="med" len="med"/>
                      <a:tailEnd type="none" w="med" len="med"/>
                    </a:lnT>
                    <a:lnB w="9525" cap="flat" cmpd="sng" algn="ctr">
                      <a:solidFill>
                        <a:srgbClr val="E4BEBA"/>
                      </a:solidFill>
                      <a:prstDash val="solid"/>
                      <a:round/>
                      <a:headEnd type="none" w="med" len="med"/>
                      <a:tailEnd type="none" w="med" len="med"/>
                    </a:lnB>
                    <a:solidFill>
                      <a:srgbClr val="FFFFFF"/>
                    </a:solidFill>
                  </a:tcPr>
                </a:tc>
                <a:tc>
                  <a:txBody>
                    <a:bodyPr/>
                    <a:lstStyle/>
                    <a:p>
                      <a:pPr algn="l" indent="0" marL="0">
                        <a:buNone/>
                      </a:pPr>
                      <a:r>
                        <a:rPr lang="en-US" sz="1250" dirty="0">
                          <a:solidFill>
                            <a:srgbClr val="4A4340"/>
                          </a:solidFill>
                          <a:latin typeface="Calibri" pitchFamily="34" charset="0"/>
                          <a:ea typeface="Calibri" pitchFamily="34" charset="-122"/>
                          <a:cs typeface="Calibri" pitchFamily="34" charset="-120"/>
                        </a:rPr>
                        <a:t>Book repair slots against reports</a:t>
                      </a:r>
                      <a:endParaRPr lang="en-US" sz="1250" dirty="0">
                        <a:latin typeface="Calibri" charset="0"/>
                        <a:ea typeface="Calibri" charset="0"/>
                        <a:cs typeface="Calibri" charset="0"/>
                      </a:endParaRPr>
                    </a:p>
                  </a:txBody>
                  <a:tcPr marL="127000" marR="127000" marT="50800" marB="50800" anchor="ctr">
                    <a:lnL w="9525" cap="flat" cmpd="sng" algn="ctr">
                      <a:solidFill>
                        <a:srgbClr val="E4BEBA"/>
                      </a:solidFill>
                      <a:prstDash val="solid"/>
                      <a:round/>
                      <a:headEnd type="none" w="med" len="med"/>
                      <a:tailEnd type="none" w="med" len="med"/>
                    </a:lnL>
                    <a:lnR w="9525" cap="flat" cmpd="sng" algn="ctr">
                      <a:solidFill>
                        <a:srgbClr val="E4BEBA"/>
                      </a:solidFill>
                      <a:prstDash val="solid"/>
                      <a:round/>
                      <a:headEnd type="none" w="med" len="med"/>
                      <a:tailEnd type="none" w="med" len="med"/>
                    </a:lnR>
                    <a:lnT w="9525" cap="flat" cmpd="sng" algn="ctr">
                      <a:solidFill>
                        <a:srgbClr val="E4BEBA"/>
                      </a:solidFill>
                      <a:prstDash val="solid"/>
                      <a:round/>
                      <a:headEnd type="none" w="med" len="med"/>
                      <a:tailEnd type="none" w="med" len="med"/>
                    </a:lnT>
                    <a:lnB w="9525" cap="flat" cmpd="sng" algn="ctr">
                      <a:solidFill>
                        <a:srgbClr val="E4BEBA"/>
                      </a:solidFill>
                      <a:prstDash val="solid"/>
                      <a:round/>
                      <a:headEnd type="none" w="med" len="med"/>
                      <a:tailEnd type="none" w="med" len="med"/>
                    </a:lnB>
                    <a:solidFill>
                      <a:srgbClr val="FFFFFF"/>
                    </a:solidFill>
                  </a:tcPr>
                </a:tc>
                <a:tc>
                  <a:txBody>
                    <a:bodyPr/>
                    <a:lstStyle/>
                    <a:p>
                      <a:pPr algn="l" indent="0" marL="0">
                        <a:buNone/>
                      </a:pPr>
                      <a:r>
                        <a:rPr lang="en-US" sz="1250" dirty="0">
                          <a:solidFill>
                            <a:srgbClr val="4A4340"/>
                          </a:solidFill>
                          <a:latin typeface="Calibri" pitchFamily="34" charset="0"/>
                          <a:ea typeface="Calibri" pitchFamily="34" charset="-122"/>
                          <a:cs typeface="Calibri" pitchFamily="34" charset="-120"/>
                        </a:rPr>
                        <a:t>Super admin · Hall admin</a:t>
                      </a:r>
                      <a:endParaRPr lang="en-US" sz="1250" dirty="0">
                        <a:latin typeface="Calibri" charset="0"/>
                        <a:ea typeface="Calibri" charset="0"/>
                        <a:cs typeface="Calibri" charset="0"/>
                      </a:endParaRPr>
                    </a:p>
                  </a:txBody>
                  <a:tcPr marL="127000" marR="127000" marT="50800" marB="50800" anchor="ctr">
                    <a:lnL w="9525" cap="flat" cmpd="sng" algn="ctr">
                      <a:solidFill>
                        <a:srgbClr val="E4BEBA"/>
                      </a:solidFill>
                      <a:prstDash val="solid"/>
                      <a:round/>
                      <a:headEnd type="none" w="med" len="med"/>
                      <a:tailEnd type="none" w="med" len="med"/>
                    </a:lnL>
                    <a:lnR w="9525" cap="flat" cmpd="sng" algn="ctr">
                      <a:solidFill>
                        <a:srgbClr val="E4BEBA"/>
                      </a:solidFill>
                      <a:prstDash val="solid"/>
                      <a:round/>
                      <a:headEnd type="none" w="med" len="med"/>
                      <a:tailEnd type="none" w="med" len="med"/>
                    </a:lnR>
                    <a:lnT w="9525" cap="flat" cmpd="sng" algn="ctr">
                      <a:solidFill>
                        <a:srgbClr val="E4BEBA"/>
                      </a:solidFill>
                      <a:prstDash val="solid"/>
                      <a:round/>
                      <a:headEnd type="none" w="med" len="med"/>
                      <a:tailEnd type="none" w="med" len="med"/>
                    </a:lnT>
                    <a:lnB w="9525" cap="flat" cmpd="sng" algn="ctr">
                      <a:solidFill>
                        <a:srgbClr val="E4BEBA"/>
                      </a:solidFill>
                      <a:prstDash val="solid"/>
                      <a:round/>
                      <a:headEnd type="none" w="med" len="med"/>
                      <a:tailEnd type="none" w="med" len="med"/>
                    </a:lnB>
                    <a:solidFill>
                      <a:srgbClr val="FFFFFF"/>
                    </a:solidFill>
                  </a:tcPr>
                </a:tc>
              </a:tr>
              <a:tr h="384048">
                <a:tc>
                  <a:txBody>
                    <a:bodyPr/>
                    <a:lstStyle/>
                    <a:p>
                      <a:pPr algn="l" indent="0" marL="0">
                        <a:buNone/>
                      </a:pPr>
                      <a:r>
                        <a:rPr lang="en-US" sz="1250" dirty="0">
                          <a:solidFill>
                            <a:srgbClr val="4A4340"/>
                          </a:solidFill>
                          <a:latin typeface="Calibri" pitchFamily="34" charset="0"/>
                          <a:ea typeface="Calibri" pitchFamily="34" charset="-122"/>
                          <a:cs typeface="Calibri" pitchFamily="34" charset="-120"/>
                        </a:rPr>
                        <a:t>Settings</a:t>
                      </a:r>
                      <a:endParaRPr lang="en-US" sz="1250" dirty="0">
                        <a:latin typeface="Calibri" charset="0"/>
                        <a:ea typeface="Calibri" charset="0"/>
                        <a:cs typeface="Calibri" charset="0"/>
                      </a:endParaRPr>
                    </a:p>
                  </a:txBody>
                  <a:tcPr marL="127000" marR="127000" marT="50800" marB="50800" anchor="ctr">
                    <a:lnL w="9525" cap="flat" cmpd="sng" algn="ctr">
                      <a:solidFill>
                        <a:srgbClr val="E4BEBA"/>
                      </a:solidFill>
                      <a:prstDash val="solid"/>
                      <a:round/>
                      <a:headEnd type="none" w="med" len="med"/>
                      <a:tailEnd type="none" w="med" len="med"/>
                    </a:lnL>
                    <a:lnR w="9525" cap="flat" cmpd="sng" algn="ctr">
                      <a:solidFill>
                        <a:srgbClr val="E4BEBA"/>
                      </a:solidFill>
                      <a:prstDash val="solid"/>
                      <a:round/>
                      <a:headEnd type="none" w="med" len="med"/>
                      <a:tailEnd type="none" w="med" len="med"/>
                    </a:lnR>
                    <a:lnT w="9525" cap="flat" cmpd="sng" algn="ctr">
                      <a:solidFill>
                        <a:srgbClr val="E4BEBA"/>
                      </a:solidFill>
                      <a:prstDash val="solid"/>
                      <a:round/>
                      <a:headEnd type="none" w="med" len="med"/>
                      <a:tailEnd type="none" w="med" len="med"/>
                    </a:lnT>
                    <a:lnB w="9525" cap="flat" cmpd="sng" algn="ctr">
                      <a:solidFill>
                        <a:srgbClr val="E4BEBA"/>
                      </a:solidFill>
                      <a:prstDash val="solid"/>
                      <a:round/>
                      <a:headEnd type="none" w="med" len="med"/>
                      <a:tailEnd type="none" w="med" len="med"/>
                    </a:lnB>
                    <a:solidFill>
                      <a:srgbClr val="FFFFFF"/>
                    </a:solidFill>
                  </a:tcPr>
                </a:tc>
                <a:tc>
                  <a:txBody>
                    <a:bodyPr/>
                    <a:lstStyle/>
                    <a:p>
                      <a:pPr algn="l" indent="0" marL="0">
                        <a:buNone/>
                      </a:pPr>
                      <a:r>
                        <a:rPr lang="en-US" sz="1250" dirty="0">
                          <a:solidFill>
                            <a:srgbClr val="4A4340"/>
                          </a:solidFill>
                          <a:latin typeface="Calibri" pitchFamily="34" charset="0"/>
                          <a:ea typeface="Calibri" pitchFamily="34" charset="-122"/>
                          <a:cs typeface="Calibri" pitchFamily="34" charset="-120"/>
                        </a:rPr>
                        <a:t>Account and system configuration</a:t>
                      </a:r>
                      <a:endParaRPr lang="en-US" sz="1250" dirty="0">
                        <a:latin typeface="Calibri" charset="0"/>
                        <a:ea typeface="Calibri" charset="0"/>
                        <a:cs typeface="Calibri" charset="0"/>
                      </a:endParaRPr>
                    </a:p>
                  </a:txBody>
                  <a:tcPr marL="127000" marR="127000" marT="50800" marB="50800" anchor="ctr">
                    <a:lnL w="9525" cap="flat" cmpd="sng" algn="ctr">
                      <a:solidFill>
                        <a:srgbClr val="E4BEBA"/>
                      </a:solidFill>
                      <a:prstDash val="solid"/>
                      <a:round/>
                      <a:headEnd type="none" w="med" len="med"/>
                      <a:tailEnd type="none" w="med" len="med"/>
                    </a:lnL>
                    <a:lnR w="9525" cap="flat" cmpd="sng" algn="ctr">
                      <a:solidFill>
                        <a:srgbClr val="E4BEBA"/>
                      </a:solidFill>
                      <a:prstDash val="solid"/>
                      <a:round/>
                      <a:headEnd type="none" w="med" len="med"/>
                      <a:tailEnd type="none" w="med" len="med"/>
                    </a:lnR>
                    <a:lnT w="9525" cap="flat" cmpd="sng" algn="ctr">
                      <a:solidFill>
                        <a:srgbClr val="E4BEBA"/>
                      </a:solidFill>
                      <a:prstDash val="solid"/>
                      <a:round/>
                      <a:headEnd type="none" w="med" len="med"/>
                      <a:tailEnd type="none" w="med" len="med"/>
                    </a:lnT>
                    <a:lnB w="9525" cap="flat" cmpd="sng" algn="ctr">
                      <a:solidFill>
                        <a:srgbClr val="E4BEBA"/>
                      </a:solidFill>
                      <a:prstDash val="solid"/>
                      <a:round/>
                      <a:headEnd type="none" w="med" len="med"/>
                      <a:tailEnd type="none" w="med" len="med"/>
                    </a:lnB>
                    <a:solidFill>
                      <a:srgbClr val="FFFFFF"/>
                    </a:solidFill>
                  </a:tcPr>
                </a:tc>
                <a:tc>
                  <a:txBody>
                    <a:bodyPr/>
                    <a:lstStyle/>
                    <a:p>
                      <a:pPr algn="l" indent="0" marL="0">
                        <a:buNone/>
                      </a:pPr>
                      <a:r>
                        <a:rPr lang="en-US" sz="1250" dirty="0">
                          <a:solidFill>
                            <a:srgbClr val="4A4340"/>
                          </a:solidFill>
                          <a:latin typeface="Calibri" pitchFamily="34" charset="0"/>
                          <a:ea typeface="Calibri" pitchFamily="34" charset="-122"/>
                          <a:cs typeface="Calibri" pitchFamily="34" charset="-120"/>
                        </a:rPr>
                        <a:t>Super admin · Hall admin</a:t>
                      </a:r>
                      <a:endParaRPr lang="en-US" sz="1250" dirty="0">
                        <a:latin typeface="Calibri" charset="0"/>
                        <a:ea typeface="Calibri" charset="0"/>
                        <a:cs typeface="Calibri" charset="0"/>
                      </a:endParaRPr>
                    </a:p>
                  </a:txBody>
                  <a:tcPr marL="127000" marR="127000" marT="50800" marB="50800" anchor="ctr">
                    <a:lnL w="9525" cap="flat" cmpd="sng" algn="ctr">
                      <a:solidFill>
                        <a:srgbClr val="E4BEBA"/>
                      </a:solidFill>
                      <a:prstDash val="solid"/>
                      <a:round/>
                      <a:headEnd type="none" w="med" len="med"/>
                      <a:tailEnd type="none" w="med" len="med"/>
                    </a:lnL>
                    <a:lnR w="9525" cap="flat" cmpd="sng" algn="ctr">
                      <a:solidFill>
                        <a:srgbClr val="E4BEBA"/>
                      </a:solidFill>
                      <a:prstDash val="solid"/>
                      <a:round/>
                      <a:headEnd type="none" w="med" len="med"/>
                      <a:tailEnd type="none" w="med" len="med"/>
                    </a:lnR>
                    <a:lnT w="9525" cap="flat" cmpd="sng" algn="ctr">
                      <a:solidFill>
                        <a:srgbClr val="E4BEBA"/>
                      </a:solidFill>
                      <a:prstDash val="solid"/>
                      <a:round/>
                      <a:headEnd type="none" w="med" len="med"/>
                      <a:tailEnd type="none" w="med" len="med"/>
                    </a:lnT>
                    <a:lnB w="9525" cap="flat" cmpd="sng" algn="ctr">
                      <a:solidFill>
                        <a:srgbClr val="E4BEBA"/>
                      </a:solidFill>
                      <a:prstDash val="solid"/>
                      <a:round/>
                      <a:headEnd type="none" w="med" len="med"/>
                      <a:tailEnd type="none" w="med" len="med"/>
                    </a:lnB>
                    <a:solidFill>
                      <a:srgbClr val="FFFFFF"/>
                    </a:solidFill>
                  </a:tcPr>
                </a:tc>
              </a:tr>
              <a:tr h="384048">
                <a:tc>
                  <a:txBody>
                    <a:bodyPr/>
                    <a:lstStyle/>
                    <a:p>
                      <a:pPr algn="l" indent="0" marL="0">
                        <a:buNone/>
                      </a:pPr>
                      <a:r>
                        <a:rPr lang="en-US" sz="1250" dirty="0">
                          <a:solidFill>
                            <a:srgbClr val="4A4340"/>
                          </a:solidFill>
                          <a:latin typeface="Calibri" pitchFamily="34" charset="0"/>
                          <a:ea typeface="Calibri" pitchFamily="34" charset="-122"/>
                          <a:cs typeface="Calibri" pitchFamily="34" charset="-120"/>
                        </a:rPr>
                        <a:t>Staff</a:t>
                      </a:r>
                      <a:endParaRPr lang="en-US" sz="1250" dirty="0">
                        <a:latin typeface="Calibri" charset="0"/>
                        <a:ea typeface="Calibri" charset="0"/>
                        <a:cs typeface="Calibri" charset="0"/>
                      </a:endParaRPr>
                    </a:p>
                  </a:txBody>
                  <a:tcPr marL="127000" marR="127000" marT="50800" marB="50800" anchor="ctr">
                    <a:lnL w="9525" cap="flat" cmpd="sng" algn="ctr">
                      <a:solidFill>
                        <a:srgbClr val="E4BEBA"/>
                      </a:solidFill>
                      <a:prstDash val="solid"/>
                      <a:round/>
                      <a:headEnd type="none" w="med" len="med"/>
                      <a:tailEnd type="none" w="med" len="med"/>
                    </a:lnL>
                    <a:lnR w="9525" cap="flat" cmpd="sng" algn="ctr">
                      <a:solidFill>
                        <a:srgbClr val="E4BEBA"/>
                      </a:solidFill>
                      <a:prstDash val="solid"/>
                      <a:round/>
                      <a:headEnd type="none" w="med" len="med"/>
                      <a:tailEnd type="none" w="med" len="med"/>
                    </a:lnR>
                    <a:lnT w="9525" cap="flat" cmpd="sng" algn="ctr">
                      <a:solidFill>
                        <a:srgbClr val="E4BEBA"/>
                      </a:solidFill>
                      <a:prstDash val="solid"/>
                      <a:round/>
                      <a:headEnd type="none" w="med" len="med"/>
                      <a:tailEnd type="none" w="med" len="med"/>
                    </a:lnT>
                    <a:lnB w="9525" cap="flat" cmpd="sng" algn="ctr">
                      <a:solidFill>
                        <a:srgbClr val="E4BEBA"/>
                      </a:solidFill>
                      <a:prstDash val="solid"/>
                      <a:round/>
                      <a:headEnd type="none" w="med" len="med"/>
                      <a:tailEnd type="none" w="med" len="med"/>
                    </a:lnB>
                    <a:solidFill>
                      <a:srgbClr val="FFFFFF"/>
                    </a:solidFill>
                  </a:tcPr>
                </a:tc>
                <a:tc>
                  <a:txBody>
                    <a:bodyPr/>
                    <a:lstStyle/>
                    <a:p>
                      <a:pPr algn="l" indent="0" marL="0">
                        <a:buNone/>
                      </a:pPr>
                      <a:r>
                        <a:rPr lang="en-US" sz="1250" dirty="0">
                          <a:solidFill>
                            <a:srgbClr val="4A4340"/>
                          </a:solidFill>
                          <a:latin typeface="Calibri" pitchFamily="34" charset="0"/>
                          <a:ea typeface="Calibri" pitchFamily="34" charset="-122"/>
                          <a:cs typeface="Calibri" pitchFamily="34" charset="-120"/>
                        </a:rPr>
                        <a:t>Create and manage hall admins</a:t>
                      </a:r>
                      <a:endParaRPr lang="en-US" sz="1250" dirty="0">
                        <a:latin typeface="Calibri" charset="0"/>
                        <a:ea typeface="Calibri" charset="0"/>
                        <a:cs typeface="Calibri" charset="0"/>
                      </a:endParaRPr>
                    </a:p>
                  </a:txBody>
                  <a:tcPr marL="127000" marR="127000" marT="50800" marB="50800" anchor="ctr">
                    <a:lnL w="9525" cap="flat" cmpd="sng" algn="ctr">
                      <a:solidFill>
                        <a:srgbClr val="E4BEBA"/>
                      </a:solidFill>
                      <a:prstDash val="solid"/>
                      <a:round/>
                      <a:headEnd type="none" w="med" len="med"/>
                      <a:tailEnd type="none" w="med" len="med"/>
                    </a:lnL>
                    <a:lnR w="9525" cap="flat" cmpd="sng" algn="ctr">
                      <a:solidFill>
                        <a:srgbClr val="E4BEBA"/>
                      </a:solidFill>
                      <a:prstDash val="solid"/>
                      <a:round/>
                      <a:headEnd type="none" w="med" len="med"/>
                      <a:tailEnd type="none" w="med" len="med"/>
                    </a:lnR>
                    <a:lnT w="9525" cap="flat" cmpd="sng" algn="ctr">
                      <a:solidFill>
                        <a:srgbClr val="E4BEBA"/>
                      </a:solidFill>
                      <a:prstDash val="solid"/>
                      <a:round/>
                      <a:headEnd type="none" w="med" len="med"/>
                      <a:tailEnd type="none" w="med" len="med"/>
                    </a:lnT>
                    <a:lnB w="9525" cap="flat" cmpd="sng" algn="ctr">
                      <a:solidFill>
                        <a:srgbClr val="E4BEBA"/>
                      </a:solidFill>
                      <a:prstDash val="solid"/>
                      <a:round/>
                      <a:headEnd type="none" w="med" len="med"/>
                      <a:tailEnd type="none" w="med" len="med"/>
                    </a:lnB>
                    <a:solidFill>
                      <a:srgbClr val="FFFFFF"/>
                    </a:solidFill>
                  </a:tcPr>
                </a:tc>
                <a:tc>
                  <a:txBody>
                    <a:bodyPr/>
                    <a:lstStyle/>
                    <a:p>
                      <a:pPr algn="l" indent="0" marL="0">
                        <a:buNone/>
                      </a:pPr>
                      <a:r>
                        <a:rPr lang="en-US" sz="1250" dirty="0">
                          <a:solidFill>
                            <a:srgbClr val="4A4340"/>
                          </a:solidFill>
                          <a:latin typeface="Calibri" pitchFamily="34" charset="0"/>
                          <a:ea typeface="Calibri" pitchFamily="34" charset="-122"/>
                          <a:cs typeface="Calibri" pitchFamily="34" charset="-120"/>
                        </a:rPr>
                        <a:t>Super admin only</a:t>
                      </a:r>
                      <a:endParaRPr lang="en-US" sz="1250" dirty="0">
                        <a:latin typeface="Calibri" charset="0"/>
                        <a:ea typeface="Calibri" charset="0"/>
                        <a:cs typeface="Calibri" charset="0"/>
                      </a:endParaRPr>
                    </a:p>
                  </a:txBody>
                  <a:tcPr marL="127000" marR="127000" marT="50800" marB="50800" anchor="ctr">
                    <a:lnL w="9525" cap="flat" cmpd="sng" algn="ctr">
                      <a:solidFill>
                        <a:srgbClr val="E4BEBA"/>
                      </a:solidFill>
                      <a:prstDash val="solid"/>
                      <a:round/>
                      <a:headEnd type="none" w="med" len="med"/>
                      <a:tailEnd type="none" w="med" len="med"/>
                    </a:lnL>
                    <a:lnR w="9525" cap="flat" cmpd="sng" algn="ctr">
                      <a:solidFill>
                        <a:srgbClr val="E4BEBA"/>
                      </a:solidFill>
                      <a:prstDash val="solid"/>
                      <a:round/>
                      <a:headEnd type="none" w="med" len="med"/>
                      <a:tailEnd type="none" w="med" len="med"/>
                    </a:lnR>
                    <a:lnT w="9525" cap="flat" cmpd="sng" algn="ctr">
                      <a:solidFill>
                        <a:srgbClr val="E4BEBA"/>
                      </a:solidFill>
                      <a:prstDash val="solid"/>
                      <a:round/>
                      <a:headEnd type="none" w="med" len="med"/>
                      <a:tailEnd type="none" w="med" len="med"/>
                    </a:lnT>
                    <a:lnB w="9525" cap="flat" cmpd="sng" algn="ctr">
                      <a:solidFill>
                        <a:srgbClr val="E4BEBA"/>
                      </a:solidFill>
                      <a:prstDash val="solid"/>
                      <a:round/>
                      <a:headEnd type="none" w="med" len="med"/>
                      <a:tailEnd type="none" w="med" len="med"/>
                    </a:lnB>
                    <a:solidFill>
                      <a:srgbClr val="FFFFFF"/>
                    </a:solidFill>
                  </a:tcPr>
                </a:tc>
              </a:tr>
              <a:tr h="384048">
                <a:tc>
                  <a:txBody>
                    <a:bodyPr/>
                    <a:lstStyle/>
                    <a:p>
                      <a:pPr algn="l" indent="0" marL="0">
                        <a:buNone/>
                      </a:pPr>
                      <a:r>
                        <a:rPr lang="en-US" sz="1250" dirty="0">
                          <a:solidFill>
                            <a:srgbClr val="4A4340"/>
                          </a:solidFill>
                          <a:latin typeface="Calibri" pitchFamily="34" charset="0"/>
                          <a:ea typeface="Calibri" pitchFamily="34" charset="-122"/>
                          <a:cs typeface="Calibri" pitchFamily="34" charset="-120"/>
                        </a:rPr>
                        <a:t>Locations</a:t>
                      </a:r>
                      <a:endParaRPr lang="en-US" sz="1250" dirty="0">
                        <a:latin typeface="Calibri" charset="0"/>
                        <a:ea typeface="Calibri" charset="0"/>
                        <a:cs typeface="Calibri" charset="0"/>
                      </a:endParaRPr>
                    </a:p>
                  </a:txBody>
                  <a:tcPr marL="127000" marR="127000" marT="50800" marB="50800" anchor="ctr">
                    <a:lnL w="9525" cap="flat" cmpd="sng" algn="ctr">
                      <a:solidFill>
                        <a:srgbClr val="E4BEBA"/>
                      </a:solidFill>
                      <a:prstDash val="solid"/>
                      <a:round/>
                      <a:headEnd type="none" w="med" len="med"/>
                      <a:tailEnd type="none" w="med" len="med"/>
                    </a:lnL>
                    <a:lnR w="9525" cap="flat" cmpd="sng" algn="ctr">
                      <a:solidFill>
                        <a:srgbClr val="E4BEBA"/>
                      </a:solidFill>
                      <a:prstDash val="solid"/>
                      <a:round/>
                      <a:headEnd type="none" w="med" len="med"/>
                      <a:tailEnd type="none" w="med" len="med"/>
                    </a:lnR>
                    <a:lnT w="9525" cap="flat" cmpd="sng" algn="ctr">
                      <a:solidFill>
                        <a:srgbClr val="E4BEBA"/>
                      </a:solidFill>
                      <a:prstDash val="solid"/>
                      <a:round/>
                      <a:headEnd type="none" w="med" len="med"/>
                      <a:tailEnd type="none" w="med" len="med"/>
                    </a:lnT>
                    <a:lnB w="9525" cap="flat" cmpd="sng" algn="ctr">
                      <a:solidFill>
                        <a:srgbClr val="E4BEBA"/>
                      </a:solidFill>
                      <a:prstDash val="solid"/>
                      <a:round/>
                      <a:headEnd type="none" w="med" len="med"/>
                      <a:tailEnd type="none" w="med" len="med"/>
                    </a:lnB>
                    <a:solidFill>
                      <a:srgbClr val="FFFFFF"/>
                    </a:solidFill>
                  </a:tcPr>
                </a:tc>
                <a:tc>
                  <a:txBody>
                    <a:bodyPr/>
                    <a:lstStyle/>
                    <a:p>
                      <a:pPr algn="l" indent="0" marL="0">
                        <a:buNone/>
                      </a:pPr>
                      <a:r>
                        <a:rPr lang="en-US" sz="1250" dirty="0">
                          <a:solidFill>
                            <a:srgbClr val="4A4340"/>
                          </a:solidFill>
                          <a:latin typeface="Calibri" pitchFamily="34" charset="0"/>
                          <a:ea typeface="Calibri" pitchFamily="34" charset="-122"/>
                          <a:cs typeface="Calibri" pitchFamily="34" charset="-120"/>
                        </a:rPr>
                        <a:t>Halls, floors and rooms</a:t>
                      </a:r>
                      <a:endParaRPr lang="en-US" sz="1250" dirty="0">
                        <a:latin typeface="Calibri" charset="0"/>
                        <a:ea typeface="Calibri" charset="0"/>
                        <a:cs typeface="Calibri" charset="0"/>
                      </a:endParaRPr>
                    </a:p>
                  </a:txBody>
                  <a:tcPr marL="127000" marR="127000" marT="50800" marB="50800" anchor="ctr">
                    <a:lnL w="9525" cap="flat" cmpd="sng" algn="ctr">
                      <a:solidFill>
                        <a:srgbClr val="E4BEBA"/>
                      </a:solidFill>
                      <a:prstDash val="solid"/>
                      <a:round/>
                      <a:headEnd type="none" w="med" len="med"/>
                      <a:tailEnd type="none" w="med" len="med"/>
                    </a:lnL>
                    <a:lnR w="9525" cap="flat" cmpd="sng" algn="ctr">
                      <a:solidFill>
                        <a:srgbClr val="E4BEBA"/>
                      </a:solidFill>
                      <a:prstDash val="solid"/>
                      <a:round/>
                      <a:headEnd type="none" w="med" len="med"/>
                      <a:tailEnd type="none" w="med" len="med"/>
                    </a:lnR>
                    <a:lnT w="9525" cap="flat" cmpd="sng" algn="ctr">
                      <a:solidFill>
                        <a:srgbClr val="E4BEBA"/>
                      </a:solidFill>
                      <a:prstDash val="solid"/>
                      <a:round/>
                      <a:headEnd type="none" w="med" len="med"/>
                      <a:tailEnd type="none" w="med" len="med"/>
                    </a:lnT>
                    <a:lnB w="9525" cap="flat" cmpd="sng" algn="ctr">
                      <a:solidFill>
                        <a:srgbClr val="E4BEBA"/>
                      </a:solidFill>
                      <a:prstDash val="solid"/>
                      <a:round/>
                      <a:headEnd type="none" w="med" len="med"/>
                      <a:tailEnd type="none" w="med" len="med"/>
                    </a:lnB>
                    <a:solidFill>
                      <a:srgbClr val="FFFFFF"/>
                    </a:solidFill>
                  </a:tcPr>
                </a:tc>
                <a:tc>
                  <a:txBody>
                    <a:bodyPr/>
                    <a:lstStyle/>
                    <a:p>
                      <a:pPr algn="l" indent="0" marL="0">
                        <a:buNone/>
                      </a:pPr>
                      <a:r>
                        <a:rPr lang="en-US" sz="1250" dirty="0">
                          <a:solidFill>
                            <a:srgbClr val="4A4340"/>
                          </a:solidFill>
                          <a:latin typeface="Calibri" pitchFamily="34" charset="0"/>
                          <a:ea typeface="Calibri" pitchFamily="34" charset="-122"/>
                          <a:cs typeface="Calibri" pitchFamily="34" charset="-120"/>
                        </a:rPr>
                        <a:t>Super admin only</a:t>
                      </a:r>
                      <a:endParaRPr lang="en-US" sz="1250" dirty="0">
                        <a:latin typeface="Calibri" charset="0"/>
                        <a:ea typeface="Calibri" charset="0"/>
                        <a:cs typeface="Calibri" charset="0"/>
                      </a:endParaRPr>
                    </a:p>
                  </a:txBody>
                  <a:tcPr marL="127000" marR="127000" marT="50800" marB="50800" anchor="ctr">
                    <a:lnL w="9525" cap="flat" cmpd="sng" algn="ctr">
                      <a:solidFill>
                        <a:srgbClr val="E4BEBA"/>
                      </a:solidFill>
                      <a:prstDash val="solid"/>
                      <a:round/>
                      <a:headEnd type="none" w="med" len="med"/>
                      <a:tailEnd type="none" w="med" len="med"/>
                    </a:lnL>
                    <a:lnR w="9525" cap="flat" cmpd="sng" algn="ctr">
                      <a:solidFill>
                        <a:srgbClr val="E4BEBA"/>
                      </a:solidFill>
                      <a:prstDash val="solid"/>
                      <a:round/>
                      <a:headEnd type="none" w="med" len="med"/>
                      <a:tailEnd type="none" w="med" len="med"/>
                    </a:lnR>
                    <a:lnT w="9525" cap="flat" cmpd="sng" algn="ctr">
                      <a:solidFill>
                        <a:srgbClr val="E4BEBA"/>
                      </a:solidFill>
                      <a:prstDash val="solid"/>
                      <a:round/>
                      <a:headEnd type="none" w="med" len="med"/>
                      <a:tailEnd type="none" w="med" len="med"/>
                    </a:lnT>
                    <a:lnB w="9525" cap="flat" cmpd="sng" algn="ctr">
                      <a:solidFill>
                        <a:srgbClr val="E4BEBA"/>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94360" y="5074920"/>
            <a:ext cx="10991088" cy="457200"/>
          </a:xfrm>
          <a:prstGeom prst="rect">
            <a:avLst/>
          </a:prstGeom>
          <a:noFill/>
          <a:ln/>
        </p:spPr>
        <p:txBody>
          <a:bodyPr wrap="square" lIns="0" tIns="0" rIns="0" bIns="0" rtlCol="0" anchor="t"/>
          <a:lstStyle/>
          <a:p>
            <a:pPr indent="0" marL="0">
              <a:buNone/>
            </a:pPr>
            <a:r>
              <a:rPr lang="en-US" sz="1350" i="1" dirty="0">
                <a:solidFill>
                  <a:srgbClr val="6B6360"/>
                </a:solidFill>
                <a:latin typeface="Calibri" pitchFamily="34" charset="0"/>
                <a:ea typeface="Calibri" pitchFamily="34" charset="-122"/>
                <a:cs typeface="Calibri" pitchFamily="34" charset="-120"/>
              </a:rPr>
              <a:t>The role comes from the signed-in account's database row, never from browser storage — so it cannot be edited in devtools to unlock a page.</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6F5"/>
        </a:solidFill>
      </p:bgPr>
    </p:bg>
    <p:spTree>
      <p:nvGrpSpPr>
        <p:cNvPr id="1" name=""/>
        <p:cNvGrpSpPr/>
        <p:nvPr/>
      </p:nvGrpSpPr>
      <p:grpSpPr>
        <a:xfrm>
          <a:off x="0" y="0"/>
          <a:ext cx="0" cy="0"/>
          <a:chOff x="0" y="0"/>
          <a:chExt cx="0" cy="0"/>
        </a:xfrm>
      </p:grpSpPr>
      <p:sp>
        <p:nvSpPr>
          <p:cNvPr id="2" name="Text 0"/>
          <p:cNvSpPr txBox="1"/>
          <p:nvPr/>
        </p:nvSpPr>
        <p:spPr>
          <a:xfrm>
            <a:off x="594360" y="457200"/>
            <a:ext cx="10058400" cy="621792"/>
          </a:xfrm>
          <a:prstGeom prst="rect">
            <a:avLst/>
          </a:prstGeom>
          <a:noFill/>
          <a:ln/>
        </p:spPr>
        <p:txBody>
          <a:bodyPr wrap="square" lIns="0" tIns="0" rIns="0" bIns="0" rtlCol="0" anchor="t"/>
          <a:lstStyle/>
          <a:p>
            <a:pPr indent="0" marL="0">
              <a:buNone/>
            </a:pPr>
            <a:r>
              <a:rPr lang="en-US" sz="3600" b="1" dirty="0">
                <a:solidFill>
                  <a:srgbClr val="1A1C1C"/>
                </a:solidFill>
                <a:latin typeface="Cambria" pitchFamily="34" charset="0"/>
                <a:ea typeface="Cambria" pitchFamily="34" charset="-122"/>
                <a:cs typeface="Cambria" pitchFamily="34" charset="-120"/>
              </a:rPr>
              <a:t>A report, end to end</a:t>
            </a:r>
            <a:endParaRPr lang="en-US" sz="3600" dirty="0"/>
          </a:p>
        </p:txBody>
      </p:sp>
      <p:sp>
        <p:nvSpPr>
          <p:cNvPr id="3" name="Text 1"/>
          <p:cNvSpPr txBox="1"/>
          <p:nvPr/>
        </p:nvSpPr>
        <p:spPr>
          <a:xfrm>
            <a:off x="594360" y="1106424"/>
            <a:ext cx="10607040" cy="347472"/>
          </a:xfrm>
          <a:prstGeom prst="rect">
            <a:avLst/>
          </a:prstGeom>
          <a:noFill/>
          <a:ln/>
        </p:spPr>
        <p:txBody>
          <a:bodyPr wrap="square" lIns="0" tIns="0" rIns="0" bIns="0" rtlCol="0" anchor="t"/>
          <a:lstStyle/>
          <a:p>
            <a:pPr indent="0" marL="0">
              <a:buNone/>
            </a:pPr>
            <a:r>
              <a:rPr lang="en-US" sz="1450" dirty="0">
                <a:solidFill>
                  <a:srgbClr val="6B6360"/>
                </a:solidFill>
                <a:latin typeface="Calibri" pitchFamily="34" charset="0"/>
                <a:ea typeface="Calibri" pitchFamily="34" charset="-122"/>
                <a:cs typeface="Calibri" pitchFamily="34" charset="-120"/>
              </a:rPr>
              <a:t>Four states, and who moves it between them.</a:t>
            </a:r>
            <a:endParaRPr lang="en-US" sz="1450" dirty="0"/>
          </a:p>
        </p:txBody>
      </p:sp>
      <p:sp>
        <p:nvSpPr>
          <p:cNvPr id="4" name="Shape 2"/>
          <p:cNvSpPr/>
          <p:nvPr/>
        </p:nvSpPr>
        <p:spPr>
          <a:xfrm>
            <a:off x="502920" y="1783080"/>
            <a:ext cx="2606040" cy="2377440"/>
          </a:xfrm>
          <a:prstGeom prst="roundRect">
            <a:avLst>
              <a:gd name="adj" fmla="val 3846"/>
            </a:avLst>
          </a:prstGeom>
          <a:solidFill>
            <a:srgbClr val="FFFFFF"/>
          </a:solidFill>
          <a:ln w="9525">
            <a:solidFill>
              <a:srgbClr val="E4BEBA"/>
            </a:solidFill>
            <a:prstDash val="solid"/>
          </a:ln>
          <a:effectLst>
            <a:outerShdw sx="100000" sy="100000" kx="0" ky="0" algn="bl" rotWithShape="0" blurRad="127000" dist="25400" dir="5400000">
              <a:srgbClr val="8A7A78">
                <a:alpha val="18000"/>
              </a:srgbClr>
            </a:outerShdw>
          </a:effectLst>
        </p:spPr>
      </p:sp>
      <p:sp>
        <p:nvSpPr>
          <p:cNvPr id="5" name="Shape 3"/>
          <p:cNvSpPr/>
          <p:nvPr/>
        </p:nvSpPr>
        <p:spPr>
          <a:xfrm>
            <a:off x="795528" y="2048256"/>
            <a:ext cx="475488" cy="475488"/>
          </a:xfrm>
          <a:prstGeom prst="ellipse">
            <a:avLst/>
          </a:prstGeom>
          <a:solidFill>
            <a:srgbClr val="AF101A"/>
          </a:solidFill>
          <a:ln w="12700">
            <a:solidFill>
              <a:srgbClr val="AF101A"/>
            </a:solidFill>
            <a:prstDash val="solid"/>
          </a:ln>
        </p:spPr>
      </p:sp>
      <p:sp>
        <p:nvSpPr>
          <p:cNvPr id="6" name="Text 4"/>
          <p:cNvSpPr txBox="1"/>
          <p:nvPr/>
        </p:nvSpPr>
        <p:spPr>
          <a:xfrm>
            <a:off x="795528" y="2048256"/>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795528" y="2670048"/>
            <a:ext cx="2057400" cy="329184"/>
          </a:xfrm>
          <a:prstGeom prst="rect">
            <a:avLst/>
          </a:prstGeom>
          <a:noFill/>
          <a:ln/>
        </p:spPr>
        <p:txBody>
          <a:bodyPr wrap="square" lIns="0" tIns="0" rIns="0" bIns="0" rtlCol="0" anchor="t"/>
          <a:lstStyle/>
          <a:p>
            <a:pPr indent="0" marL="0">
              <a:buNone/>
            </a:pPr>
            <a:r>
              <a:rPr lang="en-US" sz="1800" b="1" dirty="0">
                <a:solidFill>
                  <a:srgbClr val="AF101A"/>
                </a:solidFill>
                <a:latin typeface="Cambria" pitchFamily="34" charset="0"/>
                <a:ea typeface="Cambria" pitchFamily="34" charset="-122"/>
                <a:cs typeface="Cambria" pitchFamily="34" charset="-120"/>
              </a:rPr>
              <a:t>Pending</a:t>
            </a:r>
            <a:endParaRPr lang="en-US" sz="1800" dirty="0"/>
          </a:p>
        </p:txBody>
      </p:sp>
      <p:sp>
        <p:nvSpPr>
          <p:cNvPr id="8" name="Text 6"/>
          <p:cNvSpPr txBox="1"/>
          <p:nvPr/>
        </p:nvSpPr>
        <p:spPr>
          <a:xfrm>
            <a:off x="795528" y="2999232"/>
            <a:ext cx="2057400" cy="256032"/>
          </a:xfrm>
          <a:prstGeom prst="rect">
            <a:avLst/>
          </a:prstGeom>
          <a:noFill/>
          <a:ln/>
        </p:spPr>
        <p:txBody>
          <a:bodyPr wrap="square" lIns="0" tIns="0" rIns="0" bIns="0" rtlCol="0" anchor="t"/>
          <a:lstStyle/>
          <a:p>
            <a:pPr indent="0" marL="0">
              <a:buNone/>
            </a:pPr>
            <a:r>
              <a:rPr lang="en-US" sz="1100" b="1" dirty="0">
                <a:solidFill>
                  <a:srgbClr val="6B6360"/>
                </a:solidFill>
                <a:latin typeface="Calibri" pitchFamily="34" charset="0"/>
                <a:ea typeface="Calibri" pitchFamily="34" charset="-122"/>
                <a:cs typeface="Calibri" pitchFamily="34" charset="-120"/>
              </a:rPr>
              <a:t>Student files it</a:t>
            </a:r>
            <a:endParaRPr lang="en-US" sz="1100" dirty="0"/>
          </a:p>
        </p:txBody>
      </p:sp>
      <p:sp>
        <p:nvSpPr>
          <p:cNvPr id="9" name="Text 7"/>
          <p:cNvSpPr txBox="1"/>
          <p:nvPr/>
        </p:nvSpPr>
        <p:spPr>
          <a:xfrm>
            <a:off x="795528" y="3310128"/>
            <a:ext cx="2057400" cy="1051560"/>
          </a:xfrm>
          <a:prstGeom prst="rect">
            <a:avLst/>
          </a:prstGeom>
          <a:noFill/>
          <a:ln/>
        </p:spPr>
        <p:txBody>
          <a:bodyPr wrap="square" lIns="0" tIns="0" rIns="0" bIns="0" rtlCol="0" anchor="t"/>
          <a:lstStyle/>
          <a:p>
            <a:pPr indent="0" marL="0">
              <a:lnSpc>
                <a:spcPct val="112000"/>
              </a:lnSpc>
              <a:buNone/>
            </a:pPr>
            <a:r>
              <a:rPr lang="en-US" sz="1200" dirty="0">
                <a:solidFill>
                  <a:srgbClr val="4A4340"/>
                </a:solidFill>
                <a:latin typeface="Calibri" pitchFamily="34" charset="0"/>
                <a:ea typeface="Calibri" pitchFamily="34" charset="-122"/>
                <a:cs typeface="Calibri" pitchFamily="34" charset="-120"/>
              </a:rPr>
              <a:t>Hall admins are emailed automatically the moment it lands.</a:t>
            </a:r>
            <a:endParaRPr lang="en-US" sz="1200" dirty="0"/>
          </a:p>
        </p:txBody>
      </p:sp>
      <p:sp>
        <p:nvSpPr>
          <p:cNvPr id="10" name="Shape 8"/>
          <p:cNvSpPr/>
          <p:nvPr/>
        </p:nvSpPr>
        <p:spPr>
          <a:xfrm>
            <a:off x="3328416" y="1783080"/>
            <a:ext cx="2606040" cy="2377440"/>
          </a:xfrm>
          <a:prstGeom prst="roundRect">
            <a:avLst>
              <a:gd name="adj" fmla="val 3846"/>
            </a:avLst>
          </a:prstGeom>
          <a:solidFill>
            <a:srgbClr val="FFFFFF"/>
          </a:solidFill>
          <a:ln w="9525">
            <a:solidFill>
              <a:srgbClr val="E4BEBA"/>
            </a:solidFill>
            <a:prstDash val="solid"/>
          </a:ln>
          <a:effectLst>
            <a:outerShdw sx="100000" sy="100000" kx="0" ky="0" algn="bl" rotWithShape="0" blurRad="127000" dist="25400" dir="5400000">
              <a:srgbClr val="8A7A78">
                <a:alpha val="18000"/>
              </a:srgbClr>
            </a:outerShdw>
          </a:effectLst>
        </p:spPr>
      </p:sp>
      <p:sp>
        <p:nvSpPr>
          <p:cNvPr id="11" name="Shape 9"/>
          <p:cNvSpPr/>
          <p:nvPr/>
        </p:nvSpPr>
        <p:spPr>
          <a:xfrm>
            <a:off x="3621024" y="2048256"/>
            <a:ext cx="475488" cy="475488"/>
          </a:xfrm>
          <a:prstGeom prst="ellipse">
            <a:avLst/>
          </a:prstGeom>
          <a:solidFill>
            <a:srgbClr val="AF101A"/>
          </a:solidFill>
          <a:ln w="12700">
            <a:solidFill>
              <a:srgbClr val="AF101A"/>
            </a:solidFill>
            <a:prstDash val="solid"/>
          </a:ln>
        </p:spPr>
      </p:sp>
      <p:sp>
        <p:nvSpPr>
          <p:cNvPr id="12" name="Text 10"/>
          <p:cNvSpPr txBox="1"/>
          <p:nvPr/>
        </p:nvSpPr>
        <p:spPr>
          <a:xfrm>
            <a:off x="3621024" y="2048256"/>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txBox="1"/>
          <p:nvPr/>
        </p:nvSpPr>
        <p:spPr>
          <a:xfrm>
            <a:off x="3621024" y="2670048"/>
            <a:ext cx="2057400" cy="329184"/>
          </a:xfrm>
          <a:prstGeom prst="rect">
            <a:avLst/>
          </a:prstGeom>
          <a:noFill/>
          <a:ln/>
        </p:spPr>
        <p:txBody>
          <a:bodyPr wrap="square" lIns="0" tIns="0" rIns="0" bIns="0" rtlCol="0" anchor="t"/>
          <a:lstStyle/>
          <a:p>
            <a:pPr indent="0" marL="0">
              <a:buNone/>
            </a:pPr>
            <a:r>
              <a:rPr lang="en-US" sz="1800" b="1" dirty="0">
                <a:solidFill>
                  <a:srgbClr val="AF101A"/>
                </a:solidFill>
                <a:latin typeface="Cambria" pitchFamily="34" charset="0"/>
                <a:ea typeface="Cambria" pitchFamily="34" charset="-122"/>
                <a:cs typeface="Cambria" pitchFamily="34" charset="-120"/>
              </a:rPr>
              <a:t>Scheduled</a:t>
            </a:r>
            <a:endParaRPr lang="en-US" sz="1800" dirty="0"/>
          </a:p>
        </p:txBody>
      </p:sp>
      <p:sp>
        <p:nvSpPr>
          <p:cNvPr id="14" name="Text 12"/>
          <p:cNvSpPr txBox="1"/>
          <p:nvPr/>
        </p:nvSpPr>
        <p:spPr>
          <a:xfrm>
            <a:off x="3621024" y="2999232"/>
            <a:ext cx="2057400" cy="256032"/>
          </a:xfrm>
          <a:prstGeom prst="rect">
            <a:avLst/>
          </a:prstGeom>
          <a:noFill/>
          <a:ln/>
        </p:spPr>
        <p:txBody>
          <a:bodyPr wrap="square" lIns="0" tIns="0" rIns="0" bIns="0" rtlCol="0" anchor="t"/>
          <a:lstStyle/>
          <a:p>
            <a:pPr indent="0" marL="0">
              <a:buNone/>
            </a:pPr>
            <a:r>
              <a:rPr lang="en-US" sz="1100" b="1" dirty="0">
                <a:solidFill>
                  <a:srgbClr val="6B6360"/>
                </a:solidFill>
                <a:latin typeface="Calibri" pitchFamily="34" charset="0"/>
                <a:ea typeface="Calibri" pitchFamily="34" charset="-122"/>
                <a:cs typeface="Calibri" pitchFamily="34" charset="-120"/>
              </a:rPr>
              <a:t>Hall admin books it</a:t>
            </a:r>
            <a:endParaRPr lang="en-US" sz="1100" dirty="0"/>
          </a:p>
        </p:txBody>
      </p:sp>
      <p:sp>
        <p:nvSpPr>
          <p:cNvPr id="15" name="Text 13"/>
          <p:cNvSpPr txBox="1"/>
          <p:nvPr/>
        </p:nvSpPr>
        <p:spPr>
          <a:xfrm>
            <a:off x="3621024" y="3310128"/>
            <a:ext cx="2057400" cy="1051560"/>
          </a:xfrm>
          <a:prstGeom prst="rect">
            <a:avLst/>
          </a:prstGeom>
          <a:noFill/>
          <a:ln/>
        </p:spPr>
        <p:txBody>
          <a:bodyPr wrap="square" lIns="0" tIns="0" rIns="0" bIns="0" rtlCol="0" anchor="t"/>
          <a:lstStyle/>
          <a:p>
            <a:pPr indent="0" marL="0">
              <a:lnSpc>
                <a:spcPct val="112000"/>
              </a:lnSpc>
              <a:buNone/>
            </a:pPr>
            <a:r>
              <a:rPr lang="en-US" sz="1200" dirty="0">
                <a:solidFill>
                  <a:srgbClr val="4A4340"/>
                </a:solidFill>
                <a:latin typeface="Calibri" pitchFamily="34" charset="0"/>
                <a:ea typeface="Calibri" pitchFamily="34" charset="-122"/>
                <a:cs typeface="Calibri" pitchFamily="34" charset="-120"/>
              </a:rPr>
              <a:t>A repair slot is attached and the student is notified.</a:t>
            </a:r>
            <a:endParaRPr lang="en-US" sz="1200" dirty="0"/>
          </a:p>
        </p:txBody>
      </p:sp>
      <p:sp>
        <p:nvSpPr>
          <p:cNvPr id="16" name="Shape 14"/>
          <p:cNvSpPr/>
          <p:nvPr/>
        </p:nvSpPr>
        <p:spPr>
          <a:xfrm>
            <a:off x="6153912" y="1783080"/>
            <a:ext cx="2606040" cy="2377440"/>
          </a:xfrm>
          <a:prstGeom prst="roundRect">
            <a:avLst>
              <a:gd name="adj" fmla="val 3846"/>
            </a:avLst>
          </a:prstGeom>
          <a:solidFill>
            <a:srgbClr val="FFFFFF"/>
          </a:solidFill>
          <a:ln w="9525">
            <a:solidFill>
              <a:srgbClr val="E4BEBA"/>
            </a:solidFill>
            <a:prstDash val="solid"/>
          </a:ln>
          <a:effectLst>
            <a:outerShdw sx="100000" sy="100000" kx="0" ky="0" algn="bl" rotWithShape="0" blurRad="127000" dist="25400" dir="5400000">
              <a:srgbClr val="8A7A78">
                <a:alpha val="18000"/>
              </a:srgbClr>
            </a:outerShdw>
          </a:effectLst>
        </p:spPr>
      </p:sp>
      <p:sp>
        <p:nvSpPr>
          <p:cNvPr id="17" name="Shape 15"/>
          <p:cNvSpPr/>
          <p:nvPr/>
        </p:nvSpPr>
        <p:spPr>
          <a:xfrm>
            <a:off x="6446520" y="2048256"/>
            <a:ext cx="475488" cy="475488"/>
          </a:xfrm>
          <a:prstGeom prst="ellipse">
            <a:avLst/>
          </a:prstGeom>
          <a:solidFill>
            <a:srgbClr val="AF101A"/>
          </a:solidFill>
          <a:ln w="12700">
            <a:solidFill>
              <a:srgbClr val="AF101A"/>
            </a:solidFill>
            <a:prstDash val="solid"/>
          </a:ln>
        </p:spPr>
      </p:sp>
      <p:sp>
        <p:nvSpPr>
          <p:cNvPr id="18" name="Text 16"/>
          <p:cNvSpPr txBox="1"/>
          <p:nvPr/>
        </p:nvSpPr>
        <p:spPr>
          <a:xfrm>
            <a:off x="6446520" y="2048256"/>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txBox="1"/>
          <p:nvPr/>
        </p:nvSpPr>
        <p:spPr>
          <a:xfrm>
            <a:off x="6446520" y="2670048"/>
            <a:ext cx="2057400" cy="329184"/>
          </a:xfrm>
          <a:prstGeom prst="rect">
            <a:avLst/>
          </a:prstGeom>
          <a:noFill/>
          <a:ln/>
        </p:spPr>
        <p:txBody>
          <a:bodyPr wrap="square" lIns="0" tIns="0" rIns="0" bIns="0" rtlCol="0" anchor="t"/>
          <a:lstStyle/>
          <a:p>
            <a:pPr indent="0" marL="0">
              <a:buNone/>
            </a:pPr>
            <a:r>
              <a:rPr lang="en-US" sz="1800" b="1" dirty="0">
                <a:solidFill>
                  <a:srgbClr val="AF101A"/>
                </a:solidFill>
                <a:latin typeface="Cambria" pitchFamily="34" charset="0"/>
                <a:ea typeface="Cambria" pitchFamily="34" charset="-122"/>
                <a:cs typeface="Cambria" pitchFamily="34" charset="-120"/>
              </a:rPr>
              <a:t>In progress</a:t>
            </a:r>
            <a:endParaRPr lang="en-US" sz="1800" dirty="0"/>
          </a:p>
        </p:txBody>
      </p:sp>
      <p:sp>
        <p:nvSpPr>
          <p:cNvPr id="20" name="Text 18"/>
          <p:cNvSpPr txBox="1"/>
          <p:nvPr/>
        </p:nvSpPr>
        <p:spPr>
          <a:xfrm>
            <a:off x="6446520" y="2999232"/>
            <a:ext cx="2057400" cy="256032"/>
          </a:xfrm>
          <a:prstGeom prst="rect">
            <a:avLst/>
          </a:prstGeom>
          <a:noFill/>
          <a:ln/>
        </p:spPr>
        <p:txBody>
          <a:bodyPr wrap="square" lIns="0" tIns="0" rIns="0" bIns="0" rtlCol="0" anchor="t"/>
          <a:lstStyle/>
          <a:p>
            <a:pPr indent="0" marL="0">
              <a:buNone/>
            </a:pPr>
            <a:r>
              <a:rPr lang="en-US" sz="1100" b="1" dirty="0">
                <a:solidFill>
                  <a:srgbClr val="6B6360"/>
                </a:solidFill>
                <a:latin typeface="Calibri" pitchFamily="34" charset="0"/>
                <a:ea typeface="Calibri" pitchFamily="34" charset="-122"/>
                <a:cs typeface="Calibri" pitchFamily="34" charset="-120"/>
              </a:rPr>
              <a:t>Work starts</a:t>
            </a:r>
            <a:endParaRPr lang="en-US" sz="1100" dirty="0"/>
          </a:p>
        </p:txBody>
      </p:sp>
      <p:sp>
        <p:nvSpPr>
          <p:cNvPr id="21" name="Text 19"/>
          <p:cNvSpPr txBox="1"/>
          <p:nvPr/>
        </p:nvSpPr>
        <p:spPr>
          <a:xfrm>
            <a:off x="6446520" y="3310128"/>
            <a:ext cx="2057400" cy="1051560"/>
          </a:xfrm>
          <a:prstGeom prst="rect">
            <a:avLst/>
          </a:prstGeom>
          <a:noFill/>
          <a:ln/>
        </p:spPr>
        <p:txBody>
          <a:bodyPr wrap="square" lIns="0" tIns="0" rIns="0" bIns="0" rtlCol="0" anchor="t"/>
          <a:lstStyle/>
          <a:p>
            <a:pPr indent="0" marL="0">
              <a:lnSpc>
                <a:spcPct val="112000"/>
              </a:lnSpc>
              <a:buNone/>
            </a:pPr>
            <a:r>
              <a:rPr lang="en-US" sz="1200" dirty="0">
                <a:solidFill>
                  <a:srgbClr val="4A4340"/>
                </a:solidFill>
                <a:latin typeface="Calibri" pitchFamily="34" charset="0"/>
                <a:ea typeface="Calibri" pitchFamily="34" charset="-122"/>
                <a:cs typeface="Calibri" pitchFamily="34" charset="-120"/>
              </a:rPr>
              <a:t>Status change pushes to the student's phone over realtime.</a:t>
            </a:r>
            <a:endParaRPr lang="en-US" sz="1200" dirty="0"/>
          </a:p>
        </p:txBody>
      </p:sp>
      <p:sp>
        <p:nvSpPr>
          <p:cNvPr id="22" name="Shape 20"/>
          <p:cNvSpPr/>
          <p:nvPr/>
        </p:nvSpPr>
        <p:spPr>
          <a:xfrm>
            <a:off x="8979408" y="1783080"/>
            <a:ext cx="2606040" cy="2377440"/>
          </a:xfrm>
          <a:prstGeom prst="roundRect">
            <a:avLst>
              <a:gd name="adj" fmla="val 3846"/>
            </a:avLst>
          </a:prstGeom>
          <a:solidFill>
            <a:srgbClr val="FDF6F5"/>
          </a:solidFill>
          <a:ln w="9525">
            <a:solidFill>
              <a:srgbClr val="E4BEBA"/>
            </a:solidFill>
            <a:prstDash val="solid"/>
          </a:ln>
          <a:effectLst>
            <a:outerShdw sx="100000" sy="100000" kx="0" ky="0" algn="bl" rotWithShape="0" blurRad="127000" dist="25400" dir="5400000">
              <a:srgbClr val="8A7A78">
                <a:alpha val="18000"/>
              </a:srgbClr>
            </a:outerShdw>
          </a:effectLst>
        </p:spPr>
      </p:sp>
      <p:sp>
        <p:nvSpPr>
          <p:cNvPr id="23" name="Shape 21"/>
          <p:cNvSpPr/>
          <p:nvPr/>
        </p:nvSpPr>
        <p:spPr>
          <a:xfrm>
            <a:off x="9272016" y="2048256"/>
            <a:ext cx="475488" cy="475488"/>
          </a:xfrm>
          <a:prstGeom prst="ellipse">
            <a:avLst/>
          </a:prstGeom>
          <a:solidFill>
            <a:srgbClr val="AF101A"/>
          </a:solidFill>
          <a:ln w="12700">
            <a:solidFill>
              <a:srgbClr val="AF101A"/>
            </a:solidFill>
            <a:prstDash val="solid"/>
          </a:ln>
        </p:spPr>
      </p:sp>
      <p:sp>
        <p:nvSpPr>
          <p:cNvPr id="24" name="Text 22"/>
          <p:cNvSpPr txBox="1"/>
          <p:nvPr/>
        </p:nvSpPr>
        <p:spPr>
          <a:xfrm>
            <a:off x="9272016" y="2048256"/>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5" name="Text 23"/>
          <p:cNvSpPr txBox="1"/>
          <p:nvPr/>
        </p:nvSpPr>
        <p:spPr>
          <a:xfrm>
            <a:off x="9272016" y="2670048"/>
            <a:ext cx="2057400" cy="329184"/>
          </a:xfrm>
          <a:prstGeom prst="rect">
            <a:avLst/>
          </a:prstGeom>
          <a:noFill/>
          <a:ln/>
        </p:spPr>
        <p:txBody>
          <a:bodyPr wrap="square" lIns="0" tIns="0" rIns="0" bIns="0" rtlCol="0" anchor="t"/>
          <a:lstStyle/>
          <a:p>
            <a:pPr indent="0" marL="0">
              <a:buNone/>
            </a:pPr>
            <a:r>
              <a:rPr lang="en-US" sz="1800" b="1" dirty="0">
                <a:solidFill>
                  <a:srgbClr val="AF101A"/>
                </a:solidFill>
                <a:latin typeface="Cambria" pitchFamily="34" charset="0"/>
                <a:ea typeface="Cambria" pitchFamily="34" charset="-122"/>
                <a:cs typeface="Cambria" pitchFamily="34" charset="-120"/>
              </a:rPr>
              <a:t>Resolved</a:t>
            </a:r>
            <a:endParaRPr lang="en-US" sz="1800" dirty="0"/>
          </a:p>
        </p:txBody>
      </p:sp>
      <p:sp>
        <p:nvSpPr>
          <p:cNvPr id="26" name="Text 24"/>
          <p:cNvSpPr txBox="1"/>
          <p:nvPr/>
        </p:nvSpPr>
        <p:spPr>
          <a:xfrm>
            <a:off x="9272016" y="2999232"/>
            <a:ext cx="2057400" cy="256032"/>
          </a:xfrm>
          <a:prstGeom prst="rect">
            <a:avLst/>
          </a:prstGeom>
          <a:noFill/>
          <a:ln/>
        </p:spPr>
        <p:txBody>
          <a:bodyPr wrap="square" lIns="0" tIns="0" rIns="0" bIns="0" rtlCol="0" anchor="t"/>
          <a:lstStyle/>
          <a:p>
            <a:pPr indent="0" marL="0">
              <a:buNone/>
            </a:pPr>
            <a:r>
              <a:rPr lang="en-US" sz="1100" b="1" dirty="0">
                <a:solidFill>
                  <a:srgbClr val="6B6360"/>
                </a:solidFill>
                <a:latin typeface="Calibri" pitchFamily="34" charset="0"/>
                <a:ea typeface="Calibri" pitchFamily="34" charset="-122"/>
                <a:cs typeface="Calibri" pitchFamily="34" charset="-120"/>
              </a:rPr>
              <a:t>Work is done</a:t>
            </a:r>
            <a:endParaRPr lang="en-US" sz="1100" dirty="0"/>
          </a:p>
        </p:txBody>
      </p:sp>
      <p:sp>
        <p:nvSpPr>
          <p:cNvPr id="27" name="Text 25"/>
          <p:cNvSpPr txBox="1"/>
          <p:nvPr/>
        </p:nvSpPr>
        <p:spPr>
          <a:xfrm>
            <a:off x="9272016" y="3310128"/>
            <a:ext cx="2057400" cy="1051560"/>
          </a:xfrm>
          <a:prstGeom prst="rect">
            <a:avLst/>
          </a:prstGeom>
          <a:noFill/>
          <a:ln/>
        </p:spPr>
        <p:txBody>
          <a:bodyPr wrap="square" lIns="0" tIns="0" rIns="0" bIns="0" rtlCol="0" anchor="t"/>
          <a:lstStyle/>
          <a:p>
            <a:pPr indent="0" marL="0">
              <a:lnSpc>
                <a:spcPct val="112000"/>
              </a:lnSpc>
              <a:buNone/>
            </a:pPr>
            <a:r>
              <a:rPr lang="en-US" sz="1200" dirty="0">
                <a:solidFill>
                  <a:srgbClr val="4A4340"/>
                </a:solidFill>
                <a:latin typeface="Calibri" pitchFamily="34" charset="0"/>
                <a:ea typeface="Calibri" pitchFamily="34" charset="-122"/>
                <a:cs typeface="Calibri" pitchFamily="34" charset="-120"/>
              </a:rPr>
              <a:t>Closing it frees the student to report the fault again if it returns.</a:t>
            </a:r>
            <a:endParaRPr lang="en-US" sz="1200" dirty="0"/>
          </a:p>
        </p:txBody>
      </p:sp>
      <p:sp>
        <p:nvSpPr>
          <p:cNvPr id="28" name="Shape 26"/>
          <p:cNvSpPr/>
          <p:nvPr/>
        </p:nvSpPr>
        <p:spPr>
          <a:xfrm>
            <a:off x="502920" y="4434840"/>
            <a:ext cx="11082528" cy="1051560"/>
          </a:xfrm>
          <a:prstGeom prst="roundRect">
            <a:avLst>
              <a:gd name="adj" fmla="val 8696"/>
            </a:avLst>
          </a:prstGeom>
          <a:solidFill>
            <a:srgbClr val="FFFFFF"/>
          </a:solidFill>
          <a:ln w="9525">
            <a:solidFill>
              <a:srgbClr val="E4BEBA"/>
            </a:solidFill>
            <a:prstDash val="solid"/>
          </a:ln>
          <a:effectLst>
            <a:outerShdw sx="100000" sy="100000" kx="0" ky="0" algn="bl" rotWithShape="0" blurRad="127000" dist="25400" dir="5400000">
              <a:srgbClr val="8A7A78">
                <a:alpha val="18000"/>
              </a:srgbClr>
            </a:outerShdw>
          </a:effectLst>
        </p:spPr>
      </p:sp>
      <p:sp>
        <p:nvSpPr>
          <p:cNvPr id="29" name="Text 27"/>
          <p:cNvSpPr txBox="1"/>
          <p:nvPr/>
        </p:nvSpPr>
        <p:spPr>
          <a:xfrm>
            <a:off x="868680" y="4599432"/>
            <a:ext cx="2743200" cy="310896"/>
          </a:xfrm>
          <a:prstGeom prst="rect">
            <a:avLst/>
          </a:prstGeom>
          <a:noFill/>
          <a:ln/>
        </p:spPr>
        <p:txBody>
          <a:bodyPr wrap="square" lIns="0" tIns="0" rIns="0" bIns="0" rtlCol="0" anchor="t"/>
          <a:lstStyle/>
          <a:p>
            <a:pPr indent="0" marL="0">
              <a:buNone/>
            </a:pPr>
            <a:r>
              <a:rPr lang="en-US" sz="1600" b="1" dirty="0">
                <a:solidFill>
                  <a:srgbClr val="AF101A"/>
                </a:solidFill>
                <a:latin typeface="Cambria" pitchFamily="34" charset="0"/>
                <a:ea typeface="Cambria" pitchFamily="34" charset="-122"/>
                <a:cs typeface="Cambria" pitchFamily="34" charset="-120"/>
              </a:rPr>
              <a:t>No duplicates</a:t>
            </a:r>
            <a:endParaRPr lang="en-US" sz="1600" dirty="0"/>
          </a:p>
        </p:txBody>
      </p:sp>
      <p:sp>
        <p:nvSpPr>
          <p:cNvPr id="30" name="Text 28"/>
          <p:cNvSpPr txBox="1"/>
          <p:nvPr/>
        </p:nvSpPr>
        <p:spPr>
          <a:xfrm>
            <a:off x="868680" y="4928616"/>
            <a:ext cx="10332720" cy="365760"/>
          </a:xfrm>
          <a:prstGeom prst="rect">
            <a:avLst/>
          </a:prstGeom>
          <a:noFill/>
          <a:ln/>
        </p:spPr>
        <p:txBody>
          <a:bodyPr wrap="square" lIns="0" tIns="0" rIns="0" bIns="0" rtlCol="0" anchor="t"/>
          <a:lstStyle/>
          <a:p>
            <a:pPr indent="0" marL="0">
              <a:buNone/>
            </a:pPr>
            <a:r>
              <a:rPr lang="en-US" sz="1250" dirty="0">
                <a:solidFill>
                  <a:srgbClr val="4A4340"/>
                </a:solidFill>
                <a:latin typeface="Calibri" pitchFamily="34" charset="0"/>
                <a:ea typeface="Calibri" pitchFamily="34" charset="-122"/>
                <a:cs typeface="Calibri" pitchFamily="34" charset="-120"/>
              </a:rPr>
              <a:t>A student cannot hold two open reports for the same fault in the same room — checked in the app, then guaranteed by a unique index in Postgres.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457200"/>
            <a:ext cx="10058400" cy="621792"/>
          </a:xfrm>
          <a:prstGeom prst="rect">
            <a:avLst/>
          </a:prstGeom>
          <a:noFill/>
          <a:ln/>
        </p:spPr>
        <p:txBody>
          <a:bodyPr wrap="square" lIns="0" tIns="0" rIns="0" bIns="0" rtlCol="0" anchor="t"/>
          <a:lstStyle/>
          <a:p>
            <a:pPr indent="0" marL="0">
              <a:buNone/>
            </a:pPr>
            <a:r>
              <a:rPr lang="en-US" sz="3600" b="1" dirty="0">
                <a:solidFill>
                  <a:srgbClr val="1A1C1C"/>
                </a:solidFill>
                <a:latin typeface="Cambria" pitchFamily="34" charset="0"/>
                <a:ea typeface="Cambria" pitchFamily="34" charset="-122"/>
                <a:cs typeface="Cambria" pitchFamily="34" charset="-120"/>
              </a:rPr>
              <a:t>What the database holds</a:t>
            </a:r>
            <a:endParaRPr lang="en-US" sz="3600" dirty="0"/>
          </a:p>
        </p:txBody>
      </p:sp>
      <p:sp>
        <p:nvSpPr>
          <p:cNvPr id="3" name="Text 1"/>
          <p:cNvSpPr txBox="1"/>
          <p:nvPr/>
        </p:nvSpPr>
        <p:spPr>
          <a:xfrm>
            <a:off x="594360" y="1106424"/>
            <a:ext cx="10607040" cy="347472"/>
          </a:xfrm>
          <a:prstGeom prst="rect">
            <a:avLst/>
          </a:prstGeom>
          <a:noFill/>
          <a:ln/>
        </p:spPr>
        <p:txBody>
          <a:bodyPr wrap="square" lIns="0" tIns="0" rIns="0" bIns="0" rtlCol="0" anchor="t"/>
          <a:lstStyle/>
          <a:p>
            <a:pPr indent="0" marL="0">
              <a:buNone/>
            </a:pPr>
            <a:r>
              <a:rPr lang="en-US" sz="1450" dirty="0">
                <a:solidFill>
                  <a:srgbClr val="6B6360"/>
                </a:solidFill>
                <a:latin typeface="Calibri" pitchFamily="34" charset="0"/>
                <a:ea typeface="Calibri" pitchFamily="34" charset="-122"/>
                <a:cs typeface="Calibri" pitchFamily="34" charset="-120"/>
              </a:rPr>
              <a:t>Sixteen tables in one Postgres project, all behind row-level security.</a:t>
            </a:r>
            <a:endParaRPr lang="en-US" sz="1450" dirty="0"/>
          </a:p>
        </p:txBody>
      </p:sp>
      <p:sp>
        <p:nvSpPr>
          <p:cNvPr id="4" name="Shape 2"/>
          <p:cNvSpPr/>
          <p:nvPr/>
        </p:nvSpPr>
        <p:spPr>
          <a:xfrm>
            <a:off x="594360" y="1783080"/>
            <a:ext cx="5239512" cy="1783080"/>
          </a:xfrm>
          <a:prstGeom prst="roundRect">
            <a:avLst>
              <a:gd name="adj" fmla="val 5128"/>
            </a:avLst>
          </a:prstGeom>
          <a:solidFill>
            <a:srgbClr val="FFFFFF"/>
          </a:solidFill>
          <a:ln w="9525">
            <a:solidFill>
              <a:srgbClr val="E4BEBA"/>
            </a:solidFill>
            <a:prstDash val="solid"/>
          </a:ln>
          <a:effectLst>
            <a:outerShdw sx="100000" sy="100000" kx="0" ky="0" algn="bl" rotWithShape="0" blurRad="127000" dist="25400" dir="5400000">
              <a:srgbClr val="8A7A78">
                <a:alpha val="18000"/>
              </a:srgbClr>
            </a:outerShdw>
          </a:effectLst>
        </p:spPr>
      </p:sp>
      <p:sp>
        <p:nvSpPr>
          <p:cNvPr id="5" name="Text 3"/>
          <p:cNvSpPr txBox="1"/>
          <p:nvPr/>
        </p:nvSpPr>
        <p:spPr>
          <a:xfrm>
            <a:off x="941832" y="1965960"/>
            <a:ext cx="4480560" cy="292608"/>
          </a:xfrm>
          <a:prstGeom prst="rect">
            <a:avLst/>
          </a:prstGeom>
          <a:noFill/>
          <a:ln/>
        </p:spPr>
        <p:txBody>
          <a:bodyPr wrap="square" lIns="0" tIns="0" rIns="0" bIns="0" rtlCol="0" anchor="t"/>
          <a:lstStyle/>
          <a:p>
            <a:pPr indent="0" marL="0">
              <a:buNone/>
            </a:pPr>
            <a:r>
              <a:rPr lang="en-US" sz="1700" b="1" dirty="0">
                <a:solidFill>
                  <a:srgbClr val="AF101A"/>
                </a:solidFill>
                <a:latin typeface="Cambria" pitchFamily="34" charset="0"/>
                <a:ea typeface="Cambria" pitchFamily="34" charset="-122"/>
                <a:cs typeface="Cambria" pitchFamily="34" charset="-120"/>
              </a:rPr>
              <a:t>People</a:t>
            </a:r>
            <a:endParaRPr lang="en-US" sz="1700" dirty="0"/>
          </a:p>
        </p:txBody>
      </p:sp>
      <p:sp>
        <p:nvSpPr>
          <p:cNvPr id="6" name="Text 4"/>
          <p:cNvSpPr txBox="1"/>
          <p:nvPr/>
        </p:nvSpPr>
        <p:spPr>
          <a:xfrm>
            <a:off x="941832" y="2331720"/>
            <a:ext cx="2606040" cy="274320"/>
          </a:xfrm>
          <a:prstGeom prst="rect">
            <a:avLst/>
          </a:prstGeom>
          <a:noFill/>
          <a:ln/>
        </p:spPr>
        <p:txBody>
          <a:bodyPr wrap="square" lIns="0" tIns="0" rIns="0" bIns="0" rtlCol="0" anchor="t"/>
          <a:lstStyle/>
          <a:p>
            <a:pPr indent="0" marL="0">
              <a:buNone/>
            </a:pPr>
            <a:r>
              <a:rPr lang="en-US" sz="1250" b="1" dirty="0">
                <a:solidFill>
                  <a:srgbClr val="1A1C1C"/>
                </a:solidFill>
                <a:latin typeface="Calibri" pitchFamily="34" charset="0"/>
                <a:ea typeface="Calibri" pitchFamily="34" charset="-122"/>
                <a:cs typeface="Calibri" pitchFamily="34" charset="-120"/>
              </a:rPr>
              <a:t>profiles</a:t>
            </a:r>
            <a:endParaRPr lang="en-US" sz="1250" dirty="0"/>
          </a:p>
        </p:txBody>
      </p:sp>
      <p:sp>
        <p:nvSpPr>
          <p:cNvPr id="7" name="Text 5"/>
          <p:cNvSpPr txBox="1"/>
          <p:nvPr/>
        </p:nvSpPr>
        <p:spPr>
          <a:xfrm>
            <a:off x="3566160" y="2331720"/>
            <a:ext cx="1874520" cy="274320"/>
          </a:xfrm>
          <a:prstGeom prst="rect">
            <a:avLst/>
          </a:prstGeom>
          <a:noFill/>
          <a:ln/>
        </p:spPr>
        <p:txBody>
          <a:bodyPr wrap="square" lIns="0" tIns="0" rIns="0" bIns="0" rtlCol="0" anchor="t"/>
          <a:lstStyle/>
          <a:p>
            <a:pPr algn="r" indent="0" marL="0">
              <a:buNone/>
            </a:pPr>
            <a:r>
              <a:rPr lang="en-US" sz="1200" dirty="0">
                <a:solidFill>
                  <a:srgbClr val="6B6360"/>
                </a:solidFill>
                <a:latin typeface="Calibri" pitchFamily="34" charset="0"/>
                <a:ea typeface="Calibri" pitchFamily="34" charset="-122"/>
                <a:cs typeface="Calibri" pitchFamily="34" charset="-120"/>
              </a:rPr>
              <a:t>11 accounts</a:t>
            </a:r>
            <a:endParaRPr lang="en-US" sz="1200" dirty="0"/>
          </a:p>
        </p:txBody>
      </p:sp>
      <p:sp>
        <p:nvSpPr>
          <p:cNvPr id="8" name="Text 6"/>
          <p:cNvSpPr txBox="1"/>
          <p:nvPr/>
        </p:nvSpPr>
        <p:spPr>
          <a:xfrm>
            <a:off x="941832" y="2624328"/>
            <a:ext cx="2606040" cy="274320"/>
          </a:xfrm>
          <a:prstGeom prst="rect">
            <a:avLst/>
          </a:prstGeom>
          <a:noFill/>
          <a:ln/>
        </p:spPr>
        <p:txBody>
          <a:bodyPr wrap="square" lIns="0" tIns="0" rIns="0" bIns="0" rtlCol="0" anchor="t"/>
          <a:lstStyle/>
          <a:p>
            <a:pPr indent="0" marL="0">
              <a:buNone/>
            </a:pPr>
            <a:r>
              <a:rPr lang="en-US" sz="1250" b="1" dirty="0">
                <a:solidFill>
                  <a:srgbClr val="1A1C1C"/>
                </a:solidFill>
                <a:latin typeface="Calibri" pitchFamily="34" charset="0"/>
                <a:ea typeface="Calibri" pitchFamily="34" charset="-122"/>
                <a:cs typeface="Calibri" pitchFamily="34" charset="-120"/>
              </a:rPr>
              <a:t>halls</a:t>
            </a:r>
            <a:endParaRPr lang="en-US" sz="1250" dirty="0"/>
          </a:p>
        </p:txBody>
      </p:sp>
      <p:sp>
        <p:nvSpPr>
          <p:cNvPr id="9" name="Text 7"/>
          <p:cNvSpPr txBox="1"/>
          <p:nvPr/>
        </p:nvSpPr>
        <p:spPr>
          <a:xfrm>
            <a:off x="3566160" y="2624328"/>
            <a:ext cx="1874520" cy="274320"/>
          </a:xfrm>
          <a:prstGeom prst="rect">
            <a:avLst/>
          </a:prstGeom>
          <a:noFill/>
          <a:ln/>
        </p:spPr>
        <p:txBody>
          <a:bodyPr wrap="square" lIns="0" tIns="0" rIns="0" bIns="0" rtlCol="0" anchor="t"/>
          <a:lstStyle/>
          <a:p>
            <a:pPr algn="r" indent="0" marL="0">
              <a:buNone/>
            </a:pPr>
            <a:r>
              <a:rPr lang="en-US" sz="1200" dirty="0">
                <a:solidFill>
                  <a:srgbClr val="6B6360"/>
                </a:solidFill>
                <a:latin typeface="Calibri" pitchFamily="34" charset="0"/>
                <a:ea typeface="Calibri" pitchFamily="34" charset="-122"/>
                <a:cs typeface="Calibri" pitchFamily="34" charset="-120"/>
              </a:rPr>
              <a:t>6 halls</a:t>
            </a:r>
            <a:endParaRPr lang="en-US" sz="1200" dirty="0"/>
          </a:p>
        </p:txBody>
      </p:sp>
      <p:sp>
        <p:nvSpPr>
          <p:cNvPr id="10" name="Text 8"/>
          <p:cNvSpPr txBox="1"/>
          <p:nvPr/>
        </p:nvSpPr>
        <p:spPr>
          <a:xfrm>
            <a:off x="941832" y="2971800"/>
            <a:ext cx="4526280" cy="457200"/>
          </a:xfrm>
          <a:prstGeom prst="rect">
            <a:avLst/>
          </a:prstGeom>
          <a:noFill/>
          <a:ln/>
        </p:spPr>
        <p:txBody>
          <a:bodyPr wrap="square" lIns="0" tIns="0" rIns="0" bIns="0" rtlCol="0" anchor="t"/>
          <a:lstStyle/>
          <a:p>
            <a:pPr indent="0" marL="0">
              <a:buNone/>
            </a:pPr>
            <a:r>
              <a:rPr lang="en-US" sz="1150" i="1" dirty="0">
                <a:solidFill>
                  <a:srgbClr val="6B6360"/>
                </a:solidFill>
                <a:latin typeface="Calibri" pitchFamily="34" charset="0"/>
                <a:ea typeface="Calibri" pitchFamily="34" charset="-122"/>
                <a:cs typeface="Calibri" pitchFamily="34" charset="-120"/>
              </a:rPr>
              <a:t>One super admin, six hall admins, four students.</a:t>
            </a:r>
            <a:endParaRPr lang="en-US" sz="1150" dirty="0"/>
          </a:p>
        </p:txBody>
      </p:sp>
      <p:sp>
        <p:nvSpPr>
          <p:cNvPr id="11" name="Shape 9"/>
          <p:cNvSpPr/>
          <p:nvPr/>
        </p:nvSpPr>
        <p:spPr>
          <a:xfrm>
            <a:off x="6355080" y="1783080"/>
            <a:ext cx="5239512" cy="1783080"/>
          </a:xfrm>
          <a:prstGeom prst="roundRect">
            <a:avLst>
              <a:gd name="adj" fmla="val 5128"/>
            </a:avLst>
          </a:prstGeom>
          <a:solidFill>
            <a:srgbClr val="FFFFFF"/>
          </a:solidFill>
          <a:ln w="9525">
            <a:solidFill>
              <a:srgbClr val="E4BEBA"/>
            </a:solidFill>
            <a:prstDash val="solid"/>
          </a:ln>
          <a:effectLst>
            <a:outerShdw sx="100000" sy="100000" kx="0" ky="0" algn="bl" rotWithShape="0" blurRad="127000" dist="25400" dir="5400000">
              <a:srgbClr val="8A7A78">
                <a:alpha val="18000"/>
              </a:srgbClr>
            </a:outerShdw>
          </a:effectLst>
        </p:spPr>
      </p:sp>
      <p:sp>
        <p:nvSpPr>
          <p:cNvPr id="12" name="Text 10"/>
          <p:cNvSpPr txBox="1"/>
          <p:nvPr/>
        </p:nvSpPr>
        <p:spPr>
          <a:xfrm>
            <a:off x="6702552" y="1965960"/>
            <a:ext cx="4480560" cy="292608"/>
          </a:xfrm>
          <a:prstGeom prst="rect">
            <a:avLst/>
          </a:prstGeom>
          <a:noFill/>
          <a:ln/>
        </p:spPr>
        <p:txBody>
          <a:bodyPr wrap="square" lIns="0" tIns="0" rIns="0" bIns="0" rtlCol="0" anchor="t"/>
          <a:lstStyle/>
          <a:p>
            <a:pPr indent="0" marL="0">
              <a:buNone/>
            </a:pPr>
            <a:r>
              <a:rPr lang="en-US" sz="1700" b="1" dirty="0">
                <a:solidFill>
                  <a:srgbClr val="AF101A"/>
                </a:solidFill>
                <a:latin typeface="Cambria" pitchFamily="34" charset="0"/>
                <a:ea typeface="Cambria" pitchFamily="34" charset="-122"/>
                <a:cs typeface="Cambria" pitchFamily="34" charset="-120"/>
              </a:rPr>
              <a:t>Work</a:t>
            </a:r>
            <a:endParaRPr lang="en-US" sz="1700" dirty="0"/>
          </a:p>
        </p:txBody>
      </p:sp>
      <p:sp>
        <p:nvSpPr>
          <p:cNvPr id="13" name="Text 11"/>
          <p:cNvSpPr txBox="1"/>
          <p:nvPr/>
        </p:nvSpPr>
        <p:spPr>
          <a:xfrm>
            <a:off x="6702552" y="2331720"/>
            <a:ext cx="2606040" cy="274320"/>
          </a:xfrm>
          <a:prstGeom prst="rect">
            <a:avLst/>
          </a:prstGeom>
          <a:noFill/>
          <a:ln/>
        </p:spPr>
        <p:txBody>
          <a:bodyPr wrap="square" lIns="0" tIns="0" rIns="0" bIns="0" rtlCol="0" anchor="t"/>
          <a:lstStyle/>
          <a:p>
            <a:pPr indent="0" marL="0">
              <a:buNone/>
            </a:pPr>
            <a:r>
              <a:rPr lang="en-US" sz="1250" b="1" dirty="0">
                <a:solidFill>
                  <a:srgbClr val="1A1C1C"/>
                </a:solidFill>
                <a:latin typeface="Calibri" pitchFamily="34" charset="0"/>
                <a:ea typeface="Calibri" pitchFamily="34" charset="-122"/>
                <a:cs typeface="Calibri" pitchFamily="34" charset="-120"/>
              </a:rPr>
              <a:t>reports</a:t>
            </a:r>
            <a:endParaRPr lang="en-US" sz="1250" dirty="0"/>
          </a:p>
        </p:txBody>
      </p:sp>
      <p:sp>
        <p:nvSpPr>
          <p:cNvPr id="14" name="Text 12"/>
          <p:cNvSpPr txBox="1"/>
          <p:nvPr/>
        </p:nvSpPr>
        <p:spPr>
          <a:xfrm>
            <a:off x="9326880" y="2331720"/>
            <a:ext cx="1874520" cy="274320"/>
          </a:xfrm>
          <a:prstGeom prst="rect">
            <a:avLst/>
          </a:prstGeom>
          <a:noFill/>
          <a:ln/>
        </p:spPr>
        <p:txBody>
          <a:bodyPr wrap="square" lIns="0" tIns="0" rIns="0" bIns="0" rtlCol="0" anchor="t"/>
          <a:lstStyle/>
          <a:p>
            <a:pPr algn="r" indent="0" marL="0">
              <a:buNone/>
            </a:pPr>
            <a:r>
              <a:rPr lang="en-US" sz="1200" dirty="0">
                <a:solidFill>
                  <a:srgbClr val="6B6360"/>
                </a:solidFill>
                <a:latin typeface="Calibri" pitchFamily="34" charset="0"/>
                <a:ea typeface="Calibri" pitchFamily="34" charset="-122"/>
                <a:cs typeface="Calibri" pitchFamily="34" charset="-120"/>
              </a:rPr>
              <a:t>the core record</a:t>
            </a:r>
            <a:endParaRPr lang="en-US" sz="1200" dirty="0"/>
          </a:p>
        </p:txBody>
      </p:sp>
      <p:sp>
        <p:nvSpPr>
          <p:cNvPr id="15" name="Text 13"/>
          <p:cNvSpPr txBox="1"/>
          <p:nvPr/>
        </p:nvSpPr>
        <p:spPr>
          <a:xfrm>
            <a:off x="6702552" y="2624328"/>
            <a:ext cx="2606040" cy="274320"/>
          </a:xfrm>
          <a:prstGeom prst="rect">
            <a:avLst/>
          </a:prstGeom>
          <a:noFill/>
          <a:ln/>
        </p:spPr>
        <p:txBody>
          <a:bodyPr wrap="square" lIns="0" tIns="0" rIns="0" bIns="0" rtlCol="0" anchor="t"/>
          <a:lstStyle/>
          <a:p>
            <a:pPr indent="0" marL="0">
              <a:buNone/>
            </a:pPr>
            <a:r>
              <a:rPr lang="en-US" sz="1250" b="1" dirty="0">
                <a:solidFill>
                  <a:srgbClr val="1A1C1C"/>
                </a:solidFill>
                <a:latin typeface="Calibri" pitchFamily="34" charset="0"/>
                <a:ea typeface="Calibri" pitchFamily="34" charset="-122"/>
                <a:cs typeface="Calibri" pitchFamily="34" charset="-120"/>
              </a:rPr>
              <a:t>appointments</a:t>
            </a:r>
            <a:endParaRPr lang="en-US" sz="1250" dirty="0"/>
          </a:p>
        </p:txBody>
      </p:sp>
      <p:sp>
        <p:nvSpPr>
          <p:cNvPr id="16" name="Text 14"/>
          <p:cNvSpPr txBox="1"/>
          <p:nvPr/>
        </p:nvSpPr>
        <p:spPr>
          <a:xfrm>
            <a:off x="9326880" y="2624328"/>
            <a:ext cx="1874520" cy="274320"/>
          </a:xfrm>
          <a:prstGeom prst="rect">
            <a:avLst/>
          </a:prstGeom>
          <a:noFill/>
          <a:ln/>
        </p:spPr>
        <p:txBody>
          <a:bodyPr wrap="square" lIns="0" tIns="0" rIns="0" bIns="0" rtlCol="0" anchor="t"/>
          <a:lstStyle/>
          <a:p>
            <a:pPr algn="r" indent="0" marL="0">
              <a:buNone/>
            </a:pPr>
            <a:r>
              <a:rPr lang="en-US" sz="1200" dirty="0">
                <a:solidFill>
                  <a:srgbClr val="6B6360"/>
                </a:solidFill>
                <a:latin typeface="Calibri" pitchFamily="34" charset="0"/>
                <a:ea typeface="Calibri" pitchFamily="34" charset="-122"/>
                <a:cs typeface="Calibri" pitchFamily="34" charset="-120"/>
              </a:rPr>
              <a:t>repair slots</a:t>
            </a:r>
            <a:endParaRPr lang="en-US" sz="1200" dirty="0"/>
          </a:p>
        </p:txBody>
      </p:sp>
      <p:sp>
        <p:nvSpPr>
          <p:cNvPr id="17" name="Text 15"/>
          <p:cNvSpPr txBox="1"/>
          <p:nvPr/>
        </p:nvSpPr>
        <p:spPr>
          <a:xfrm>
            <a:off x="6702552" y="2971800"/>
            <a:ext cx="4526280" cy="457200"/>
          </a:xfrm>
          <a:prstGeom prst="rect">
            <a:avLst/>
          </a:prstGeom>
          <a:noFill/>
          <a:ln/>
        </p:spPr>
        <p:txBody>
          <a:bodyPr wrap="square" lIns="0" tIns="0" rIns="0" bIns="0" rtlCol="0" anchor="t"/>
          <a:lstStyle/>
          <a:p>
            <a:pPr indent="0" marL="0">
              <a:buNone/>
            </a:pPr>
            <a:r>
              <a:rPr lang="en-US" sz="1150" i="1" dirty="0">
                <a:solidFill>
                  <a:srgbClr val="6B6360"/>
                </a:solidFill>
                <a:latin typeface="Calibri" pitchFamily="34" charset="0"/>
                <a:ea typeface="Calibri" pitchFamily="34" charset="-122"/>
                <a:cs typeface="Calibri" pitchFamily="34" charset="-120"/>
              </a:rPr>
              <a:t>Photos and video live in Supabase storage, not the row.</a:t>
            </a:r>
            <a:endParaRPr lang="en-US" sz="1150" dirty="0"/>
          </a:p>
        </p:txBody>
      </p:sp>
      <p:sp>
        <p:nvSpPr>
          <p:cNvPr id="18" name="Shape 16"/>
          <p:cNvSpPr/>
          <p:nvPr/>
        </p:nvSpPr>
        <p:spPr>
          <a:xfrm>
            <a:off x="594360" y="3794760"/>
            <a:ext cx="5239512" cy="1783080"/>
          </a:xfrm>
          <a:prstGeom prst="roundRect">
            <a:avLst>
              <a:gd name="adj" fmla="val 5128"/>
            </a:avLst>
          </a:prstGeom>
          <a:solidFill>
            <a:srgbClr val="FFFFFF"/>
          </a:solidFill>
          <a:ln w="9525">
            <a:solidFill>
              <a:srgbClr val="E4BEBA"/>
            </a:solidFill>
            <a:prstDash val="solid"/>
          </a:ln>
          <a:effectLst>
            <a:outerShdw sx="100000" sy="100000" kx="0" ky="0" algn="bl" rotWithShape="0" blurRad="127000" dist="25400" dir="5400000">
              <a:srgbClr val="8A7A78">
                <a:alpha val="18000"/>
              </a:srgbClr>
            </a:outerShdw>
          </a:effectLst>
        </p:spPr>
      </p:sp>
      <p:sp>
        <p:nvSpPr>
          <p:cNvPr id="19" name="Text 17"/>
          <p:cNvSpPr txBox="1"/>
          <p:nvPr/>
        </p:nvSpPr>
        <p:spPr>
          <a:xfrm>
            <a:off x="941832" y="3977640"/>
            <a:ext cx="4480560" cy="292608"/>
          </a:xfrm>
          <a:prstGeom prst="rect">
            <a:avLst/>
          </a:prstGeom>
          <a:noFill/>
          <a:ln/>
        </p:spPr>
        <p:txBody>
          <a:bodyPr wrap="square" lIns="0" tIns="0" rIns="0" bIns="0" rtlCol="0" anchor="t"/>
          <a:lstStyle/>
          <a:p>
            <a:pPr indent="0" marL="0">
              <a:buNone/>
            </a:pPr>
            <a:r>
              <a:rPr lang="en-US" sz="1700" b="1" dirty="0">
                <a:solidFill>
                  <a:srgbClr val="AF101A"/>
                </a:solidFill>
                <a:latin typeface="Cambria" pitchFamily="34" charset="0"/>
                <a:ea typeface="Cambria" pitchFamily="34" charset="-122"/>
                <a:cs typeface="Cambria" pitchFamily="34" charset="-120"/>
              </a:rPr>
              <a:t>Contact</a:t>
            </a:r>
            <a:endParaRPr lang="en-US" sz="1700" dirty="0"/>
          </a:p>
        </p:txBody>
      </p:sp>
      <p:sp>
        <p:nvSpPr>
          <p:cNvPr id="20" name="Text 18"/>
          <p:cNvSpPr txBox="1"/>
          <p:nvPr/>
        </p:nvSpPr>
        <p:spPr>
          <a:xfrm>
            <a:off x="941832" y="4343400"/>
            <a:ext cx="2606040" cy="274320"/>
          </a:xfrm>
          <a:prstGeom prst="rect">
            <a:avLst/>
          </a:prstGeom>
          <a:noFill/>
          <a:ln/>
        </p:spPr>
        <p:txBody>
          <a:bodyPr wrap="square" lIns="0" tIns="0" rIns="0" bIns="0" rtlCol="0" anchor="t"/>
          <a:lstStyle/>
          <a:p>
            <a:pPr indent="0" marL="0">
              <a:buNone/>
            </a:pPr>
            <a:r>
              <a:rPr lang="en-US" sz="1250" b="1" dirty="0">
                <a:solidFill>
                  <a:srgbClr val="1A1C1C"/>
                </a:solidFill>
                <a:latin typeface="Calibri" pitchFamily="34" charset="0"/>
                <a:ea typeface="Calibri" pitchFamily="34" charset="-122"/>
                <a:cs typeface="Calibri" pitchFamily="34" charset="-120"/>
              </a:rPr>
              <a:t>notifications</a:t>
            </a:r>
            <a:endParaRPr lang="en-US" sz="1250" dirty="0"/>
          </a:p>
        </p:txBody>
      </p:sp>
      <p:sp>
        <p:nvSpPr>
          <p:cNvPr id="21" name="Text 19"/>
          <p:cNvSpPr txBox="1"/>
          <p:nvPr/>
        </p:nvSpPr>
        <p:spPr>
          <a:xfrm>
            <a:off x="3566160" y="4343400"/>
            <a:ext cx="1874520" cy="274320"/>
          </a:xfrm>
          <a:prstGeom prst="rect">
            <a:avLst/>
          </a:prstGeom>
          <a:noFill/>
          <a:ln/>
        </p:spPr>
        <p:txBody>
          <a:bodyPr wrap="square" lIns="0" tIns="0" rIns="0" bIns="0" rtlCol="0" anchor="t"/>
          <a:lstStyle/>
          <a:p>
            <a:pPr algn="r" indent="0" marL="0">
              <a:buNone/>
            </a:pPr>
            <a:r>
              <a:rPr lang="en-US" sz="1200" dirty="0">
                <a:solidFill>
                  <a:srgbClr val="6B6360"/>
                </a:solidFill>
                <a:latin typeface="Calibri" pitchFamily="34" charset="0"/>
                <a:ea typeface="Calibri" pitchFamily="34" charset="-122"/>
                <a:cs typeface="Calibri" pitchFamily="34" charset="-120"/>
              </a:rPr>
              <a:t>the in-app feed</a:t>
            </a:r>
            <a:endParaRPr lang="en-US" sz="1200" dirty="0"/>
          </a:p>
        </p:txBody>
      </p:sp>
      <p:sp>
        <p:nvSpPr>
          <p:cNvPr id="22" name="Text 20"/>
          <p:cNvSpPr txBox="1"/>
          <p:nvPr/>
        </p:nvSpPr>
        <p:spPr>
          <a:xfrm>
            <a:off x="941832" y="4636008"/>
            <a:ext cx="2606040" cy="274320"/>
          </a:xfrm>
          <a:prstGeom prst="rect">
            <a:avLst/>
          </a:prstGeom>
          <a:noFill/>
          <a:ln/>
        </p:spPr>
        <p:txBody>
          <a:bodyPr wrap="square" lIns="0" tIns="0" rIns="0" bIns="0" rtlCol="0" anchor="t"/>
          <a:lstStyle/>
          <a:p>
            <a:pPr indent="0" marL="0">
              <a:buNone/>
            </a:pPr>
            <a:r>
              <a:rPr lang="en-US" sz="1250" b="1" dirty="0">
                <a:solidFill>
                  <a:srgbClr val="1A1C1C"/>
                </a:solidFill>
                <a:latin typeface="Calibri" pitchFamily="34" charset="0"/>
                <a:ea typeface="Calibri" pitchFamily="34" charset="-122"/>
                <a:cs typeface="Calibri" pitchFamily="34" charset="-120"/>
              </a:rPr>
              <a:t>conversations · messages</a:t>
            </a:r>
            <a:endParaRPr lang="en-US" sz="1250" dirty="0"/>
          </a:p>
        </p:txBody>
      </p:sp>
      <p:sp>
        <p:nvSpPr>
          <p:cNvPr id="23" name="Text 21"/>
          <p:cNvSpPr txBox="1"/>
          <p:nvPr/>
        </p:nvSpPr>
        <p:spPr>
          <a:xfrm>
            <a:off x="3566160" y="4636008"/>
            <a:ext cx="1874520" cy="274320"/>
          </a:xfrm>
          <a:prstGeom prst="rect">
            <a:avLst/>
          </a:prstGeom>
          <a:noFill/>
          <a:ln/>
        </p:spPr>
        <p:txBody>
          <a:bodyPr wrap="square" lIns="0" tIns="0" rIns="0" bIns="0" rtlCol="0" anchor="t"/>
          <a:lstStyle/>
          <a:p>
            <a:pPr algn="r" indent="0" marL="0">
              <a:buNone/>
            </a:pPr>
            <a:r>
              <a:rPr lang="en-US" sz="1200" dirty="0">
                <a:solidFill>
                  <a:srgbClr val="6B6360"/>
                </a:solidFill>
                <a:latin typeface="Calibri" pitchFamily="34" charset="0"/>
                <a:ea typeface="Calibri" pitchFamily="34" charset="-122"/>
                <a:cs typeface="Calibri" pitchFamily="34" charset="-120"/>
              </a:rPr>
              <a:t>support chat</a:t>
            </a:r>
            <a:endParaRPr lang="en-US" sz="1200" dirty="0"/>
          </a:p>
        </p:txBody>
      </p:sp>
      <p:sp>
        <p:nvSpPr>
          <p:cNvPr id="24" name="Text 22"/>
          <p:cNvSpPr txBox="1"/>
          <p:nvPr/>
        </p:nvSpPr>
        <p:spPr>
          <a:xfrm>
            <a:off x="941832" y="4983480"/>
            <a:ext cx="4526280" cy="457200"/>
          </a:xfrm>
          <a:prstGeom prst="rect">
            <a:avLst/>
          </a:prstGeom>
          <a:noFill/>
          <a:ln/>
        </p:spPr>
        <p:txBody>
          <a:bodyPr wrap="square" lIns="0" tIns="0" rIns="0" bIns="0" rtlCol="0" anchor="t"/>
          <a:lstStyle/>
          <a:p>
            <a:pPr indent="0" marL="0">
              <a:buNone/>
            </a:pPr>
            <a:r>
              <a:rPr lang="en-US" sz="1150" i="1" dirty="0">
                <a:solidFill>
                  <a:srgbClr val="6B6360"/>
                </a:solidFill>
                <a:latin typeface="Calibri" pitchFamily="34" charset="0"/>
                <a:ea typeface="Calibri" pitchFamily="34" charset="-122"/>
                <a:cs typeface="Calibri" pitchFamily="34" charset="-120"/>
              </a:rPr>
              <a:t>Notification rows are written by a database trigger.</a:t>
            </a:r>
            <a:endParaRPr lang="en-US" sz="1150" dirty="0"/>
          </a:p>
        </p:txBody>
      </p:sp>
      <p:sp>
        <p:nvSpPr>
          <p:cNvPr id="25" name="Shape 23"/>
          <p:cNvSpPr/>
          <p:nvPr/>
        </p:nvSpPr>
        <p:spPr>
          <a:xfrm>
            <a:off x="6355080" y="3794760"/>
            <a:ext cx="5239512" cy="1783080"/>
          </a:xfrm>
          <a:prstGeom prst="roundRect">
            <a:avLst>
              <a:gd name="adj" fmla="val 5128"/>
            </a:avLst>
          </a:prstGeom>
          <a:solidFill>
            <a:srgbClr val="FFFFFF"/>
          </a:solidFill>
          <a:ln w="9525">
            <a:solidFill>
              <a:srgbClr val="E4BEBA"/>
            </a:solidFill>
            <a:prstDash val="solid"/>
          </a:ln>
          <a:effectLst>
            <a:outerShdw sx="100000" sy="100000" kx="0" ky="0" algn="bl" rotWithShape="0" blurRad="127000" dist="25400" dir="5400000">
              <a:srgbClr val="8A7A78">
                <a:alpha val="18000"/>
              </a:srgbClr>
            </a:outerShdw>
          </a:effectLst>
        </p:spPr>
      </p:sp>
      <p:sp>
        <p:nvSpPr>
          <p:cNvPr id="26" name="Text 24"/>
          <p:cNvSpPr txBox="1"/>
          <p:nvPr/>
        </p:nvSpPr>
        <p:spPr>
          <a:xfrm>
            <a:off x="6702552" y="3977640"/>
            <a:ext cx="4480560" cy="292608"/>
          </a:xfrm>
          <a:prstGeom prst="rect">
            <a:avLst/>
          </a:prstGeom>
          <a:noFill/>
          <a:ln/>
        </p:spPr>
        <p:txBody>
          <a:bodyPr wrap="square" lIns="0" tIns="0" rIns="0" bIns="0" rtlCol="0" anchor="t"/>
          <a:lstStyle/>
          <a:p>
            <a:pPr indent="0" marL="0">
              <a:buNone/>
            </a:pPr>
            <a:r>
              <a:rPr lang="en-US" sz="1700" b="1" dirty="0">
                <a:solidFill>
                  <a:srgbClr val="AF101A"/>
                </a:solidFill>
                <a:latin typeface="Cambria" pitchFamily="34" charset="0"/>
                <a:ea typeface="Cambria" pitchFamily="34" charset="-122"/>
                <a:cs typeface="Cambria" pitchFamily="34" charset="-120"/>
              </a:rPr>
              <a:t>Content</a:t>
            </a:r>
            <a:endParaRPr lang="en-US" sz="1700" dirty="0"/>
          </a:p>
        </p:txBody>
      </p:sp>
      <p:sp>
        <p:nvSpPr>
          <p:cNvPr id="27" name="Text 25"/>
          <p:cNvSpPr txBox="1"/>
          <p:nvPr/>
        </p:nvSpPr>
        <p:spPr>
          <a:xfrm>
            <a:off x="6702552" y="4343400"/>
            <a:ext cx="2606040" cy="274320"/>
          </a:xfrm>
          <a:prstGeom prst="rect">
            <a:avLst/>
          </a:prstGeom>
          <a:noFill/>
          <a:ln/>
        </p:spPr>
        <p:txBody>
          <a:bodyPr wrap="square" lIns="0" tIns="0" rIns="0" bIns="0" rtlCol="0" anchor="t"/>
          <a:lstStyle/>
          <a:p>
            <a:pPr indent="0" marL="0">
              <a:buNone/>
            </a:pPr>
            <a:r>
              <a:rPr lang="en-US" sz="1250" b="1" dirty="0">
                <a:solidFill>
                  <a:srgbClr val="1A1C1C"/>
                </a:solidFill>
                <a:latin typeface="Calibri" pitchFamily="34" charset="0"/>
                <a:ea typeface="Calibri" pitchFamily="34" charset="-122"/>
                <a:cs typeface="Calibri" pitchFamily="34" charset="-120"/>
              </a:rPr>
              <a:t>knust_news</a:t>
            </a:r>
            <a:endParaRPr lang="en-US" sz="1250" dirty="0"/>
          </a:p>
        </p:txBody>
      </p:sp>
      <p:sp>
        <p:nvSpPr>
          <p:cNvPr id="28" name="Text 26"/>
          <p:cNvSpPr txBox="1"/>
          <p:nvPr/>
        </p:nvSpPr>
        <p:spPr>
          <a:xfrm>
            <a:off x="9326880" y="4343400"/>
            <a:ext cx="1874520" cy="274320"/>
          </a:xfrm>
          <a:prstGeom prst="rect">
            <a:avLst/>
          </a:prstGeom>
          <a:noFill/>
          <a:ln/>
        </p:spPr>
        <p:txBody>
          <a:bodyPr wrap="square" lIns="0" tIns="0" rIns="0" bIns="0" rtlCol="0" anchor="t"/>
          <a:lstStyle/>
          <a:p>
            <a:pPr algn="r" indent="0" marL="0">
              <a:buNone/>
            </a:pPr>
            <a:r>
              <a:rPr lang="en-US" sz="1200" dirty="0">
                <a:solidFill>
                  <a:srgbClr val="6B6360"/>
                </a:solidFill>
                <a:latin typeface="Calibri" pitchFamily="34" charset="0"/>
                <a:ea typeface="Calibri" pitchFamily="34" charset="-122"/>
                <a:cs typeface="Calibri" pitchFamily="34" charset="-120"/>
              </a:rPr>
              <a:t>50 stories</a:t>
            </a:r>
            <a:endParaRPr lang="en-US" sz="1200" dirty="0"/>
          </a:p>
        </p:txBody>
      </p:sp>
      <p:sp>
        <p:nvSpPr>
          <p:cNvPr id="29" name="Text 27"/>
          <p:cNvSpPr txBox="1"/>
          <p:nvPr/>
        </p:nvSpPr>
        <p:spPr>
          <a:xfrm>
            <a:off x="6702552" y="4636008"/>
            <a:ext cx="2606040" cy="274320"/>
          </a:xfrm>
          <a:prstGeom prst="rect">
            <a:avLst/>
          </a:prstGeom>
          <a:noFill/>
          <a:ln/>
        </p:spPr>
        <p:txBody>
          <a:bodyPr wrap="square" lIns="0" tIns="0" rIns="0" bIns="0" rtlCol="0" anchor="t"/>
          <a:lstStyle/>
          <a:p>
            <a:pPr indent="0" marL="0">
              <a:buNone/>
            </a:pPr>
            <a:r>
              <a:rPr lang="en-US" sz="1250" b="1" dirty="0">
                <a:solidFill>
                  <a:srgbClr val="1A1C1C"/>
                </a:solidFill>
                <a:latin typeface="Calibri" pitchFamily="34" charset="0"/>
                <a:ea typeface="Calibri" pitchFamily="34" charset="-122"/>
                <a:cs typeface="Calibri" pitchFamily="34" charset="-120"/>
              </a:rPr>
              <a:t>news · comments</a:t>
            </a:r>
            <a:endParaRPr lang="en-US" sz="1250" dirty="0"/>
          </a:p>
        </p:txBody>
      </p:sp>
      <p:sp>
        <p:nvSpPr>
          <p:cNvPr id="30" name="Text 28"/>
          <p:cNvSpPr txBox="1"/>
          <p:nvPr/>
        </p:nvSpPr>
        <p:spPr>
          <a:xfrm>
            <a:off x="9326880" y="4636008"/>
            <a:ext cx="1874520" cy="274320"/>
          </a:xfrm>
          <a:prstGeom prst="rect">
            <a:avLst/>
          </a:prstGeom>
          <a:noFill/>
          <a:ln/>
        </p:spPr>
        <p:txBody>
          <a:bodyPr wrap="square" lIns="0" tIns="0" rIns="0" bIns="0" rtlCol="0" anchor="t"/>
          <a:lstStyle/>
          <a:p>
            <a:pPr algn="r" indent="0" marL="0">
              <a:buNone/>
            </a:pPr>
            <a:r>
              <a:rPr lang="en-US" sz="1200" dirty="0">
                <a:solidFill>
                  <a:srgbClr val="6B6360"/>
                </a:solidFill>
                <a:latin typeface="Calibri" pitchFamily="34" charset="0"/>
                <a:ea typeface="Calibri" pitchFamily="34" charset="-122"/>
                <a:cs typeface="Calibri" pitchFamily="34" charset="-120"/>
              </a:rPr>
              <a:t>hall bulletins</a:t>
            </a:r>
            <a:endParaRPr lang="en-US" sz="1200" dirty="0"/>
          </a:p>
        </p:txBody>
      </p:sp>
      <p:sp>
        <p:nvSpPr>
          <p:cNvPr id="31" name="Text 29"/>
          <p:cNvSpPr txBox="1"/>
          <p:nvPr/>
        </p:nvSpPr>
        <p:spPr>
          <a:xfrm>
            <a:off x="6702552" y="4983480"/>
            <a:ext cx="4526280" cy="457200"/>
          </a:xfrm>
          <a:prstGeom prst="rect">
            <a:avLst/>
          </a:prstGeom>
          <a:noFill/>
          <a:ln/>
        </p:spPr>
        <p:txBody>
          <a:bodyPr wrap="square" lIns="0" tIns="0" rIns="0" bIns="0" rtlCol="0" anchor="t"/>
          <a:lstStyle/>
          <a:p>
            <a:pPr indent="0" marL="0">
              <a:buNone/>
            </a:pPr>
            <a:r>
              <a:rPr lang="en-US" sz="1150" i="1" dirty="0">
                <a:solidFill>
                  <a:srgbClr val="6B6360"/>
                </a:solidFill>
                <a:latin typeface="Calibri" pitchFamily="34" charset="0"/>
                <a:ea typeface="Calibri" pitchFamily="34" charset="-122"/>
                <a:cs typeface="Calibri" pitchFamily="34" charset="-120"/>
              </a:rPr>
              <a:t>News is mirrored from knust.edu.gh on a schedule.</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6F5"/>
        </a:solidFill>
      </p:bgPr>
    </p:bg>
    <p:spTree>
      <p:nvGrpSpPr>
        <p:cNvPr id="1" name=""/>
        <p:cNvGrpSpPr/>
        <p:nvPr/>
      </p:nvGrpSpPr>
      <p:grpSpPr>
        <a:xfrm>
          <a:off x="0" y="0"/>
          <a:ext cx="0" cy="0"/>
          <a:chOff x="0" y="0"/>
          <a:chExt cx="0" cy="0"/>
        </a:xfrm>
      </p:grpSpPr>
      <p:sp>
        <p:nvSpPr>
          <p:cNvPr id="2" name="Text 0"/>
          <p:cNvSpPr txBox="1"/>
          <p:nvPr/>
        </p:nvSpPr>
        <p:spPr>
          <a:xfrm>
            <a:off x="594360" y="457200"/>
            <a:ext cx="10058400" cy="621792"/>
          </a:xfrm>
          <a:prstGeom prst="rect">
            <a:avLst/>
          </a:prstGeom>
          <a:noFill/>
          <a:ln/>
        </p:spPr>
        <p:txBody>
          <a:bodyPr wrap="square" lIns="0" tIns="0" rIns="0" bIns="0" rtlCol="0" anchor="t"/>
          <a:lstStyle/>
          <a:p>
            <a:pPr indent="0" marL="0">
              <a:buNone/>
            </a:pPr>
            <a:r>
              <a:rPr lang="en-US" sz="3600" b="1" dirty="0">
                <a:solidFill>
                  <a:srgbClr val="1A1C1C"/>
                </a:solidFill>
                <a:latin typeface="Cambria" pitchFamily="34" charset="0"/>
                <a:ea typeface="Cambria" pitchFamily="34" charset="-122"/>
                <a:cs typeface="Cambria" pitchFamily="34" charset="-120"/>
              </a:rPr>
              <a:t>What runs by itself</a:t>
            </a:r>
            <a:endParaRPr lang="en-US" sz="3600" dirty="0"/>
          </a:p>
        </p:txBody>
      </p:sp>
      <p:sp>
        <p:nvSpPr>
          <p:cNvPr id="3" name="Text 1"/>
          <p:cNvSpPr txBox="1"/>
          <p:nvPr/>
        </p:nvSpPr>
        <p:spPr>
          <a:xfrm>
            <a:off x="594360" y="1106424"/>
            <a:ext cx="10607040" cy="347472"/>
          </a:xfrm>
          <a:prstGeom prst="rect">
            <a:avLst/>
          </a:prstGeom>
          <a:noFill/>
          <a:ln/>
        </p:spPr>
        <p:txBody>
          <a:bodyPr wrap="square" lIns="0" tIns="0" rIns="0" bIns="0" rtlCol="0" anchor="t"/>
          <a:lstStyle/>
          <a:p>
            <a:pPr indent="0" marL="0">
              <a:buNone/>
            </a:pPr>
            <a:r>
              <a:rPr lang="en-US" sz="1450" dirty="0">
                <a:solidFill>
                  <a:srgbClr val="6B6360"/>
                </a:solidFill>
                <a:latin typeface="Calibri" pitchFamily="34" charset="0"/>
                <a:ea typeface="Calibri" pitchFamily="34" charset="-122"/>
                <a:cs typeface="Calibri" pitchFamily="34" charset="-120"/>
              </a:rPr>
              <a:t>Eleven edge functions and a set of database triggers do the routine work.</a:t>
            </a:r>
            <a:endParaRPr lang="en-US" sz="1450" dirty="0"/>
          </a:p>
        </p:txBody>
      </p:sp>
      <p:sp>
        <p:nvSpPr>
          <p:cNvPr id="4" name="Shape 2"/>
          <p:cNvSpPr/>
          <p:nvPr/>
        </p:nvSpPr>
        <p:spPr>
          <a:xfrm>
            <a:off x="594360" y="1783080"/>
            <a:ext cx="10991088" cy="932688"/>
          </a:xfrm>
          <a:prstGeom prst="roundRect">
            <a:avLst>
              <a:gd name="adj" fmla="val 9804"/>
            </a:avLst>
          </a:prstGeom>
          <a:solidFill>
            <a:srgbClr val="FFFFFF"/>
          </a:solidFill>
          <a:ln w="9525">
            <a:solidFill>
              <a:srgbClr val="E4BEBA"/>
            </a:solidFill>
            <a:prstDash val="solid"/>
          </a:ln>
          <a:effectLst>
            <a:outerShdw sx="100000" sy="100000" kx="0" ky="0" algn="bl" rotWithShape="0" blurRad="127000" dist="25400" dir="5400000">
              <a:srgbClr val="8A7A78">
                <a:alpha val="18000"/>
              </a:srgbClr>
            </a:outerShdw>
          </a:effectLst>
        </p:spPr>
      </p:sp>
      <p:sp>
        <p:nvSpPr>
          <p:cNvPr id="5" name="Shape 3"/>
          <p:cNvSpPr/>
          <p:nvPr/>
        </p:nvSpPr>
        <p:spPr>
          <a:xfrm>
            <a:off x="932688" y="2011680"/>
            <a:ext cx="475488" cy="475488"/>
          </a:xfrm>
          <a:prstGeom prst="ellipse">
            <a:avLst/>
          </a:prstGeom>
          <a:solidFill>
            <a:srgbClr val="AF101A"/>
          </a:solidFill>
          <a:ln w="12700">
            <a:solidFill>
              <a:srgbClr val="AF101A"/>
            </a:solidFill>
            <a:prstDash val="solid"/>
          </a:ln>
        </p:spPr>
      </p:sp>
      <p:sp>
        <p:nvSpPr>
          <p:cNvPr id="6" name="Text 4"/>
          <p:cNvSpPr txBox="1"/>
          <p:nvPr/>
        </p:nvSpPr>
        <p:spPr>
          <a:xfrm>
            <a:off x="932688" y="2011680"/>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1600200" y="1929384"/>
            <a:ext cx="2880360" cy="310896"/>
          </a:xfrm>
          <a:prstGeom prst="rect">
            <a:avLst/>
          </a:prstGeom>
          <a:noFill/>
          <a:ln/>
        </p:spPr>
        <p:txBody>
          <a:bodyPr wrap="square" lIns="0" tIns="0" rIns="0" bIns="0" rtlCol="0" anchor="t"/>
          <a:lstStyle/>
          <a:p>
            <a:pPr indent="0" marL="0">
              <a:buNone/>
            </a:pPr>
            <a:r>
              <a:rPr lang="en-US" sz="1500" b="1" dirty="0">
                <a:solidFill>
                  <a:srgbClr val="2F3C7E"/>
                </a:solidFill>
                <a:latin typeface="Cambria" pitchFamily="34" charset="0"/>
                <a:ea typeface="Cambria" pitchFamily="34" charset="-122"/>
                <a:cs typeface="Cambria" pitchFamily="34" charset="-120"/>
              </a:rPr>
              <a:t>notify-admin</a:t>
            </a:r>
            <a:endParaRPr lang="en-US" sz="1500" dirty="0"/>
          </a:p>
        </p:txBody>
      </p:sp>
      <p:sp>
        <p:nvSpPr>
          <p:cNvPr id="8" name="Text 6"/>
          <p:cNvSpPr txBox="1"/>
          <p:nvPr/>
        </p:nvSpPr>
        <p:spPr>
          <a:xfrm>
            <a:off x="1600200" y="2276856"/>
            <a:ext cx="9601200" cy="310896"/>
          </a:xfrm>
          <a:prstGeom prst="rect">
            <a:avLst/>
          </a:prstGeom>
          <a:noFill/>
          <a:ln/>
        </p:spPr>
        <p:txBody>
          <a:bodyPr wrap="square" lIns="0" tIns="0" rIns="0" bIns="0" rtlCol="0" anchor="t"/>
          <a:lstStyle/>
          <a:p>
            <a:pPr indent="0" marL="0">
              <a:buNone/>
            </a:pPr>
            <a:r>
              <a:rPr lang="en-US" sz="1250" dirty="0">
                <a:solidFill>
                  <a:srgbClr val="4A4340"/>
                </a:solidFill>
                <a:latin typeface="Calibri" pitchFamily="34" charset="0"/>
                <a:ea typeface="Calibri" pitchFamily="34" charset="-122"/>
                <a:cs typeface="Calibri" pitchFamily="34" charset="-120"/>
              </a:rPr>
              <a:t>A new report emails the hall's admins immediately, with the photo count, priority and reference.</a:t>
            </a:r>
            <a:endParaRPr lang="en-US" sz="1250" dirty="0"/>
          </a:p>
        </p:txBody>
      </p:sp>
      <p:sp>
        <p:nvSpPr>
          <p:cNvPr id="9" name="Shape 7"/>
          <p:cNvSpPr/>
          <p:nvPr/>
        </p:nvSpPr>
        <p:spPr>
          <a:xfrm>
            <a:off x="594360" y="2825496"/>
            <a:ext cx="10991088" cy="932688"/>
          </a:xfrm>
          <a:prstGeom prst="roundRect">
            <a:avLst>
              <a:gd name="adj" fmla="val 9804"/>
            </a:avLst>
          </a:prstGeom>
          <a:solidFill>
            <a:srgbClr val="FFFFFF"/>
          </a:solidFill>
          <a:ln w="9525">
            <a:solidFill>
              <a:srgbClr val="E4BEBA"/>
            </a:solidFill>
            <a:prstDash val="solid"/>
          </a:ln>
          <a:effectLst>
            <a:outerShdw sx="100000" sy="100000" kx="0" ky="0" algn="bl" rotWithShape="0" blurRad="127000" dist="25400" dir="5400000">
              <a:srgbClr val="8A7A78">
                <a:alpha val="18000"/>
              </a:srgbClr>
            </a:outerShdw>
          </a:effectLst>
        </p:spPr>
      </p:sp>
      <p:sp>
        <p:nvSpPr>
          <p:cNvPr id="10" name="Shape 8"/>
          <p:cNvSpPr/>
          <p:nvPr/>
        </p:nvSpPr>
        <p:spPr>
          <a:xfrm>
            <a:off x="932688" y="3054096"/>
            <a:ext cx="475488" cy="475488"/>
          </a:xfrm>
          <a:prstGeom prst="ellipse">
            <a:avLst/>
          </a:prstGeom>
          <a:solidFill>
            <a:srgbClr val="AF101A"/>
          </a:solidFill>
          <a:ln w="12700">
            <a:solidFill>
              <a:srgbClr val="AF101A"/>
            </a:solidFill>
            <a:prstDash val="solid"/>
          </a:ln>
        </p:spPr>
      </p:sp>
      <p:sp>
        <p:nvSpPr>
          <p:cNvPr id="11" name="Text 9"/>
          <p:cNvSpPr txBox="1"/>
          <p:nvPr/>
        </p:nvSpPr>
        <p:spPr>
          <a:xfrm>
            <a:off x="932688" y="3054096"/>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txBox="1"/>
          <p:nvPr/>
        </p:nvSpPr>
        <p:spPr>
          <a:xfrm>
            <a:off x="1600200" y="2971800"/>
            <a:ext cx="2880360" cy="310896"/>
          </a:xfrm>
          <a:prstGeom prst="rect">
            <a:avLst/>
          </a:prstGeom>
          <a:noFill/>
          <a:ln/>
        </p:spPr>
        <p:txBody>
          <a:bodyPr wrap="square" lIns="0" tIns="0" rIns="0" bIns="0" rtlCol="0" anchor="t"/>
          <a:lstStyle/>
          <a:p>
            <a:pPr indent="0" marL="0">
              <a:buNone/>
            </a:pPr>
            <a:r>
              <a:rPr lang="en-US" sz="1500" b="1" dirty="0">
                <a:solidFill>
                  <a:srgbClr val="2F3C7E"/>
                </a:solidFill>
                <a:latin typeface="Cambria" pitchFamily="34" charset="0"/>
                <a:ea typeface="Cambria" pitchFamily="34" charset="-122"/>
                <a:cs typeface="Cambria" pitchFamily="34" charset="-120"/>
              </a:rPr>
              <a:t>send-status-email</a:t>
            </a:r>
            <a:endParaRPr lang="en-US" sz="1500" dirty="0"/>
          </a:p>
        </p:txBody>
      </p:sp>
      <p:sp>
        <p:nvSpPr>
          <p:cNvPr id="13" name="Text 11"/>
          <p:cNvSpPr txBox="1"/>
          <p:nvPr/>
        </p:nvSpPr>
        <p:spPr>
          <a:xfrm>
            <a:off x="1600200" y="3319272"/>
            <a:ext cx="9601200" cy="310896"/>
          </a:xfrm>
          <a:prstGeom prst="rect">
            <a:avLst/>
          </a:prstGeom>
          <a:noFill/>
          <a:ln/>
        </p:spPr>
        <p:txBody>
          <a:bodyPr wrap="square" lIns="0" tIns="0" rIns="0" bIns="0" rtlCol="0" anchor="t"/>
          <a:lstStyle/>
          <a:p>
            <a:pPr indent="0" marL="0">
              <a:buNone/>
            </a:pPr>
            <a:r>
              <a:rPr lang="en-US" sz="1250" dirty="0">
                <a:solidFill>
                  <a:srgbClr val="4A4340"/>
                </a:solidFill>
                <a:latin typeface="Calibri" pitchFamily="34" charset="0"/>
                <a:ea typeface="Calibri" pitchFamily="34" charset="-122"/>
                <a:cs typeface="Calibri" pitchFamily="34" charset="-120"/>
              </a:rPr>
              <a:t>A status change emails the student, so they hear about it without opening the app.</a:t>
            </a:r>
            <a:endParaRPr lang="en-US" sz="1250" dirty="0"/>
          </a:p>
        </p:txBody>
      </p:sp>
      <p:sp>
        <p:nvSpPr>
          <p:cNvPr id="14" name="Shape 12"/>
          <p:cNvSpPr/>
          <p:nvPr/>
        </p:nvSpPr>
        <p:spPr>
          <a:xfrm>
            <a:off x="594360" y="3867912"/>
            <a:ext cx="10991088" cy="932688"/>
          </a:xfrm>
          <a:prstGeom prst="roundRect">
            <a:avLst>
              <a:gd name="adj" fmla="val 9804"/>
            </a:avLst>
          </a:prstGeom>
          <a:solidFill>
            <a:srgbClr val="FFFFFF"/>
          </a:solidFill>
          <a:ln w="9525">
            <a:solidFill>
              <a:srgbClr val="E4BEBA"/>
            </a:solidFill>
            <a:prstDash val="solid"/>
          </a:ln>
          <a:effectLst>
            <a:outerShdw sx="100000" sy="100000" kx="0" ky="0" algn="bl" rotWithShape="0" blurRad="127000" dist="25400" dir="5400000">
              <a:srgbClr val="8A7A78">
                <a:alpha val="18000"/>
              </a:srgbClr>
            </a:outerShdw>
          </a:effectLst>
        </p:spPr>
      </p:sp>
      <p:sp>
        <p:nvSpPr>
          <p:cNvPr id="15" name="Shape 13"/>
          <p:cNvSpPr/>
          <p:nvPr/>
        </p:nvSpPr>
        <p:spPr>
          <a:xfrm>
            <a:off x="932688" y="4096512"/>
            <a:ext cx="475488" cy="475488"/>
          </a:xfrm>
          <a:prstGeom prst="ellipse">
            <a:avLst/>
          </a:prstGeom>
          <a:solidFill>
            <a:srgbClr val="AF101A"/>
          </a:solidFill>
          <a:ln w="12700">
            <a:solidFill>
              <a:srgbClr val="AF101A"/>
            </a:solidFill>
            <a:prstDash val="solid"/>
          </a:ln>
        </p:spPr>
      </p:sp>
      <p:sp>
        <p:nvSpPr>
          <p:cNvPr id="16" name="Text 14"/>
          <p:cNvSpPr txBox="1"/>
          <p:nvPr/>
        </p:nvSpPr>
        <p:spPr>
          <a:xfrm>
            <a:off x="932688" y="4096512"/>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txBox="1"/>
          <p:nvPr/>
        </p:nvSpPr>
        <p:spPr>
          <a:xfrm>
            <a:off x="1600200" y="4014216"/>
            <a:ext cx="2880360" cy="310896"/>
          </a:xfrm>
          <a:prstGeom prst="rect">
            <a:avLst/>
          </a:prstGeom>
          <a:noFill/>
          <a:ln/>
        </p:spPr>
        <p:txBody>
          <a:bodyPr wrap="square" lIns="0" tIns="0" rIns="0" bIns="0" rtlCol="0" anchor="t"/>
          <a:lstStyle/>
          <a:p>
            <a:pPr indent="0" marL="0">
              <a:buNone/>
            </a:pPr>
            <a:r>
              <a:rPr lang="en-US" sz="1500" b="1" dirty="0">
                <a:solidFill>
                  <a:srgbClr val="2F3C7E"/>
                </a:solidFill>
                <a:latin typeface="Cambria" pitchFamily="34" charset="0"/>
                <a:ea typeface="Cambria" pitchFamily="34" charset="-122"/>
                <a:cs typeface="Cambria" pitchFamily="34" charset="-120"/>
              </a:rPr>
              <a:t>knust-news-sync</a:t>
            </a:r>
            <a:endParaRPr lang="en-US" sz="1500" dirty="0"/>
          </a:p>
        </p:txBody>
      </p:sp>
      <p:sp>
        <p:nvSpPr>
          <p:cNvPr id="18" name="Text 16"/>
          <p:cNvSpPr txBox="1"/>
          <p:nvPr/>
        </p:nvSpPr>
        <p:spPr>
          <a:xfrm>
            <a:off x="1600200" y="4361688"/>
            <a:ext cx="9601200" cy="310896"/>
          </a:xfrm>
          <a:prstGeom prst="rect">
            <a:avLst/>
          </a:prstGeom>
          <a:noFill/>
          <a:ln/>
        </p:spPr>
        <p:txBody>
          <a:bodyPr wrap="square" lIns="0" tIns="0" rIns="0" bIns="0" rtlCol="0" anchor="t"/>
          <a:lstStyle/>
          <a:p>
            <a:pPr indent="0" marL="0">
              <a:buNone/>
            </a:pPr>
            <a:r>
              <a:rPr lang="en-US" sz="1250" dirty="0">
                <a:solidFill>
                  <a:srgbClr val="4A4340"/>
                </a:solidFill>
                <a:latin typeface="Calibri" pitchFamily="34" charset="0"/>
                <a:ea typeface="Calibri" pitchFamily="34" charset="-122"/>
                <a:cs typeface="Calibri" pitchFamily="34" charset="-120"/>
              </a:rPr>
              <a:t>Pulls the university news page into the database on a schedule, keeping the News tab current.</a:t>
            </a:r>
            <a:endParaRPr lang="en-US" sz="1250" dirty="0"/>
          </a:p>
        </p:txBody>
      </p:sp>
      <p:sp>
        <p:nvSpPr>
          <p:cNvPr id="19" name="Shape 17"/>
          <p:cNvSpPr/>
          <p:nvPr/>
        </p:nvSpPr>
        <p:spPr>
          <a:xfrm>
            <a:off x="594360" y="4910328"/>
            <a:ext cx="10991088" cy="932688"/>
          </a:xfrm>
          <a:prstGeom prst="roundRect">
            <a:avLst>
              <a:gd name="adj" fmla="val 9804"/>
            </a:avLst>
          </a:prstGeom>
          <a:solidFill>
            <a:srgbClr val="FFFFFF"/>
          </a:solidFill>
          <a:ln w="9525">
            <a:solidFill>
              <a:srgbClr val="E4BEBA"/>
            </a:solidFill>
            <a:prstDash val="solid"/>
          </a:ln>
          <a:effectLst>
            <a:outerShdw sx="100000" sy="100000" kx="0" ky="0" algn="bl" rotWithShape="0" blurRad="127000" dist="25400" dir="5400000">
              <a:srgbClr val="8A7A78">
                <a:alpha val="18000"/>
              </a:srgbClr>
            </a:outerShdw>
          </a:effectLst>
        </p:spPr>
      </p:sp>
      <p:sp>
        <p:nvSpPr>
          <p:cNvPr id="20" name="Shape 18"/>
          <p:cNvSpPr/>
          <p:nvPr/>
        </p:nvSpPr>
        <p:spPr>
          <a:xfrm>
            <a:off x="932688" y="5138928"/>
            <a:ext cx="475488" cy="475488"/>
          </a:xfrm>
          <a:prstGeom prst="ellipse">
            <a:avLst/>
          </a:prstGeom>
          <a:solidFill>
            <a:srgbClr val="AF101A"/>
          </a:solidFill>
          <a:ln w="12700">
            <a:solidFill>
              <a:srgbClr val="AF101A"/>
            </a:solidFill>
            <a:prstDash val="solid"/>
          </a:ln>
        </p:spPr>
      </p:sp>
      <p:sp>
        <p:nvSpPr>
          <p:cNvPr id="21" name="Text 19"/>
          <p:cNvSpPr txBox="1"/>
          <p:nvPr/>
        </p:nvSpPr>
        <p:spPr>
          <a:xfrm>
            <a:off x="932688" y="5138928"/>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20"/>
          <p:cNvSpPr txBox="1"/>
          <p:nvPr/>
        </p:nvSpPr>
        <p:spPr>
          <a:xfrm>
            <a:off x="1600200" y="5056632"/>
            <a:ext cx="2880360" cy="310896"/>
          </a:xfrm>
          <a:prstGeom prst="rect">
            <a:avLst/>
          </a:prstGeom>
          <a:noFill/>
          <a:ln/>
        </p:spPr>
        <p:txBody>
          <a:bodyPr wrap="square" lIns="0" tIns="0" rIns="0" bIns="0" rtlCol="0" anchor="t"/>
          <a:lstStyle/>
          <a:p>
            <a:pPr indent="0" marL="0">
              <a:buNone/>
            </a:pPr>
            <a:r>
              <a:rPr lang="en-US" sz="1500" b="1" dirty="0">
                <a:solidFill>
                  <a:srgbClr val="2F3C7E"/>
                </a:solidFill>
                <a:latin typeface="Cambria" pitchFamily="34" charset="0"/>
                <a:ea typeface="Cambria" pitchFamily="34" charset="-122"/>
                <a:cs typeface="Cambria" pitchFamily="34" charset="-120"/>
              </a:rPr>
              <a:t>AI-SUMMARY</a:t>
            </a:r>
            <a:endParaRPr lang="en-US" sz="1500" dirty="0"/>
          </a:p>
        </p:txBody>
      </p:sp>
      <p:sp>
        <p:nvSpPr>
          <p:cNvPr id="23" name="Text 21"/>
          <p:cNvSpPr txBox="1"/>
          <p:nvPr/>
        </p:nvSpPr>
        <p:spPr>
          <a:xfrm>
            <a:off x="1600200" y="5404104"/>
            <a:ext cx="9601200" cy="310896"/>
          </a:xfrm>
          <a:prstGeom prst="rect">
            <a:avLst/>
          </a:prstGeom>
          <a:noFill/>
          <a:ln/>
        </p:spPr>
        <p:txBody>
          <a:bodyPr wrap="square" lIns="0" tIns="0" rIns="0" bIns="0" rtlCol="0" anchor="t"/>
          <a:lstStyle/>
          <a:p>
            <a:pPr indent="0" marL="0">
              <a:buNone/>
            </a:pPr>
            <a:r>
              <a:rPr lang="en-US" sz="1250" dirty="0">
                <a:solidFill>
                  <a:srgbClr val="4A4340"/>
                </a:solidFill>
                <a:latin typeface="Calibri" pitchFamily="34" charset="0"/>
                <a:ea typeface="Calibri" pitchFamily="34" charset="-122"/>
                <a:cs typeface="Calibri" pitchFamily="34" charset="-120"/>
              </a:rPr>
              <a:t>Condenses report descriptions for the dashboard, so triage reads faster.</a:t>
            </a:r>
            <a:endParaRPr lang="en-US" sz="1250" dirty="0"/>
          </a:p>
        </p:txBody>
      </p:sp>
      <p:sp>
        <p:nvSpPr>
          <p:cNvPr id="24" name="Text 22"/>
          <p:cNvSpPr txBox="1"/>
          <p:nvPr/>
        </p:nvSpPr>
        <p:spPr>
          <a:xfrm>
            <a:off x="594360" y="5989320"/>
            <a:ext cx="10991088" cy="365760"/>
          </a:xfrm>
          <a:prstGeom prst="rect">
            <a:avLst/>
          </a:prstGeom>
          <a:noFill/>
          <a:ln/>
        </p:spPr>
        <p:txBody>
          <a:bodyPr wrap="square" lIns="0" tIns="0" rIns="0" bIns="0" rtlCol="0" anchor="t"/>
          <a:lstStyle/>
          <a:p>
            <a:pPr indent="0" marL="0">
              <a:buNone/>
            </a:pPr>
            <a:r>
              <a:rPr lang="en-US" sz="1250" i="1" dirty="0">
                <a:solidFill>
                  <a:srgbClr val="6B6360"/>
                </a:solidFill>
                <a:latin typeface="Calibri" pitchFamily="34" charset="0"/>
                <a:ea typeface="Calibri" pitchFamily="34" charset="-122"/>
                <a:cs typeface="Calibri" pitchFamily="34" charset="-120"/>
              </a:rPr>
              <a:t>Triggers call these through pg_net with a shared secret, so nothing is dispatched by the client.</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457200"/>
            <a:ext cx="10058400" cy="621792"/>
          </a:xfrm>
          <a:prstGeom prst="rect">
            <a:avLst/>
          </a:prstGeom>
          <a:noFill/>
          <a:ln/>
        </p:spPr>
        <p:txBody>
          <a:bodyPr wrap="square" lIns="0" tIns="0" rIns="0" bIns="0" rtlCol="0" anchor="t"/>
          <a:lstStyle/>
          <a:p>
            <a:pPr indent="0" marL="0">
              <a:buNone/>
            </a:pPr>
            <a:r>
              <a:rPr lang="en-US" sz="3600" b="1" dirty="0">
                <a:solidFill>
                  <a:srgbClr val="1A1C1C"/>
                </a:solidFill>
                <a:latin typeface="Cambria" pitchFamily="34" charset="0"/>
                <a:ea typeface="Cambria" pitchFamily="34" charset="-122"/>
                <a:cs typeface="Cambria" pitchFamily="34" charset="-120"/>
              </a:rPr>
              <a:t>Where it actually stands</a:t>
            </a:r>
            <a:endParaRPr lang="en-US" sz="3600" dirty="0"/>
          </a:p>
        </p:txBody>
      </p:sp>
      <p:sp>
        <p:nvSpPr>
          <p:cNvPr id="3" name="Text 1"/>
          <p:cNvSpPr txBox="1"/>
          <p:nvPr/>
        </p:nvSpPr>
        <p:spPr>
          <a:xfrm>
            <a:off x="594360" y="1106424"/>
            <a:ext cx="10607040" cy="347472"/>
          </a:xfrm>
          <a:prstGeom prst="rect">
            <a:avLst/>
          </a:prstGeom>
          <a:noFill/>
          <a:ln/>
        </p:spPr>
        <p:txBody>
          <a:bodyPr wrap="square" lIns="0" tIns="0" rIns="0" bIns="0" rtlCol="0" anchor="t"/>
          <a:lstStyle/>
          <a:p>
            <a:pPr indent="0" marL="0">
              <a:buNone/>
            </a:pPr>
            <a:r>
              <a:rPr lang="en-US" sz="1450" dirty="0">
                <a:solidFill>
                  <a:srgbClr val="6B6360"/>
                </a:solidFill>
                <a:latin typeface="Calibri" pitchFamily="34" charset="0"/>
                <a:ea typeface="Calibri" pitchFamily="34" charset="-122"/>
                <a:cs typeface="Calibri" pitchFamily="34" charset="-120"/>
              </a:rPr>
              <a:t>An honest read of what is live, what is dormant, and what has drifted.</a:t>
            </a:r>
            <a:endParaRPr lang="en-US" sz="1450" dirty="0"/>
          </a:p>
        </p:txBody>
      </p:sp>
      <p:sp>
        <p:nvSpPr>
          <p:cNvPr id="4" name="Shape 2"/>
          <p:cNvSpPr/>
          <p:nvPr/>
        </p:nvSpPr>
        <p:spPr>
          <a:xfrm>
            <a:off x="594360" y="1783080"/>
            <a:ext cx="3136392" cy="3108960"/>
          </a:xfrm>
          <a:prstGeom prst="roundRect">
            <a:avLst>
              <a:gd name="adj" fmla="val 2941"/>
            </a:avLst>
          </a:prstGeom>
          <a:solidFill>
            <a:srgbClr val="FFFFFF"/>
          </a:solidFill>
          <a:ln w="9525">
            <a:solidFill>
              <a:srgbClr val="E4BEBA"/>
            </a:solidFill>
            <a:prstDash val="solid"/>
          </a:ln>
          <a:effectLst>
            <a:outerShdw sx="100000" sy="100000" kx="0" ky="0" algn="bl" rotWithShape="0" blurRad="127000" dist="25400" dir="5400000">
              <a:srgbClr val="8A7A78">
                <a:alpha val="18000"/>
              </a:srgbClr>
            </a:outerShdw>
          </a:effectLst>
        </p:spPr>
      </p:sp>
      <p:sp>
        <p:nvSpPr>
          <p:cNvPr id="5" name="Text 3"/>
          <p:cNvSpPr txBox="1"/>
          <p:nvPr/>
        </p:nvSpPr>
        <p:spPr>
          <a:xfrm>
            <a:off x="914400" y="2029968"/>
            <a:ext cx="2514600" cy="365760"/>
          </a:xfrm>
          <a:prstGeom prst="rect">
            <a:avLst/>
          </a:prstGeom>
          <a:noFill/>
          <a:ln/>
        </p:spPr>
        <p:txBody>
          <a:bodyPr wrap="square" lIns="0" tIns="0" rIns="0" bIns="0" rtlCol="0" anchor="t"/>
          <a:lstStyle/>
          <a:p>
            <a:pPr indent="0" marL="0">
              <a:buNone/>
            </a:pPr>
            <a:r>
              <a:rPr lang="en-US" sz="1900" b="1" dirty="0">
                <a:solidFill>
                  <a:srgbClr val="AF101A"/>
                </a:solidFill>
                <a:latin typeface="Cambria" pitchFamily="34" charset="0"/>
                <a:ea typeface="Cambria" pitchFamily="34" charset="-122"/>
                <a:cs typeface="Cambria" pitchFamily="34" charset="-120"/>
              </a:rPr>
              <a:t>Working</a:t>
            </a:r>
            <a:endParaRPr lang="en-US" sz="1900" dirty="0"/>
          </a:p>
        </p:txBody>
      </p:sp>
      <p:sp>
        <p:nvSpPr>
          <p:cNvPr id="6" name="Text 4"/>
          <p:cNvSpPr txBox="1"/>
          <p:nvPr/>
        </p:nvSpPr>
        <p:spPr>
          <a:xfrm>
            <a:off x="868680" y="2514600"/>
            <a:ext cx="2606040" cy="2788920"/>
          </a:xfrm>
          <a:prstGeom prst="rect">
            <a:avLst/>
          </a:prstGeom>
          <a:noFill/>
          <a:ln/>
        </p:spPr>
        <p:txBody>
          <a:bodyPr wrap="square" lIns="0" tIns="0" rIns="0" bIns="0" rtlCol="0" anchor="t"/>
          <a:lstStyle/>
          <a:p>
            <a:pPr marL="342900" indent="-342900">
              <a:spcAft>
                <a:spcPts val="700"/>
              </a:spcAft>
              <a:buSzPct val="100000"/>
              <a:buChar char="•"/>
            </a:pPr>
            <a:r>
              <a:rPr lang="en-US" sz="1200" dirty="0">
                <a:solidFill>
                  <a:srgbClr val="4A4340"/>
                </a:solidFill>
                <a:latin typeface="Calibri" pitchFamily="34" charset="0"/>
                <a:ea typeface="Calibri" pitchFamily="34" charset="-122"/>
                <a:cs typeface="Calibri" pitchFamily="34" charset="-120"/>
              </a:rPr>
              <a:t>Reporting, tracking and status flow</a:t>
            </a:r>
            <a:endParaRPr lang="en-US" sz="1200" dirty="0"/>
          </a:p>
          <a:p>
            <a:pPr marL="342900" indent="-342900">
              <a:spcAft>
                <a:spcPts val="700"/>
              </a:spcAft>
              <a:buSzPct val="100000"/>
              <a:buChar char="•"/>
            </a:pPr>
            <a:r>
              <a:rPr lang="en-US" sz="1200" dirty="0">
                <a:solidFill>
                  <a:srgbClr val="4A4340"/>
                </a:solidFill>
                <a:latin typeface="Calibri" pitchFamily="34" charset="0"/>
                <a:ea typeface="Calibri" pitchFamily="34" charset="-122"/>
                <a:cs typeface="Calibri" pitchFamily="34" charset="-120"/>
              </a:rPr>
              <a:t>News and Emergency sections</a:t>
            </a:r>
            <a:endParaRPr lang="en-US" sz="1200" dirty="0"/>
          </a:p>
          <a:p>
            <a:pPr marL="342900" indent="-342900">
              <a:spcAft>
                <a:spcPts val="700"/>
              </a:spcAft>
              <a:buSzPct val="100000"/>
              <a:buChar char="•"/>
            </a:pPr>
            <a:r>
              <a:rPr lang="en-US" sz="1200" dirty="0">
                <a:solidFill>
                  <a:srgbClr val="4A4340"/>
                </a:solidFill>
                <a:latin typeface="Calibri" pitchFamily="34" charset="0"/>
                <a:ea typeface="Calibri" pitchFamily="34" charset="-122"/>
                <a:cs typeface="Calibri" pitchFamily="34" charset="-120"/>
              </a:rPr>
              <a:t>Role-based access on the dashboard</a:t>
            </a:r>
            <a:endParaRPr lang="en-US" sz="1200" dirty="0"/>
          </a:p>
          <a:p>
            <a:pPr marL="342900" indent="-342900">
              <a:spcAft>
                <a:spcPts val="700"/>
              </a:spcAft>
              <a:buSzPct val="100000"/>
              <a:buChar char="•"/>
            </a:pPr>
            <a:r>
              <a:rPr lang="en-US" sz="1200" dirty="0">
                <a:solidFill>
                  <a:srgbClr val="4A4340"/>
                </a:solidFill>
                <a:latin typeface="Calibri" pitchFamily="34" charset="0"/>
                <a:ea typeface="Calibri" pitchFamily="34" charset="-122"/>
                <a:cs typeface="Calibri" pitchFamily="34" charset="-120"/>
              </a:rPr>
              <a:t>Email alerts to admins and students</a:t>
            </a:r>
            <a:endParaRPr lang="en-US" sz="1200" dirty="0"/>
          </a:p>
        </p:txBody>
      </p:sp>
      <p:sp>
        <p:nvSpPr>
          <p:cNvPr id="7" name="Shape 5"/>
          <p:cNvSpPr/>
          <p:nvPr/>
        </p:nvSpPr>
        <p:spPr>
          <a:xfrm>
            <a:off x="4526280" y="1783080"/>
            <a:ext cx="3136392" cy="3108960"/>
          </a:xfrm>
          <a:prstGeom prst="roundRect">
            <a:avLst>
              <a:gd name="adj" fmla="val 2941"/>
            </a:avLst>
          </a:prstGeom>
          <a:solidFill>
            <a:srgbClr val="FFFFFF"/>
          </a:solidFill>
          <a:ln w="9525">
            <a:solidFill>
              <a:srgbClr val="E4BEBA"/>
            </a:solidFill>
            <a:prstDash val="solid"/>
          </a:ln>
          <a:effectLst>
            <a:outerShdw sx="100000" sy="100000" kx="0" ky="0" algn="bl" rotWithShape="0" blurRad="127000" dist="25400" dir="5400000">
              <a:srgbClr val="8A7A78">
                <a:alpha val="18000"/>
              </a:srgbClr>
            </a:outerShdw>
          </a:effectLst>
        </p:spPr>
      </p:sp>
      <p:sp>
        <p:nvSpPr>
          <p:cNvPr id="8" name="Text 6"/>
          <p:cNvSpPr txBox="1"/>
          <p:nvPr/>
        </p:nvSpPr>
        <p:spPr>
          <a:xfrm>
            <a:off x="4846320" y="2029968"/>
            <a:ext cx="2514600" cy="365760"/>
          </a:xfrm>
          <a:prstGeom prst="rect">
            <a:avLst/>
          </a:prstGeom>
          <a:noFill/>
          <a:ln/>
        </p:spPr>
        <p:txBody>
          <a:bodyPr wrap="square" lIns="0" tIns="0" rIns="0" bIns="0" rtlCol="0" anchor="t"/>
          <a:lstStyle/>
          <a:p>
            <a:pPr indent="0" marL="0">
              <a:buNone/>
            </a:pPr>
            <a:r>
              <a:rPr lang="en-US" sz="1900" b="1" dirty="0">
                <a:solidFill>
                  <a:srgbClr val="6B6360"/>
                </a:solidFill>
                <a:latin typeface="Cambria" pitchFamily="34" charset="0"/>
                <a:ea typeface="Cambria" pitchFamily="34" charset="-122"/>
                <a:cs typeface="Cambria" pitchFamily="34" charset="-120"/>
              </a:rPr>
              <a:t>Dormant</a:t>
            </a:r>
            <a:endParaRPr lang="en-US" sz="1900" dirty="0"/>
          </a:p>
        </p:txBody>
      </p:sp>
      <p:sp>
        <p:nvSpPr>
          <p:cNvPr id="9" name="Text 7"/>
          <p:cNvSpPr txBox="1"/>
          <p:nvPr/>
        </p:nvSpPr>
        <p:spPr>
          <a:xfrm>
            <a:off x="4800600" y="2514600"/>
            <a:ext cx="2606040" cy="2788920"/>
          </a:xfrm>
          <a:prstGeom prst="rect">
            <a:avLst/>
          </a:prstGeom>
          <a:noFill/>
          <a:ln/>
        </p:spPr>
        <p:txBody>
          <a:bodyPr wrap="square" lIns="0" tIns="0" rIns="0" bIns="0" rtlCol="0" anchor="t"/>
          <a:lstStyle/>
          <a:p>
            <a:pPr marL="342900" indent="-342900">
              <a:spcAft>
                <a:spcPts val="700"/>
              </a:spcAft>
              <a:buSzPct val="100000"/>
              <a:buChar char="•"/>
            </a:pPr>
            <a:r>
              <a:rPr lang="en-US" sz="1200" dirty="0">
                <a:solidFill>
                  <a:srgbClr val="4A4340"/>
                </a:solidFill>
                <a:latin typeface="Calibri" pitchFamily="34" charset="0"/>
                <a:ea typeface="Calibri" pitchFamily="34" charset="-122"/>
                <a:cs typeface="Calibri" pitchFamily="34" charset="-120"/>
              </a:rPr>
              <a:t>Push notifications — wired but no tokens registered and nothing sends them</a:t>
            </a:r>
            <a:endParaRPr lang="en-US" sz="1200" dirty="0"/>
          </a:p>
          <a:p>
            <a:pPr marL="342900" indent="-342900">
              <a:spcAft>
                <a:spcPts val="700"/>
              </a:spcAft>
              <a:buSzPct val="100000"/>
              <a:buChar char="•"/>
            </a:pPr>
            <a:r>
              <a:rPr lang="en-US" sz="1200" dirty="0">
                <a:solidFill>
                  <a:srgbClr val="4A4340"/>
                </a:solidFill>
                <a:latin typeface="Calibri" pitchFamily="34" charset="0"/>
                <a:ea typeface="Calibri" pitchFamily="34" charset="-122"/>
                <a:cs typeface="Calibri" pitchFamily="34" charset="-120"/>
              </a:rPr>
              <a:t>Support chat — tables exist, unused</a:t>
            </a:r>
            <a:endParaRPr lang="en-US" sz="1200" dirty="0"/>
          </a:p>
          <a:p>
            <a:pPr marL="342900" indent="-342900">
              <a:spcAft>
                <a:spcPts val="700"/>
              </a:spcAft>
              <a:buSzPct val="100000"/>
              <a:buChar char="•"/>
            </a:pPr>
            <a:r>
              <a:rPr lang="en-US" sz="1200" dirty="0">
                <a:solidFill>
                  <a:srgbClr val="4A4340"/>
                </a:solidFill>
                <a:latin typeface="Calibri" pitchFamily="34" charset="0"/>
                <a:ea typeface="Calibri" pitchFamily="34" charset="-122"/>
                <a:cs typeface="Calibri" pitchFamily="34" charset="-120"/>
              </a:rPr>
              <a:t>Appointments — schema ready, none booked</a:t>
            </a:r>
            <a:endParaRPr lang="en-US" sz="1200" dirty="0"/>
          </a:p>
        </p:txBody>
      </p:sp>
      <p:sp>
        <p:nvSpPr>
          <p:cNvPr id="10" name="Shape 8"/>
          <p:cNvSpPr/>
          <p:nvPr/>
        </p:nvSpPr>
        <p:spPr>
          <a:xfrm>
            <a:off x="8458200" y="1783080"/>
            <a:ext cx="3136392" cy="3108960"/>
          </a:xfrm>
          <a:prstGeom prst="roundRect">
            <a:avLst>
              <a:gd name="adj" fmla="val 2941"/>
            </a:avLst>
          </a:prstGeom>
          <a:solidFill>
            <a:srgbClr val="FFFFFF"/>
          </a:solidFill>
          <a:ln w="9525">
            <a:solidFill>
              <a:srgbClr val="E4BEBA"/>
            </a:solidFill>
            <a:prstDash val="solid"/>
          </a:ln>
          <a:effectLst>
            <a:outerShdw sx="100000" sy="100000" kx="0" ky="0" algn="bl" rotWithShape="0" blurRad="127000" dist="25400" dir="5400000">
              <a:srgbClr val="8A7A78">
                <a:alpha val="18000"/>
              </a:srgbClr>
            </a:outerShdw>
          </a:effectLst>
        </p:spPr>
      </p:sp>
      <p:sp>
        <p:nvSpPr>
          <p:cNvPr id="11" name="Text 9"/>
          <p:cNvSpPr txBox="1"/>
          <p:nvPr/>
        </p:nvSpPr>
        <p:spPr>
          <a:xfrm>
            <a:off x="8778240" y="2029968"/>
            <a:ext cx="2514600" cy="365760"/>
          </a:xfrm>
          <a:prstGeom prst="rect">
            <a:avLst/>
          </a:prstGeom>
          <a:noFill/>
          <a:ln/>
        </p:spPr>
        <p:txBody>
          <a:bodyPr wrap="square" lIns="0" tIns="0" rIns="0" bIns="0" rtlCol="0" anchor="t"/>
          <a:lstStyle/>
          <a:p>
            <a:pPr indent="0" marL="0">
              <a:buNone/>
            </a:pPr>
            <a:r>
              <a:rPr lang="en-US" sz="1900" b="1" dirty="0">
                <a:solidFill>
                  <a:srgbClr val="2F3C7E"/>
                </a:solidFill>
                <a:latin typeface="Cambria" pitchFamily="34" charset="0"/>
                <a:ea typeface="Cambria" pitchFamily="34" charset="-122"/>
                <a:cs typeface="Cambria" pitchFamily="34" charset="-120"/>
              </a:rPr>
              <a:t>Needs attention</a:t>
            </a:r>
            <a:endParaRPr lang="en-US" sz="1900" dirty="0"/>
          </a:p>
        </p:txBody>
      </p:sp>
      <p:sp>
        <p:nvSpPr>
          <p:cNvPr id="12" name="Text 10"/>
          <p:cNvSpPr txBox="1"/>
          <p:nvPr/>
        </p:nvSpPr>
        <p:spPr>
          <a:xfrm>
            <a:off x="8732520" y="2514600"/>
            <a:ext cx="2606040" cy="2788920"/>
          </a:xfrm>
          <a:prstGeom prst="rect">
            <a:avLst/>
          </a:prstGeom>
          <a:noFill/>
          <a:ln/>
        </p:spPr>
        <p:txBody>
          <a:bodyPr wrap="square" lIns="0" tIns="0" rIns="0" bIns="0" rtlCol="0" anchor="t"/>
          <a:lstStyle/>
          <a:p>
            <a:pPr marL="342900" indent="-342900">
              <a:spcAft>
                <a:spcPts val="700"/>
              </a:spcAft>
              <a:buSzPct val="100000"/>
              <a:buChar char="•"/>
            </a:pPr>
            <a:r>
              <a:rPr lang="en-US" sz="1200" dirty="0">
                <a:solidFill>
                  <a:srgbClr val="4A4340"/>
                </a:solidFill>
                <a:latin typeface="Calibri" pitchFamily="34" charset="0"/>
                <a:ea typeface="Calibri" pitchFamily="34" charset="-122"/>
                <a:cs typeface="Calibri" pitchFamily="34" charset="-120"/>
              </a:rPr>
              <a:t>Documentation still describes a mock server and a technician portal, both removed</a:t>
            </a:r>
            <a:endParaRPr lang="en-US" sz="1200" dirty="0"/>
          </a:p>
          <a:p>
            <a:pPr marL="342900" indent="-342900">
              <a:spcAft>
                <a:spcPts val="700"/>
              </a:spcAft>
              <a:buSzPct val="100000"/>
              <a:buChar char="•"/>
            </a:pPr>
            <a:r>
              <a:rPr lang="en-US" sz="1200" dirty="0">
                <a:solidFill>
                  <a:srgbClr val="4A4340"/>
                </a:solidFill>
                <a:latin typeface="Calibri" pitchFamily="34" charset="0"/>
                <a:ea typeface="Calibri" pitchFamily="34" charset="-122"/>
                <a:cs typeface="Calibri" pitchFamily="34" charset="-120"/>
              </a:rPr>
              <a:t>Two dead dashboard pages left in the tree</a:t>
            </a:r>
            <a:endParaRPr lang="en-US" sz="1200" dirty="0"/>
          </a:p>
          <a:p>
            <a:pPr marL="342900" indent="-342900">
              <a:spcAft>
                <a:spcPts val="700"/>
              </a:spcAft>
              <a:buSzPct val="100000"/>
              <a:buChar char="•"/>
            </a:pPr>
            <a:r>
              <a:rPr lang="en-US" sz="1200" dirty="0">
                <a:solidFill>
                  <a:srgbClr val="4A4340"/>
                </a:solidFill>
                <a:latin typeface="Calibri" pitchFamily="34" charset="0"/>
                <a:ea typeface="Calibri" pitchFamily="34" charset="-122"/>
                <a:cs typeface="Calibri" pitchFamily="34" charset="-120"/>
              </a:rPr>
              <a:t>Android package is still com.anonymous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C1C"/>
        </a:solidFill>
      </p:bgPr>
    </p:bg>
    <p:spTree>
      <p:nvGrpSpPr>
        <p:cNvPr id="1" name=""/>
        <p:cNvGrpSpPr/>
        <p:nvPr/>
      </p:nvGrpSpPr>
      <p:grpSpPr>
        <a:xfrm>
          <a:off x="0" y="0"/>
          <a:ext cx="0" cy="0"/>
          <a:chOff x="0" y="0"/>
          <a:chExt cx="0" cy="0"/>
        </a:xfrm>
      </p:grpSpPr>
      <p:sp>
        <p:nvSpPr>
          <p:cNvPr id="2" name="Text 0"/>
          <p:cNvSpPr txBox="1"/>
          <p:nvPr/>
        </p:nvSpPr>
        <p:spPr>
          <a:xfrm>
            <a:off x="822960" y="1005840"/>
            <a:ext cx="8229600" cy="7315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In short</a:t>
            </a:r>
            <a:endParaRPr lang="en-US" sz="4000" dirty="0"/>
          </a:p>
        </p:txBody>
      </p:sp>
      <p:sp>
        <p:nvSpPr>
          <p:cNvPr id="3" name="Text 1"/>
          <p:cNvSpPr txBox="1"/>
          <p:nvPr/>
        </p:nvSpPr>
        <p:spPr>
          <a:xfrm>
            <a:off x="822960" y="2194560"/>
            <a:ext cx="2468880" cy="914400"/>
          </a:xfrm>
          <a:prstGeom prst="rect">
            <a:avLst/>
          </a:prstGeom>
          <a:noFill/>
          <a:ln/>
        </p:spPr>
        <p:txBody>
          <a:bodyPr wrap="square" lIns="0" tIns="0" rIns="0" bIns="0" rtlCol="0" anchor="ctr"/>
          <a:lstStyle/>
          <a:p>
            <a:pPr indent="0" marL="0">
              <a:buNone/>
            </a:pPr>
            <a:r>
              <a:rPr lang="en-US" sz="5800" b="1" dirty="0">
                <a:solidFill>
                  <a:srgbClr val="AF101A"/>
                </a:solidFill>
                <a:latin typeface="Cambria" pitchFamily="34" charset="0"/>
                <a:ea typeface="Cambria" pitchFamily="34" charset="-122"/>
                <a:cs typeface="Cambria" pitchFamily="34" charset="-120"/>
              </a:rPr>
              <a:t>2</a:t>
            </a:r>
            <a:endParaRPr lang="en-US" sz="5800" dirty="0"/>
          </a:p>
        </p:txBody>
      </p:sp>
      <p:sp>
        <p:nvSpPr>
          <p:cNvPr id="4" name="Text 2"/>
          <p:cNvSpPr txBox="1"/>
          <p:nvPr/>
        </p:nvSpPr>
        <p:spPr>
          <a:xfrm>
            <a:off x="822960" y="3127248"/>
            <a:ext cx="2468880" cy="457200"/>
          </a:xfrm>
          <a:prstGeom prst="rect">
            <a:avLst/>
          </a:prstGeom>
          <a:noFill/>
          <a:ln/>
        </p:spPr>
        <p:txBody>
          <a:bodyPr wrap="square" lIns="0" tIns="0" rIns="0" bIns="0" rtlCol="0" anchor="ctr"/>
          <a:lstStyle/>
          <a:p>
            <a:pPr indent="0" marL="0">
              <a:buNone/>
            </a:pPr>
            <a:r>
              <a:rPr lang="en-US" sz="1400" dirty="0">
                <a:solidFill>
                  <a:srgbClr val="C9BFBD"/>
                </a:solidFill>
                <a:latin typeface="Calibri" pitchFamily="34" charset="0"/>
                <a:ea typeface="Calibri" pitchFamily="34" charset="-122"/>
                <a:cs typeface="Calibri" pitchFamily="34" charset="-120"/>
              </a:rPr>
              <a:t>applications</a:t>
            </a:r>
            <a:endParaRPr lang="en-US" sz="1400" dirty="0"/>
          </a:p>
        </p:txBody>
      </p:sp>
      <p:sp>
        <p:nvSpPr>
          <p:cNvPr id="5" name="Text 3"/>
          <p:cNvSpPr txBox="1"/>
          <p:nvPr/>
        </p:nvSpPr>
        <p:spPr>
          <a:xfrm>
            <a:off x="3657600" y="2194560"/>
            <a:ext cx="2468880" cy="914400"/>
          </a:xfrm>
          <a:prstGeom prst="rect">
            <a:avLst/>
          </a:prstGeom>
          <a:noFill/>
          <a:ln/>
        </p:spPr>
        <p:txBody>
          <a:bodyPr wrap="square" lIns="0" tIns="0" rIns="0" bIns="0" rtlCol="0" anchor="ctr"/>
          <a:lstStyle/>
          <a:p>
            <a:pPr indent="0" marL="0">
              <a:buNone/>
            </a:pPr>
            <a:r>
              <a:rPr lang="en-US" sz="5800" b="1" dirty="0">
                <a:solidFill>
                  <a:srgbClr val="AF101A"/>
                </a:solidFill>
                <a:latin typeface="Cambria" pitchFamily="34" charset="0"/>
                <a:ea typeface="Cambria" pitchFamily="34" charset="-122"/>
                <a:cs typeface="Cambria" pitchFamily="34" charset="-120"/>
              </a:rPr>
              <a:t>16</a:t>
            </a:r>
            <a:endParaRPr lang="en-US" sz="5800" dirty="0"/>
          </a:p>
        </p:txBody>
      </p:sp>
      <p:sp>
        <p:nvSpPr>
          <p:cNvPr id="6" name="Text 4"/>
          <p:cNvSpPr txBox="1"/>
          <p:nvPr/>
        </p:nvSpPr>
        <p:spPr>
          <a:xfrm>
            <a:off x="3657600" y="3127248"/>
            <a:ext cx="2468880" cy="457200"/>
          </a:xfrm>
          <a:prstGeom prst="rect">
            <a:avLst/>
          </a:prstGeom>
          <a:noFill/>
          <a:ln/>
        </p:spPr>
        <p:txBody>
          <a:bodyPr wrap="square" lIns="0" tIns="0" rIns="0" bIns="0" rtlCol="0" anchor="ctr"/>
          <a:lstStyle/>
          <a:p>
            <a:pPr indent="0" marL="0">
              <a:buNone/>
            </a:pPr>
            <a:r>
              <a:rPr lang="en-US" sz="1400" dirty="0">
                <a:solidFill>
                  <a:srgbClr val="C9BFBD"/>
                </a:solidFill>
                <a:latin typeface="Calibri" pitchFamily="34" charset="0"/>
                <a:ea typeface="Calibri" pitchFamily="34" charset="-122"/>
                <a:cs typeface="Calibri" pitchFamily="34" charset="-120"/>
              </a:rPr>
              <a:t>database tables</a:t>
            </a:r>
            <a:endParaRPr lang="en-US" sz="1400" dirty="0"/>
          </a:p>
        </p:txBody>
      </p:sp>
      <p:sp>
        <p:nvSpPr>
          <p:cNvPr id="7" name="Text 5"/>
          <p:cNvSpPr txBox="1"/>
          <p:nvPr/>
        </p:nvSpPr>
        <p:spPr>
          <a:xfrm>
            <a:off x="6492240" y="2194560"/>
            <a:ext cx="2468880" cy="914400"/>
          </a:xfrm>
          <a:prstGeom prst="rect">
            <a:avLst/>
          </a:prstGeom>
          <a:noFill/>
          <a:ln/>
        </p:spPr>
        <p:txBody>
          <a:bodyPr wrap="square" lIns="0" tIns="0" rIns="0" bIns="0" rtlCol="0" anchor="ctr"/>
          <a:lstStyle/>
          <a:p>
            <a:pPr indent="0" marL="0">
              <a:buNone/>
            </a:pPr>
            <a:r>
              <a:rPr lang="en-US" sz="5800" b="1" dirty="0">
                <a:solidFill>
                  <a:srgbClr val="AF101A"/>
                </a:solidFill>
                <a:latin typeface="Cambria" pitchFamily="34" charset="0"/>
                <a:ea typeface="Cambria" pitchFamily="34" charset="-122"/>
                <a:cs typeface="Cambria" pitchFamily="34" charset="-120"/>
              </a:rPr>
              <a:t>11</a:t>
            </a:r>
            <a:endParaRPr lang="en-US" sz="5800" dirty="0"/>
          </a:p>
        </p:txBody>
      </p:sp>
      <p:sp>
        <p:nvSpPr>
          <p:cNvPr id="8" name="Text 6"/>
          <p:cNvSpPr txBox="1"/>
          <p:nvPr/>
        </p:nvSpPr>
        <p:spPr>
          <a:xfrm>
            <a:off x="6492240" y="3127248"/>
            <a:ext cx="2468880" cy="457200"/>
          </a:xfrm>
          <a:prstGeom prst="rect">
            <a:avLst/>
          </a:prstGeom>
          <a:noFill/>
          <a:ln/>
        </p:spPr>
        <p:txBody>
          <a:bodyPr wrap="square" lIns="0" tIns="0" rIns="0" bIns="0" rtlCol="0" anchor="ctr"/>
          <a:lstStyle/>
          <a:p>
            <a:pPr indent="0" marL="0">
              <a:buNone/>
            </a:pPr>
            <a:r>
              <a:rPr lang="en-US" sz="1400" dirty="0">
                <a:solidFill>
                  <a:srgbClr val="C9BFBD"/>
                </a:solidFill>
                <a:latin typeface="Calibri" pitchFamily="34" charset="0"/>
                <a:ea typeface="Calibri" pitchFamily="34" charset="-122"/>
                <a:cs typeface="Calibri" pitchFamily="34" charset="-120"/>
              </a:rPr>
              <a:t>edge functions</a:t>
            </a:r>
            <a:endParaRPr lang="en-US" sz="1400" dirty="0"/>
          </a:p>
        </p:txBody>
      </p:sp>
      <p:sp>
        <p:nvSpPr>
          <p:cNvPr id="9" name="Text 7"/>
          <p:cNvSpPr txBox="1"/>
          <p:nvPr/>
        </p:nvSpPr>
        <p:spPr>
          <a:xfrm>
            <a:off x="9326880" y="2194560"/>
            <a:ext cx="2468880" cy="914400"/>
          </a:xfrm>
          <a:prstGeom prst="rect">
            <a:avLst/>
          </a:prstGeom>
          <a:noFill/>
          <a:ln/>
        </p:spPr>
        <p:txBody>
          <a:bodyPr wrap="square" lIns="0" tIns="0" rIns="0" bIns="0" rtlCol="0" anchor="ctr"/>
          <a:lstStyle/>
          <a:p>
            <a:pPr indent="0" marL="0">
              <a:buNone/>
            </a:pPr>
            <a:r>
              <a:rPr lang="en-US" sz="5800" b="1" dirty="0">
                <a:solidFill>
                  <a:srgbClr val="AF101A"/>
                </a:solidFill>
                <a:latin typeface="Cambria" pitchFamily="34" charset="0"/>
                <a:ea typeface="Cambria" pitchFamily="34" charset="-122"/>
                <a:cs typeface="Cambria" pitchFamily="34" charset="-120"/>
              </a:rPr>
              <a:t>6</a:t>
            </a:r>
            <a:endParaRPr lang="en-US" sz="5800" dirty="0"/>
          </a:p>
        </p:txBody>
      </p:sp>
      <p:sp>
        <p:nvSpPr>
          <p:cNvPr id="10" name="Text 8"/>
          <p:cNvSpPr txBox="1"/>
          <p:nvPr/>
        </p:nvSpPr>
        <p:spPr>
          <a:xfrm>
            <a:off x="9326880" y="3127248"/>
            <a:ext cx="2468880" cy="457200"/>
          </a:xfrm>
          <a:prstGeom prst="rect">
            <a:avLst/>
          </a:prstGeom>
          <a:noFill/>
          <a:ln/>
        </p:spPr>
        <p:txBody>
          <a:bodyPr wrap="square" lIns="0" tIns="0" rIns="0" bIns="0" rtlCol="0" anchor="ctr"/>
          <a:lstStyle/>
          <a:p>
            <a:pPr indent="0" marL="0">
              <a:buNone/>
            </a:pPr>
            <a:r>
              <a:rPr lang="en-US" sz="1400" dirty="0">
                <a:solidFill>
                  <a:srgbClr val="C9BFBD"/>
                </a:solidFill>
                <a:latin typeface="Calibri" pitchFamily="34" charset="0"/>
                <a:ea typeface="Calibri" pitchFamily="34" charset="-122"/>
                <a:cs typeface="Calibri" pitchFamily="34" charset="-120"/>
              </a:rPr>
              <a:t>halls covered</a:t>
            </a:r>
            <a:endParaRPr lang="en-US" sz="1400" dirty="0"/>
          </a:p>
        </p:txBody>
      </p:sp>
      <p:sp>
        <p:nvSpPr>
          <p:cNvPr id="11" name="Text 9"/>
          <p:cNvSpPr txBox="1"/>
          <p:nvPr/>
        </p:nvSpPr>
        <p:spPr>
          <a:xfrm>
            <a:off x="822960" y="4206240"/>
            <a:ext cx="10515600" cy="1188720"/>
          </a:xfrm>
          <a:prstGeom prst="rect">
            <a:avLst/>
          </a:prstGeom>
          <a:noFill/>
          <a:ln/>
        </p:spPr>
        <p:txBody>
          <a:bodyPr wrap="square" lIns="0" tIns="0" rIns="0" bIns="0" rtlCol="0" anchor="t"/>
          <a:lstStyle/>
          <a:p>
            <a:pPr indent="0" marL="0">
              <a:lnSpc>
                <a:spcPct val="125000"/>
              </a:lnSpc>
              <a:buNone/>
            </a:pPr>
            <a:r>
              <a:rPr lang="en-US" sz="1600" dirty="0">
                <a:solidFill>
                  <a:srgbClr val="FCF6F5"/>
                </a:solidFill>
                <a:latin typeface="Calibri" pitchFamily="34" charset="0"/>
                <a:ea typeface="Calibri" pitchFamily="34" charset="-122"/>
                <a:cs typeface="Calibri" pitchFamily="34" charset="-120"/>
              </a:rPr>
              <a:t>A student reports a broken light from their room. The hall admin sees it within seconds and is emailed about it. The repair is scheduled, and the student watches the status change without asking anyone. That loop is the whole project.</a:t>
            </a:r>
            <a:endParaRPr lang="en-US" sz="1600" dirty="0"/>
          </a:p>
        </p:txBody>
      </p:sp>
      <p:sp>
        <p:nvSpPr>
          <p:cNvPr id="12" name="Text 10"/>
          <p:cNvSpPr txBox="1"/>
          <p:nvPr/>
        </p:nvSpPr>
        <p:spPr>
          <a:xfrm>
            <a:off x="822960" y="5806440"/>
            <a:ext cx="5486400" cy="365760"/>
          </a:xfrm>
          <a:prstGeom prst="rect">
            <a:avLst/>
          </a:prstGeom>
          <a:noFill/>
          <a:ln/>
        </p:spPr>
        <p:txBody>
          <a:bodyPr wrap="square" lIns="0" tIns="0" rIns="0" bIns="0" rtlCol="0" anchor="ctr"/>
          <a:lstStyle/>
          <a:p>
            <a:pPr indent="0" marL="0">
              <a:buNone/>
            </a:pPr>
            <a:r>
              <a:rPr lang="en-US" sz="1400" b="1" dirty="0">
                <a:solidFill>
                  <a:srgbClr val="8A7E7C"/>
                </a:solidFill>
                <a:latin typeface="Cambria" pitchFamily="34" charset="0"/>
                <a:ea typeface="Cambria" pitchFamily="34" charset="-122"/>
                <a:cs typeface="Cambria" pitchFamily="34" charset="-120"/>
              </a:rPr>
              <a:t>ResiFix KNUST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ResiFix KNUST — System Summary</dc:title>
  <dc:subject>PptxGenJS Presentation</dc:subject>
  <dc:creator>ResiFix KNUST</dc:creator>
  <cp:lastModifiedBy>ResiFix KNUST</cp:lastModifiedBy>
  <cp:revision>1</cp:revision>
  <dcterms:created xsi:type="dcterms:W3CDTF">2026-09-10T08:52:36Z</dcterms:created>
  <dcterms:modified xsi:type="dcterms:W3CDTF">2026-09-10T08:52:36Z</dcterms:modified>
</cp:coreProperties>
</file>