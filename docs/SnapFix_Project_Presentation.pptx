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SnapFix digitises the paper logbook process used in KNUST halls. Two applications, one backend. This deck covers the problem, the design, the implementation and the verification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existing process is entirely manual. Four distinct failure modes come out of it, and each one is addressed by a specific feature later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The last two — automatic alerts and hall isolation — were added after the initial scope, once the system had real users in more than one hall.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specific: mobile-native capture and notifications, modelled on halls, floors and rooms rather than leases, at no licence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bespoke application server. Both clients talk to Supabase directly, and the security rules live in the database, which is what makes a single set of rules cover both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Justification for Scrum: device-dependent features cannot be validated on paper, so short sprints ending in an installable build were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per-hall theming is the feature students respond to most in demos — it signals the app was built for KNUST specifically rather than adapted from 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is the one that carries the security property. The address is write-once, and reports inherit it server-side.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pages — technician dashboard and a separate triage page — exist as stubs and are listed under future work rather than claimed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decision: these are not interface rules. Each bullet corresponds to a policy or constraint in PostgreSQL, so the same boundary applies to the REST API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tables in total; these six carry the workflow. Chat and push-token tables exist and are partially wired.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respond well to a candid finding. It demonstrates that the system was audited rather than assumed correct, and that the fix was verified by re-running the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End-to-end verified: a submitted report produced both notification rows and a delivered email, with the provider's message id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TC-04 to TC-06: testing through the UI only proves the UI hides things. These were executed as each role against the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lessons are the part a panel usually probes. The middle one is the strongest defensible claim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specific about what does not work is more credible than claiming completeness. Each limitation names where it sits in the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the panel to the two strongest points: the database-enforced hall boundary, and the audit that found and fixed a real vulnerability.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C1C"/>
        </a:solidFill>
      </p:bgPr>
    </p:bg>
    <p:spTree>
      <p:nvGrpSpPr>
        <p:cNvPr id="1" name=""/>
        <p:cNvGrpSpPr/>
        <p:nvPr/>
      </p:nvGrpSpPr>
      <p:grpSpPr>
        <a:xfrm>
          <a:off x="0" y="0"/>
          <a:ext cx="0" cy="0"/>
          <a:chOff x="0" y="0"/>
          <a:chExt cx="0" cy="0"/>
        </a:xfrm>
      </p:grpSpPr>
      <p:sp>
        <p:nvSpPr>
          <p:cNvPr id="2" name="Text 0"/>
          <p:cNvSpPr txBox="1"/>
          <p:nvPr/>
        </p:nvSpPr>
        <p:spPr>
          <a:xfrm>
            <a:off x="566928" y="1417320"/>
            <a:ext cx="11055096" cy="310896"/>
          </a:xfrm>
          <a:prstGeom prst="rect">
            <a:avLst/>
          </a:prstGeom>
          <a:noFill/>
          <a:ln/>
        </p:spPr>
        <p:txBody>
          <a:bodyPr wrap="square" lIns="0" tIns="0" rIns="0" bIns="0" rtlCol="0" anchor="ctr"/>
          <a:lstStyle/>
          <a:p>
            <a:pPr indent="0" marL="0">
              <a:buNone/>
            </a:pPr>
            <a:r>
              <a:rPr lang="en-US" sz="1400" b="1" spc="300" kern="0" dirty="0">
                <a:solidFill>
                  <a:srgbClr val="F5C518"/>
                </a:solidFill>
                <a:latin typeface="Calibri" pitchFamily="34" charset="0"/>
                <a:ea typeface="Calibri" pitchFamily="34" charset="-122"/>
                <a:cs typeface="Calibri" pitchFamily="34" charset="-120"/>
              </a:rPr>
              <a:t>FINAL YEAR PROJECT  ·  KNUST COLLEGE OF ENGINEERING</a:t>
            </a:r>
            <a:endParaRPr lang="en-US" sz="1400" dirty="0"/>
          </a:p>
        </p:txBody>
      </p:sp>
      <p:sp>
        <p:nvSpPr>
          <p:cNvPr id="3" name="Text 1"/>
          <p:cNvSpPr txBox="1"/>
          <p:nvPr/>
        </p:nvSpPr>
        <p:spPr>
          <a:xfrm>
            <a:off x="566928" y="1828800"/>
            <a:ext cx="9692640" cy="1737360"/>
          </a:xfrm>
          <a:prstGeom prst="rect">
            <a:avLst/>
          </a:prstGeom>
          <a:noFill/>
          <a:ln/>
        </p:spPr>
        <p:txBody>
          <a:bodyPr wrap="square" lIns="0" tIns="0" rIns="0" bIns="0" rtlCol="0" anchor="ctr"/>
          <a:lstStyle/>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SnapFix</a:t>
            </a:r>
            <a:endParaRPr lang="en-US" sz="5400" dirty="0"/>
          </a:p>
        </p:txBody>
      </p:sp>
      <p:sp>
        <p:nvSpPr>
          <p:cNvPr id="4" name="Text 2"/>
          <p:cNvSpPr txBox="1"/>
          <p:nvPr/>
        </p:nvSpPr>
        <p:spPr>
          <a:xfrm>
            <a:off x="566928" y="3703320"/>
            <a:ext cx="8595360" cy="914400"/>
          </a:xfrm>
          <a:prstGeom prst="rect">
            <a:avLst/>
          </a:prstGeom>
          <a:noFill/>
          <a:ln/>
        </p:spPr>
        <p:txBody>
          <a:bodyPr wrap="square" lIns="0" tIns="0" rIns="0" bIns="0" rtlCol="0" anchor="ctr"/>
          <a:lstStyle/>
          <a:p>
            <a:pPr indent="0" marL="0">
              <a:lnSpc>
                <a:spcPts val="2600"/>
              </a:lnSpc>
              <a:buNone/>
            </a:pPr>
            <a:r>
              <a:rPr lang="en-US" sz="1700" dirty="0">
                <a:solidFill>
                  <a:srgbClr val="C9C2C0"/>
                </a:solidFill>
                <a:latin typeface="Calibri" pitchFamily="34" charset="0"/>
                <a:ea typeface="Calibri" pitchFamily="34" charset="-122"/>
                <a:cs typeface="Calibri" pitchFamily="34" charset="-120"/>
              </a:rPr>
              <a:t>A digital hall maintenance reporting platform for KNUST residential halls —</a:t>
            </a:r>
            <a:endParaRPr lang="en-US" sz="1700" dirty="0"/>
          </a:p>
          <a:p>
            <a:pPr indent="0" marL="0">
              <a:lnSpc>
                <a:spcPts val="2600"/>
              </a:lnSpc>
              <a:buNone/>
            </a:pPr>
            <a:r>
              <a:rPr lang="en-US" sz="1700" dirty="0">
                <a:solidFill>
                  <a:srgbClr val="C9C2C0"/>
                </a:solidFill>
                <a:latin typeface="Calibri" pitchFamily="34" charset="0"/>
                <a:ea typeface="Calibri" pitchFamily="34" charset="-122"/>
                <a:cs typeface="Calibri" pitchFamily="34" charset="-120"/>
              </a:rPr>
              <a:t>a React Native student client and a React admin dashboard over a shared Supabase backend.</a:t>
            </a:r>
            <a:endParaRPr lang="en-US" sz="1700" dirty="0"/>
          </a:p>
        </p:txBody>
      </p:sp>
      <p:sp>
        <p:nvSpPr>
          <p:cNvPr id="5" name="Shape 3"/>
          <p:cNvSpPr/>
          <p:nvPr/>
        </p:nvSpPr>
        <p:spPr>
          <a:xfrm>
            <a:off x="0" y="6547104"/>
            <a:ext cx="12188952" cy="310896"/>
          </a:xfrm>
          <a:prstGeom prst="rect">
            <a:avLst/>
          </a:prstGeom>
          <a:solidFill>
            <a:srgbClr val="AF101A"/>
          </a:solidFill>
          <a:ln/>
        </p:spPr>
      </p:sp>
      <p:sp>
        <p:nvSpPr>
          <p:cNvPr id="6" name="Text 4"/>
          <p:cNvSpPr txBox="1"/>
          <p:nvPr/>
        </p:nvSpPr>
        <p:spPr>
          <a:xfrm>
            <a:off x="566928" y="5074920"/>
            <a:ext cx="10515600" cy="310896"/>
          </a:xfrm>
          <a:prstGeom prst="rect">
            <a:avLst/>
          </a:prstGeom>
          <a:noFill/>
          <a:ln/>
        </p:spPr>
        <p:txBody>
          <a:bodyPr wrap="square" lIns="0" tIns="0" rIns="0" bIns="0" rtlCol="0" anchor="ctr"/>
          <a:lstStyle/>
          <a:p>
            <a:pPr indent="0" marL="0">
              <a:buNone/>
            </a:pPr>
            <a:r>
              <a:rPr lang="en-US" sz="1300" i="1" dirty="0">
                <a:solidFill>
                  <a:srgbClr val="F5C518"/>
                </a:solidFill>
                <a:latin typeface="Calibri" pitchFamily="34" charset="0"/>
                <a:ea typeface="Calibri" pitchFamily="34" charset="-122"/>
                <a:cs typeface="Calibri" pitchFamily="34" charset="-120"/>
              </a:rPr>
              <a:t>Mobile Student Client  ·  Web Admin Portal  ·  PostgreSQL + Row Level Security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The Problem</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How a student currently reports a broken socket or a leaking shower head</a:t>
            </a:r>
            <a:endParaRPr lang="en-US" sz="1450" dirty="0"/>
          </a:p>
        </p:txBody>
      </p:sp>
      <p:sp>
        <p:nvSpPr>
          <p:cNvPr id="4" name="Shape 2"/>
          <p:cNvSpPr/>
          <p:nvPr/>
        </p:nvSpPr>
        <p:spPr>
          <a:xfrm>
            <a:off x="566928" y="1481328"/>
            <a:ext cx="5029200" cy="4480560"/>
          </a:xfrm>
          <a:prstGeom prst="roundRect">
            <a:avLst>
              <a:gd name="adj" fmla="val 1837"/>
            </a:avLst>
          </a:prstGeom>
          <a:solidFill>
            <a:srgbClr val="FCF6F5"/>
          </a:solidFill>
          <a:ln w="9525">
            <a:solidFill>
              <a:srgbClr val="E4BEBA"/>
            </a:solidFill>
            <a:prstDash val="solid"/>
          </a:ln>
        </p:spPr>
      </p:sp>
      <p:sp>
        <p:nvSpPr>
          <p:cNvPr id="5" name="Text 3"/>
          <p:cNvSpPr txBox="1"/>
          <p:nvPr/>
        </p:nvSpPr>
        <p:spPr>
          <a:xfrm>
            <a:off x="914400" y="1783080"/>
            <a:ext cx="4389120" cy="365760"/>
          </a:xfrm>
          <a:prstGeom prst="rect">
            <a:avLst/>
          </a:prstGeom>
          <a:noFill/>
          <a:ln/>
        </p:spPr>
        <p:txBody>
          <a:bodyPr wrap="square" lIns="0" tIns="0" rIns="0" bIns="0" rtlCol="0" anchor="ctr"/>
          <a:lstStyle/>
          <a:p>
            <a:pPr indent="0" marL="0">
              <a:buNone/>
            </a:pPr>
            <a:r>
              <a:rPr lang="en-US" sz="2100" b="1" dirty="0">
                <a:solidFill>
                  <a:srgbClr val="AF101A"/>
                </a:solidFill>
                <a:latin typeface="Cambria" pitchFamily="34" charset="0"/>
                <a:ea typeface="Cambria" pitchFamily="34" charset="-122"/>
                <a:cs typeface="Cambria" pitchFamily="34" charset="-120"/>
              </a:rPr>
              <a:t>The paper logbook</a:t>
            </a:r>
            <a:endParaRPr lang="en-US" sz="2100" dirty="0"/>
          </a:p>
        </p:txBody>
      </p:sp>
      <p:sp>
        <p:nvSpPr>
          <p:cNvPr id="6" name="Text 4"/>
          <p:cNvSpPr txBox="1"/>
          <p:nvPr/>
        </p:nvSpPr>
        <p:spPr>
          <a:xfrm>
            <a:off x="914400" y="2212848"/>
            <a:ext cx="4370832" cy="1005840"/>
          </a:xfrm>
          <a:prstGeom prst="rect">
            <a:avLst/>
          </a:prstGeom>
          <a:noFill/>
          <a:ln/>
        </p:spPr>
        <p:txBody>
          <a:bodyPr wrap="square" lIns="0" tIns="0" rIns="0" bIns="0" rtlCol="0" anchor="t"/>
          <a:lstStyle/>
          <a:p>
            <a:pPr indent="0" marL="0">
              <a:lnSpc>
                <a:spcPts val="2100"/>
              </a:lnSpc>
              <a:buNone/>
            </a:pPr>
            <a:r>
              <a:rPr lang="en-US" sz="1450" dirty="0">
                <a:solidFill>
                  <a:srgbClr val="1A1C1C"/>
                </a:solidFill>
                <a:latin typeface="Calibri" pitchFamily="34" charset="0"/>
                <a:ea typeface="Calibri" pitchFamily="34" charset="-122"/>
                <a:cs typeface="Calibri" pitchFamily="34" charset="-120"/>
              </a:rPr>
              <a:t>A student walks to the hall porter's lodge during working hours and writes the fault into a physical book. Staff later transcribe and route it by hand.</a:t>
            </a:r>
            <a:endParaRPr lang="en-US" sz="1450" dirty="0"/>
          </a:p>
        </p:txBody>
      </p:sp>
      <p:sp>
        <p:nvSpPr>
          <p:cNvPr id="7" name="Text 5"/>
          <p:cNvSpPr txBox="1"/>
          <p:nvPr/>
        </p:nvSpPr>
        <p:spPr>
          <a:xfrm>
            <a:off x="914400" y="3584448"/>
            <a:ext cx="2011680" cy="914400"/>
          </a:xfrm>
          <a:prstGeom prst="rect">
            <a:avLst/>
          </a:prstGeom>
          <a:noFill/>
          <a:ln/>
        </p:spPr>
        <p:txBody>
          <a:bodyPr wrap="square" lIns="0" tIns="0" rIns="0" bIns="0" rtlCol="0" anchor="t"/>
          <a:lstStyle/>
          <a:p>
            <a:pPr indent="0" marL="0">
              <a:buNone/>
            </a:pPr>
            <a:r>
              <a:rPr lang="en-US" sz="6000" b="1" dirty="0">
                <a:solidFill>
                  <a:srgbClr val="1A1C1C"/>
                </a:solidFill>
                <a:latin typeface="Cambria" pitchFamily="34" charset="0"/>
                <a:ea typeface="Cambria" pitchFamily="34" charset="-122"/>
                <a:cs typeface="Cambria" pitchFamily="34" charset="-120"/>
              </a:rPr>
              <a:t>0</a:t>
            </a:r>
            <a:endParaRPr lang="en-US" sz="6000" dirty="0"/>
          </a:p>
        </p:txBody>
      </p:sp>
      <p:sp>
        <p:nvSpPr>
          <p:cNvPr id="8" name="Text 6"/>
          <p:cNvSpPr txBox="1"/>
          <p:nvPr/>
        </p:nvSpPr>
        <p:spPr>
          <a:xfrm>
            <a:off x="914400" y="4553712"/>
            <a:ext cx="4297680" cy="731520"/>
          </a:xfrm>
          <a:prstGeom prst="rect">
            <a:avLst/>
          </a:prstGeom>
          <a:noFill/>
          <a:ln/>
        </p:spPr>
        <p:txBody>
          <a:bodyPr wrap="square" lIns="0" tIns="0" rIns="0" bIns="0" rtlCol="0" anchor="t"/>
          <a:lstStyle/>
          <a:p>
            <a:pPr indent="0" marL="0">
              <a:lnSpc>
                <a:spcPts val="1700"/>
              </a:lnSpc>
              <a:buNone/>
            </a:pPr>
            <a:r>
              <a:rPr lang="en-US" sz="1250" dirty="0">
                <a:solidFill>
                  <a:srgbClr val="6B6360"/>
                </a:solidFill>
                <a:latin typeface="Calibri" pitchFamily="34" charset="0"/>
                <a:ea typeface="Calibri" pitchFamily="34" charset="-122"/>
                <a:cs typeface="Calibri" pitchFamily="34" charset="-120"/>
              </a:rPr>
              <a:t>ways for a student to check</a:t>
            </a:r>
            <a:endParaRPr lang="en-US" sz="1250" dirty="0"/>
          </a:p>
          <a:p>
            <a:pPr indent="0" marL="0">
              <a:lnSpc>
                <a:spcPts val="1700"/>
              </a:lnSpc>
              <a:buNone/>
            </a:pPr>
            <a:r>
              <a:rPr lang="en-US" sz="1250" dirty="0">
                <a:solidFill>
                  <a:srgbClr val="6B6360"/>
                </a:solidFill>
                <a:latin typeface="Calibri" pitchFamily="34" charset="0"/>
                <a:ea typeface="Calibri" pitchFamily="34" charset="-122"/>
                <a:cs typeface="Calibri" pitchFamily="34" charset="-120"/>
              </a:rPr>
              <a:t>whether anything happened next</a:t>
            </a:r>
            <a:endParaRPr lang="en-US" sz="1250" dirty="0"/>
          </a:p>
        </p:txBody>
      </p:sp>
      <p:sp>
        <p:nvSpPr>
          <p:cNvPr id="9" name="Shape 7"/>
          <p:cNvSpPr/>
          <p:nvPr/>
        </p:nvSpPr>
        <p:spPr>
          <a:xfrm>
            <a:off x="5943600" y="1481328"/>
            <a:ext cx="5678424" cy="1033272"/>
          </a:xfrm>
          <a:prstGeom prst="roundRect">
            <a:avLst>
              <a:gd name="adj" fmla="val 7965"/>
            </a:avLst>
          </a:prstGeom>
          <a:solidFill>
            <a:srgbClr val="FFFFFF"/>
          </a:solidFill>
          <a:ln w="9525">
            <a:solidFill>
              <a:srgbClr val="E4BEBA"/>
            </a:solidFill>
            <a:prstDash val="solid"/>
          </a:ln>
        </p:spPr>
      </p:sp>
      <p:sp>
        <p:nvSpPr>
          <p:cNvPr id="10" name="Shape 8"/>
          <p:cNvSpPr/>
          <p:nvPr/>
        </p:nvSpPr>
        <p:spPr>
          <a:xfrm>
            <a:off x="6199632" y="1773936"/>
            <a:ext cx="457200" cy="457200"/>
          </a:xfrm>
          <a:prstGeom prst="ellipse">
            <a:avLst/>
          </a:prstGeom>
          <a:solidFill>
            <a:srgbClr val="AF101A"/>
          </a:solidFill>
          <a:ln w="12700">
            <a:solidFill>
              <a:srgbClr val="AF101A"/>
            </a:solidFill>
            <a:prstDash val="solid"/>
          </a:ln>
        </p:spPr>
      </p:sp>
      <p:sp>
        <p:nvSpPr>
          <p:cNvPr id="11" name="Text 9"/>
          <p:cNvSpPr txBox="1"/>
          <p:nvPr/>
        </p:nvSpPr>
        <p:spPr>
          <a:xfrm>
            <a:off x="6199632" y="17739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6821424" y="1655064"/>
            <a:ext cx="4572000" cy="292608"/>
          </a:xfrm>
          <a:prstGeom prst="rect">
            <a:avLst/>
          </a:prstGeom>
          <a:noFill/>
          <a:ln/>
        </p:spPr>
        <p:txBody>
          <a:bodyPr wrap="square" lIns="0" tIns="0" rIns="0" bIns="0" rtlCol="0" anchor="ctr"/>
          <a:lstStyle/>
          <a:p>
            <a:pPr indent="0" marL="0">
              <a:buNone/>
            </a:pPr>
            <a:r>
              <a:rPr lang="en-US" sz="1500" b="1" dirty="0">
                <a:solidFill>
                  <a:srgbClr val="1A1C1C"/>
                </a:solidFill>
                <a:latin typeface="Calibri" pitchFamily="34" charset="0"/>
                <a:ea typeface="Calibri" pitchFamily="34" charset="-122"/>
                <a:cs typeface="Calibri" pitchFamily="34" charset="-120"/>
              </a:rPr>
              <a:t>High friction</a:t>
            </a:r>
            <a:endParaRPr lang="en-US" sz="1500" dirty="0"/>
          </a:p>
        </p:txBody>
      </p:sp>
      <p:sp>
        <p:nvSpPr>
          <p:cNvPr id="13" name="Text 11"/>
          <p:cNvSpPr txBox="1"/>
          <p:nvPr/>
        </p:nvSpPr>
        <p:spPr>
          <a:xfrm>
            <a:off x="6821424" y="1956816"/>
            <a:ext cx="4617720" cy="475488"/>
          </a:xfrm>
          <a:prstGeom prst="rect">
            <a:avLst/>
          </a:prstGeom>
          <a:noFill/>
          <a:ln/>
        </p:spPr>
        <p:txBody>
          <a:bodyPr wrap="square" lIns="0" tIns="0" rIns="0" bIns="0" rtlCol="0" anchor="t"/>
          <a:lstStyle/>
          <a:p>
            <a:pPr indent="0" marL="0">
              <a:lnSpc>
                <a:spcPts val="1500"/>
              </a:lnSpc>
              <a:buNone/>
            </a:pPr>
            <a:r>
              <a:rPr lang="en-US" sz="1200" dirty="0">
                <a:solidFill>
                  <a:srgbClr val="6B6360"/>
                </a:solidFill>
                <a:latin typeface="Calibri" pitchFamily="34" charset="0"/>
                <a:ea typeface="Calibri" pitchFamily="34" charset="-122"/>
                <a:cs typeface="Calibri" pitchFamily="34" charset="-120"/>
              </a:rPr>
              <a:t>Minor defects go unreported because reporting costs a walk and a queue.</a:t>
            </a:r>
            <a:endParaRPr lang="en-US" sz="1200" dirty="0"/>
          </a:p>
        </p:txBody>
      </p:sp>
      <p:sp>
        <p:nvSpPr>
          <p:cNvPr id="14" name="Shape 12"/>
          <p:cNvSpPr/>
          <p:nvPr/>
        </p:nvSpPr>
        <p:spPr>
          <a:xfrm>
            <a:off x="5943600" y="2633472"/>
            <a:ext cx="5678424" cy="1033272"/>
          </a:xfrm>
          <a:prstGeom prst="roundRect">
            <a:avLst>
              <a:gd name="adj" fmla="val 7965"/>
            </a:avLst>
          </a:prstGeom>
          <a:solidFill>
            <a:srgbClr val="FFFFFF"/>
          </a:solidFill>
          <a:ln w="9525">
            <a:solidFill>
              <a:srgbClr val="E4BEBA"/>
            </a:solidFill>
            <a:prstDash val="solid"/>
          </a:ln>
        </p:spPr>
      </p:sp>
      <p:sp>
        <p:nvSpPr>
          <p:cNvPr id="15" name="Shape 13"/>
          <p:cNvSpPr/>
          <p:nvPr/>
        </p:nvSpPr>
        <p:spPr>
          <a:xfrm>
            <a:off x="6199632" y="2926080"/>
            <a:ext cx="457200" cy="457200"/>
          </a:xfrm>
          <a:prstGeom prst="ellipse">
            <a:avLst/>
          </a:prstGeom>
          <a:solidFill>
            <a:srgbClr val="AF101A"/>
          </a:solidFill>
          <a:ln w="12700">
            <a:solidFill>
              <a:srgbClr val="AF101A"/>
            </a:solidFill>
            <a:prstDash val="solid"/>
          </a:ln>
        </p:spPr>
      </p:sp>
      <p:sp>
        <p:nvSpPr>
          <p:cNvPr id="16" name="Text 14"/>
          <p:cNvSpPr txBox="1"/>
          <p:nvPr/>
        </p:nvSpPr>
        <p:spPr>
          <a:xfrm>
            <a:off x="6199632" y="29260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txBox="1"/>
          <p:nvPr/>
        </p:nvSpPr>
        <p:spPr>
          <a:xfrm>
            <a:off x="6821424" y="2807208"/>
            <a:ext cx="4572000" cy="292608"/>
          </a:xfrm>
          <a:prstGeom prst="rect">
            <a:avLst/>
          </a:prstGeom>
          <a:noFill/>
          <a:ln/>
        </p:spPr>
        <p:txBody>
          <a:bodyPr wrap="square" lIns="0" tIns="0" rIns="0" bIns="0" rtlCol="0" anchor="ctr"/>
          <a:lstStyle/>
          <a:p>
            <a:pPr indent="0" marL="0">
              <a:buNone/>
            </a:pPr>
            <a:r>
              <a:rPr lang="en-US" sz="1500" b="1" dirty="0">
                <a:solidFill>
                  <a:srgbClr val="1A1C1C"/>
                </a:solidFill>
                <a:latin typeface="Calibri" pitchFamily="34" charset="0"/>
                <a:ea typeface="Calibri" pitchFamily="34" charset="-122"/>
                <a:cs typeface="Calibri" pitchFamily="34" charset="-120"/>
              </a:rPr>
              <a:t>Ambiguous descriptions</a:t>
            </a:r>
            <a:endParaRPr lang="en-US" sz="1500" dirty="0"/>
          </a:p>
        </p:txBody>
      </p:sp>
      <p:sp>
        <p:nvSpPr>
          <p:cNvPr id="18" name="Text 16"/>
          <p:cNvSpPr txBox="1"/>
          <p:nvPr/>
        </p:nvSpPr>
        <p:spPr>
          <a:xfrm>
            <a:off x="6821424" y="3108960"/>
            <a:ext cx="4617720" cy="475488"/>
          </a:xfrm>
          <a:prstGeom prst="rect">
            <a:avLst/>
          </a:prstGeom>
          <a:noFill/>
          <a:ln/>
        </p:spPr>
        <p:txBody>
          <a:bodyPr wrap="square" lIns="0" tIns="0" rIns="0" bIns="0" rtlCol="0" anchor="t"/>
          <a:lstStyle/>
          <a:p>
            <a:pPr indent="0" marL="0">
              <a:lnSpc>
                <a:spcPts val="1500"/>
              </a:lnSpc>
              <a:buNone/>
            </a:pPr>
            <a:r>
              <a:rPr lang="en-US" sz="1200" dirty="0">
                <a:solidFill>
                  <a:srgbClr val="6B6360"/>
                </a:solidFill>
                <a:latin typeface="Calibri" pitchFamily="34" charset="0"/>
                <a:ea typeface="Calibri" pitchFamily="34" charset="-122"/>
                <a:cs typeface="Calibri" pitchFamily="34" charset="-120"/>
              </a:rPr>
              <a:t>Technicians arrive without the right parts, so one repair takes two visits.</a:t>
            </a:r>
            <a:endParaRPr lang="en-US" sz="1200" dirty="0"/>
          </a:p>
        </p:txBody>
      </p:sp>
      <p:sp>
        <p:nvSpPr>
          <p:cNvPr id="19" name="Shape 17"/>
          <p:cNvSpPr/>
          <p:nvPr/>
        </p:nvSpPr>
        <p:spPr>
          <a:xfrm>
            <a:off x="5943600" y="3785616"/>
            <a:ext cx="5678424" cy="1033272"/>
          </a:xfrm>
          <a:prstGeom prst="roundRect">
            <a:avLst>
              <a:gd name="adj" fmla="val 7965"/>
            </a:avLst>
          </a:prstGeom>
          <a:solidFill>
            <a:srgbClr val="FFFFFF"/>
          </a:solidFill>
          <a:ln w="9525">
            <a:solidFill>
              <a:srgbClr val="E4BEBA"/>
            </a:solidFill>
            <a:prstDash val="solid"/>
          </a:ln>
        </p:spPr>
      </p:sp>
      <p:sp>
        <p:nvSpPr>
          <p:cNvPr id="20" name="Shape 18"/>
          <p:cNvSpPr/>
          <p:nvPr/>
        </p:nvSpPr>
        <p:spPr>
          <a:xfrm>
            <a:off x="6199632" y="4078224"/>
            <a:ext cx="457200" cy="457200"/>
          </a:xfrm>
          <a:prstGeom prst="ellipse">
            <a:avLst/>
          </a:prstGeom>
          <a:solidFill>
            <a:srgbClr val="AF101A"/>
          </a:solidFill>
          <a:ln w="12700">
            <a:solidFill>
              <a:srgbClr val="AF101A"/>
            </a:solidFill>
            <a:prstDash val="solid"/>
          </a:ln>
        </p:spPr>
      </p:sp>
      <p:sp>
        <p:nvSpPr>
          <p:cNvPr id="21" name="Text 19"/>
          <p:cNvSpPr txBox="1"/>
          <p:nvPr/>
        </p:nvSpPr>
        <p:spPr>
          <a:xfrm>
            <a:off x="6199632" y="407822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txBox="1"/>
          <p:nvPr/>
        </p:nvSpPr>
        <p:spPr>
          <a:xfrm>
            <a:off x="6821424" y="3959352"/>
            <a:ext cx="4572000" cy="292608"/>
          </a:xfrm>
          <a:prstGeom prst="rect">
            <a:avLst/>
          </a:prstGeom>
          <a:noFill/>
          <a:ln/>
        </p:spPr>
        <p:txBody>
          <a:bodyPr wrap="square" lIns="0" tIns="0" rIns="0" bIns="0" rtlCol="0" anchor="ctr"/>
          <a:lstStyle/>
          <a:p>
            <a:pPr indent="0" marL="0">
              <a:buNone/>
            </a:pPr>
            <a:r>
              <a:rPr lang="en-US" sz="1500" b="1" dirty="0">
                <a:solidFill>
                  <a:srgbClr val="1A1C1C"/>
                </a:solidFill>
                <a:latin typeface="Calibri" pitchFamily="34" charset="0"/>
                <a:ea typeface="Calibri" pitchFamily="34" charset="-122"/>
                <a:cs typeface="Calibri" pitchFamily="34" charset="-120"/>
              </a:rPr>
              <a:t>No tracking</a:t>
            </a:r>
            <a:endParaRPr lang="en-US" sz="1500" dirty="0"/>
          </a:p>
        </p:txBody>
      </p:sp>
      <p:sp>
        <p:nvSpPr>
          <p:cNvPr id="23" name="Text 21"/>
          <p:cNvSpPr txBox="1"/>
          <p:nvPr/>
        </p:nvSpPr>
        <p:spPr>
          <a:xfrm>
            <a:off x="6821424" y="4261104"/>
            <a:ext cx="4617720" cy="475488"/>
          </a:xfrm>
          <a:prstGeom prst="rect">
            <a:avLst/>
          </a:prstGeom>
          <a:noFill/>
          <a:ln/>
        </p:spPr>
        <p:txBody>
          <a:bodyPr wrap="square" lIns="0" tIns="0" rIns="0" bIns="0" rtlCol="0" anchor="t"/>
          <a:lstStyle/>
          <a:p>
            <a:pPr indent="0" marL="0">
              <a:lnSpc>
                <a:spcPts val="1500"/>
              </a:lnSpc>
              <a:buNone/>
            </a:pPr>
            <a:r>
              <a:rPr lang="en-US" sz="1200" dirty="0">
                <a:solidFill>
                  <a:srgbClr val="6B6360"/>
                </a:solidFill>
                <a:latin typeface="Calibri" pitchFamily="34" charset="0"/>
                <a:ea typeface="Calibri" pitchFamily="34" charset="-122"/>
                <a:cs typeface="Calibri" pitchFamily="34" charset="-120"/>
              </a:rPr>
              <a:t>Students cannot tell if a request was received, assigned or scheduled.</a:t>
            </a:r>
            <a:endParaRPr lang="en-US" sz="1200" dirty="0"/>
          </a:p>
        </p:txBody>
      </p:sp>
      <p:sp>
        <p:nvSpPr>
          <p:cNvPr id="24" name="Shape 22"/>
          <p:cNvSpPr/>
          <p:nvPr/>
        </p:nvSpPr>
        <p:spPr>
          <a:xfrm>
            <a:off x="5943600" y="4937760"/>
            <a:ext cx="5678424" cy="1033272"/>
          </a:xfrm>
          <a:prstGeom prst="roundRect">
            <a:avLst>
              <a:gd name="adj" fmla="val 7965"/>
            </a:avLst>
          </a:prstGeom>
          <a:solidFill>
            <a:srgbClr val="FFFFFF"/>
          </a:solidFill>
          <a:ln w="9525">
            <a:solidFill>
              <a:srgbClr val="E4BEBA"/>
            </a:solidFill>
            <a:prstDash val="solid"/>
          </a:ln>
        </p:spPr>
      </p:sp>
      <p:sp>
        <p:nvSpPr>
          <p:cNvPr id="25" name="Shape 23"/>
          <p:cNvSpPr/>
          <p:nvPr/>
        </p:nvSpPr>
        <p:spPr>
          <a:xfrm>
            <a:off x="6199632" y="5230368"/>
            <a:ext cx="457200" cy="457200"/>
          </a:xfrm>
          <a:prstGeom prst="ellipse">
            <a:avLst/>
          </a:prstGeom>
          <a:solidFill>
            <a:srgbClr val="AF101A"/>
          </a:solidFill>
          <a:ln w="12700">
            <a:solidFill>
              <a:srgbClr val="AF101A"/>
            </a:solidFill>
            <a:prstDash val="solid"/>
          </a:ln>
        </p:spPr>
      </p:sp>
      <p:sp>
        <p:nvSpPr>
          <p:cNvPr id="26" name="Text 24"/>
          <p:cNvSpPr txBox="1"/>
          <p:nvPr/>
        </p:nvSpPr>
        <p:spPr>
          <a:xfrm>
            <a:off x="6199632" y="52303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7" name="Text 25"/>
          <p:cNvSpPr txBox="1"/>
          <p:nvPr/>
        </p:nvSpPr>
        <p:spPr>
          <a:xfrm>
            <a:off x="6821424" y="5111496"/>
            <a:ext cx="4572000" cy="292608"/>
          </a:xfrm>
          <a:prstGeom prst="rect">
            <a:avLst/>
          </a:prstGeom>
          <a:noFill/>
          <a:ln/>
        </p:spPr>
        <p:txBody>
          <a:bodyPr wrap="square" lIns="0" tIns="0" rIns="0" bIns="0" rtlCol="0" anchor="ctr"/>
          <a:lstStyle/>
          <a:p>
            <a:pPr indent="0" marL="0">
              <a:buNone/>
            </a:pPr>
            <a:r>
              <a:rPr lang="en-US" sz="1500" b="1" dirty="0">
                <a:solidFill>
                  <a:srgbClr val="1A1C1C"/>
                </a:solidFill>
                <a:latin typeface="Calibri" pitchFamily="34" charset="0"/>
                <a:ea typeface="Calibri" pitchFamily="34" charset="-122"/>
                <a:cs typeface="Calibri" pitchFamily="34" charset="-120"/>
              </a:rPr>
              <a:t>No coordination</a:t>
            </a:r>
            <a:endParaRPr lang="en-US" sz="1500" dirty="0"/>
          </a:p>
        </p:txBody>
      </p:sp>
      <p:sp>
        <p:nvSpPr>
          <p:cNvPr id="28" name="Text 26"/>
          <p:cNvSpPr txBox="1"/>
          <p:nvPr/>
        </p:nvSpPr>
        <p:spPr>
          <a:xfrm>
            <a:off x="6821424" y="5413248"/>
            <a:ext cx="4617720" cy="475488"/>
          </a:xfrm>
          <a:prstGeom prst="rect">
            <a:avLst/>
          </a:prstGeom>
          <a:noFill/>
          <a:ln/>
        </p:spPr>
        <p:txBody>
          <a:bodyPr wrap="square" lIns="0" tIns="0" rIns="0" bIns="0" rtlCol="0" anchor="t"/>
          <a:lstStyle/>
          <a:p>
            <a:pPr indent="0" marL="0">
              <a:lnSpc>
                <a:spcPts val="1500"/>
              </a:lnSpc>
              <a:buNone/>
            </a:pPr>
            <a:r>
              <a:rPr lang="en-US" sz="1200" dirty="0">
                <a:solidFill>
                  <a:srgbClr val="6B6360"/>
                </a:solidFill>
                <a:latin typeface="Calibri" pitchFamily="34" charset="0"/>
                <a:ea typeface="Calibri" pitchFamily="34" charset="-122"/>
                <a:cs typeface="Calibri" pitchFamily="34" charset="-120"/>
              </a:rPr>
              <a:t>No way to agree a visit time, so technicians meet locked doors.</a:t>
            </a:r>
            <a:endParaRPr lang="en-US" sz="1200" dirty="0"/>
          </a:p>
        </p:txBody>
      </p:sp>
      <p:sp>
        <p:nvSpPr>
          <p:cNvPr id="29" name="Text 27"/>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0" name="Text 28"/>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Aim and Specific Objectives</a:t>
            </a:r>
            <a:endParaRPr lang="en-US" sz="3400" dirty="0"/>
          </a:p>
        </p:txBody>
      </p:sp>
      <p:sp>
        <p:nvSpPr>
          <p:cNvPr id="3" name="Shape 1"/>
          <p:cNvSpPr/>
          <p:nvPr/>
        </p:nvSpPr>
        <p:spPr>
          <a:xfrm>
            <a:off x="566928" y="1207008"/>
            <a:ext cx="11055096" cy="950976"/>
          </a:xfrm>
          <a:prstGeom prst="roundRect">
            <a:avLst>
              <a:gd name="adj" fmla="val 7692"/>
            </a:avLst>
          </a:prstGeom>
          <a:solidFill>
            <a:srgbClr val="1A1C1C"/>
          </a:solidFill>
          <a:ln w="12700">
            <a:solidFill>
              <a:srgbClr val="1A1C1C"/>
            </a:solidFill>
            <a:prstDash val="solid"/>
          </a:ln>
        </p:spPr>
      </p:sp>
      <p:sp>
        <p:nvSpPr>
          <p:cNvPr id="4" name="Text 2"/>
          <p:cNvSpPr txBox="1"/>
          <p:nvPr/>
        </p:nvSpPr>
        <p:spPr>
          <a:xfrm>
            <a:off x="877824" y="1335024"/>
            <a:ext cx="1097280" cy="256032"/>
          </a:xfrm>
          <a:prstGeom prst="rect">
            <a:avLst/>
          </a:prstGeom>
          <a:noFill/>
          <a:ln/>
        </p:spPr>
        <p:txBody>
          <a:bodyPr wrap="square" lIns="0" tIns="0" rIns="0" bIns="0" rtlCol="0" anchor="ctr"/>
          <a:lstStyle/>
          <a:p>
            <a:pPr indent="0" marL="0">
              <a:buNone/>
            </a:pPr>
            <a:r>
              <a:rPr lang="en-US" sz="1150" b="1" spc="200" kern="0" dirty="0">
                <a:solidFill>
                  <a:srgbClr val="F5C518"/>
                </a:solidFill>
                <a:latin typeface="Calibri" pitchFamily="34" charset="0"/>
                <a:ea typeface="Calibri" pitchFamily="34" charset="-122"/>
                <a:cs typeface="Calibri" pitchFamily="34" charset="-120"/>
              </a:rPr>
              <a:t>Aim</a:t>
            </a:r>
            <a:endParaRPr lang="en-US" sz="1150" dirty="0"/>
          </a:p>
        </p:txBody>
      </p:sp>
      <p:sp>
        <p:nvSpPr>
          <p:cNvPr id="5" name="Text 3"/>
          <p:cNvSpPr txBox="1"/>
          <p:nvPr/>
        </p:nvSpPr>
        <p:spPr>
          <a:xfrm>
            <a:off x="877824" y="1591056"/>
            <a:ext cx="10415016" cy="457200"/>
          </a:xfrm>
          <a:prstGeom prst="rect">
            <a:avLst/>
          </a:prstGeom>
          <a:noFill/>
          <a:ln/>
        </p:spPr>
        <p:txBody>
          <a:bodyPr wrap="square" lIns="0" tIns="0" rIns="0" bIns="0" rtlCol="0" anchor="t"/>
          <a:lstStyle/>
          <a:p>
            <a:pPr indent="0" marL="0">
              <a:lnSpc>
                <a:spcPts val="2000"/>
              </a:lnSpc>
              <a:buNone/>
            </a:pPr>
            <a:r>
              <a:rPr lang="en-US" sz="1450" dirty="0">
                <a:solidFill>
                  <a:srgbClr val="FFFFFF"/>
                </a:solidFill>
                <a:latin typeface="Calibri" pitchFamily="34" charset="0"/>
                <a:ea typeface="Calibri" pitchFamily="34" charset="-122"/>
                <a:cs typeface="Calibri" pitchFamily="34" charset="-120"/>
              </a:rPr>
              <a:t>To replace the paper logbook with an end-to-end digital workflow that carries a fault from the student's room to a scheduled, tracked repair.</a:t>
            </a:r>
            <a:endParaRPr lang="en-US" sz="1450" dirty="0"/>
          </a:p>
        </p:txBody>
      </p:sp>
      <p:sp>
        <p:nvSpPr>
          <p:cNvPr id="6" name="Shape 4"/>
          <p:cNvSpPr/>
          <p:nvPr/>
        </p:nvSpPr>
        <p:spPr>
          <a:xfrm>
            <a:off x="566928" y="2304288"/>
            <a:ext cx="3493008" cy="1773936"/>
          </a:xfrm>
          <a:prstGeom prst="roundRect">
            <a:avLst>
              <a:gd name="adj" fmla="val 4639"/>
            </a:avLst>
          </a:prstGeom>
          <a:solidFill>
            <a:srgbClr val="FCF6F5"/>
          </a:solidFill>
          <a:ln w="9525">
            <a:solidFill>
              <a:srgbClr val="E4BEBA"/>
            </a:solidFill>
            <a:prstDash val="solid"/>
          </a:ln>
        </p:spPr>
      </p:sp>
      <p:sp>
        <p:nvSpPr>
          <p:cNvPr id="7" name="Shape 5"/>
          <p:cNvSpPr/>
          <p:nvPr/>
        </p:nvSpPr>
        <p:spPr>
          <a:xfrm>
            <a:off x="841248" y="2560320"/>
            <a:ext cx="420624" cy="420624"/>
          </a:xfrm>
          <a:prstGeom prst="ellipse">
            <a:avLst/>
          </a:prstGeom>
          <a:solidFill>
            <a:srgbClr val="AF101A"/>
          </a:solidFill>
          <a:ln w="12700">
            <a:solidFill>
              <a:srgbClr val="AF101A"/>
            </a:solidFill>
            <a:prstDash val="solid"/>
          </a:ln>
        </p:spPr>
      </p:sp>
      <p:sp>
        <p:nvSpPr>
          <p:cNvPr id="8" name="Text 6"/>
          <p:cNvSpPr txBox="1"/>
          <p:nvPr/>
        </p:nvSpPr>
        <p:spPr>
          <a:xfrm>
            <a:off x="841248" y="25603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841248" y="3081528"/>
            <a:ext cx="2962656" cy="292608"/>
          </a:xfrm>
          <a:prstGeom prst="rect">
            <a:avLst/>
          </a:prstGeom>
          <a:noFill/>
          <a:ln/>
        </p:spPr>
        <p:txBody>
          <a:bodyPr wrap="square" lIns="0" tIns="0" rIns="0" bIns="0" rtlCol="0" anchor="ctr"/>
          <a:lstStyle/>
          <a:p>
            <a:pPr indent="0" marL="0">
              <a:buNone/>
            </a:pPr>
            <a:r>
              <a:rPr lang="en-US" sz="1450" b="1" dirty="0">
                <a:solidFill>
                  <a:srgbClr val="AF101A"/>
                </a:solidFill>
                <a:latin typeface="Calibri" pitchFamily="34" charset="0"/>
                <a:ea typeface="Calibri" pitchFamily="34" charset="-122"/>
                <a:cs typeface="Calibri" pitchFamily="34" charset="-120"/>
              </a:rPr>
              <a:t>Guided reporting</a:t>
            </a:r>
            <a:endParaRPr lang="en-US" sz="1450" dirty="0"/>
          </a:p>
        </p:txBody>
      </p:sp>
      <p:sp>
        <p:nvSpPr>
          <p:cNvPr id="10" name="Text 8"/>
          <p:cNvSpPr txBox="1"/>
          <p:nvPr/>
        </p:nvSpPr>
        <p:spPr>
          <a:xfrm>
            <a:off x="841248" y="3383280"/>
            <a:ext cx="2980944" cy="603504"/>
          </a:xfrm>
          <a:prstGeom prst="rect">
            <a:avLst/>
          </a:prstGeom>
          <a:noFill/>
          <a:ln/>
        </p:spPr>
        <p:txBody>
          <a:bodyPr wrap="square" lIns="0" tIns="0" rIns="0" bIns="0" rtlCol="0" anchor="t"/>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A step-by-step wizard over four trades — Electrical, Plumbing, Carpentry, Masonry — with pre-defined common faults.</a:t>
            </a:r>
            <a:endParaRPr lang="en-US" sz="1150" dirty="0"/>
          </a:p>
        </p:txBody>
      </p:sp>
      <p:sp>
        <p:nvSpPr>
          <p:cNvPr id="11" name="Shape 9"/>
          <p:cNvSpPr/>
          <p:nvPr/>
        </p:nvSpPr>
        <p:spPr>
          <a:xfrm>
            <a:off x="4279392" y="2304288"/>
            <a:ext cx="3493008" cy="1773936"/>
          </a:xfrm>
          <a:prstGeom prst="roundRect">
            <a:avLst>
              <a:gd name="adj" fmla="val 4639"/>
            </a:avLst>
          </a:prstGeom>
          <a:solidFill>
            <a:srgbClr val="FFFFFF"/>
          </a:solidFill>
          <a:ln w="9525">
            <a:solidFill>
              <a:srgbClr val="E4BEBA"/>
            </a:solidFill>
            <a:prstDash val="solid"/>
          </a:ln>
        </p:spPr>
      </p:sp>
      <p:sp>
        <p:nvSpPr>
          <p:cNvPr id="12" name="Shape 10"/>
          <p:cNvSpPr/>
          <p:nvPr/>
        </p:nvSpPr>
        <p:spPr>
          <a:xfrm>
            <a:off x="4553712" y="2560320"/>
            <a:ext cx="420624" cy="420624"/>
          </a:xfrm>
          <a:prstGeom prst="ellipse">
            <a:avLst/>
          </a:prstGeom>
          <a:solidFill>
            <a:srgbClr val="AF101A"/>
          </a:solidFill>
          <a:ln w="12700">
            <a:solidFill>
              <a:srgbClr val="AF101A"/>
            </a:solidFill>
            <a:prstDash val="solid"/>
          </a:ln>
        </p:spPr>
      </p:sp>
      <p:sp>
        <p:nvSpPr>
          <p:cNvPr id="13" name="Text 11"/>
          <p:cNvSpPr txBox="1"/>
          <p:nvPr/>
        </p:nvSpPr>
        <p:spPr>
          <a:xfrm>
            <a:off x="4553712" y="25603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4553712" y="3081528"/>
            <a:ext cx="2962656" cy="292608"/>
          </a:xfrm>
          <a:prstGeom prst="rect">
            <a:avLst/>
          </a:prstGeom>
          <a:noFill/>
          <a:ln/>
        </p:spPr>
        <p:txBody>
          <a:bodyPr wrap="square" lIns="0" tIns="0" rIns="0" bIns="0" rtlCol="0" anchor="ctr"/>
          <a:lstStyle/>
          <a:p>
            <a:pPr indent="0" marL="0">
              <a:buNone/>
            </a:pPr>
            <a:r>
              <a:rPr lang="en-US" sz="1450" b="1" dirty="0">
                <a:solidFill>
                  <a:srgbClr val="AF101A"/>
                </a:solidFill>
                <a:latin typeface="Calibri" pitchFamily="34" charset="0"/>
                <a:ea typeface="Calibri" pitchFamily="34" charset="-122"/>
                <a:cs typeface="Calibri" pitchFamily="34" charset="-120"/>
              </a:rPr>
              <a:t>Visual evidence</a:t>
            </a:r>
            <a:endParaRPr lang="en-US" sz="1450" dirty="0"/>
          </a:p>
        </p:txBody>
      </p:sp>
      <p:sp>
        <p:nvSpPr>
          <p:cNvPr id="15" name="Text 13"/>
          <p:cNvSpPr txBox="1"/>
          <p:nvPr/>
        </p:nvSpPr>
        <p:spPr>
          <a:xfrm>
            <a:off x="4553712" y="3383280"/>
            <a:ext cx="2980944" cy="603504"/>
          </a:xfrm>
          <a:prstGeom prst="rect">
            <a:avLst/>
          </a:prstGeom>
          <a:noFill/>
          <a:ln/>
        </p:spPr>
        <p:txBody>
          <a:bodyPr wrap="square" lIns="0" tIns="0" rIns="0" bIns="0" rtlCol="0" anchor="t"/>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Native camera and video capture so technicians can diagnose before they travel.</a:t>
            </a:r>
            <a:endParaRPr lang="en-US" sz="1150" dirty="0"/>
          </a:p>
        </p:txBody>
      </p:sp>
      <p:sp>
        <p:nvSpPr>
          <p:cNvPr id="16" name="Shape 14"/>
          <p:cNvSpPr/>
          <p:nvPr/>
        </p:nvSpPr>
        <p:spPr>
          <a:xfrm>
            <a:off x="7991856" y="2304288"/>
            <a:ext cx="3493008" cy="1773936"/>
          </a:xfrm>
          <a:prstGeom prst="roundRect">
            <a:avLst>
              <a:gd name="adj" fmla="val 4639"/>
            </a:avLst>
          </a:prstGeom>
          <a:solidFill>
            <a:srgbClr val="FCF6F5"/>
          </a:solidFill>
          <a:ln w="9525">
            <a:solidFill>
              <a:srgbClr val="E4BEBA"/>
            </a:solidFill>
            <a:prstDash val="solid"/>
          </a:ln>
        </p:spPr>
      </p:sp>
      <p:sp>
        <p:nvSpPr>
          <p:cNvPr id="17" name="Shape 15"/>
          <p:cNvSpPr/>
          <p:nvPr/>
        </p:nvSpPr>
        <p:spPr>
          <a:xfrm>
            <a:off x="8266176" y="2560320"/>
            <a:ext cx="420624" cy="420624"/>
          </a:xfrm>
          <a:prstGeom prst="ellipse">
            <a:avLst/>
          </a:prstGeom>
          <a:solidFill>
            <a:srgbClr val="AF101A"/>
          </a:solidFill>
          <a:ln w="12700">
            <a:solidFill>
              <a:srgbClr val="AF101A"/>
            </a:solidFill>
            <a:prstDash val="solid"/>
          </a:ln>
        </p:spPr>
      </p:sp>
      <p:sp>
        <p:nvSpPr>
          <p:cNvPr id="18" name="Text 16"/>
          <p:cNvSpPr txBox="1"/>
          <p:nvPr/>
        </p:nvSpPr>
        <p:spPr>
          <a:xfrm>
            <a:off x="8266176" y="25603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8266176" y="3081528"/>
            <a:ext cx="2962656" cy="292608"/>
          </a:xfrm>
          <a:prstGeom prst="rect">
            <a:avLst/>
          </a:prstGeom>
          <a:noFill/>
          <a:ln/>
        </p:spPr>
        <p:txBody>
          <a:bodyPr wrap="square" lIns="0" tIns="0" rIns="0" bIns="0" rtlCol="0" anchor="ctr"/>
          <a:lstStyle/>
          <a:p>
            <a:pPr indent="0" marL="0">
              <a:buNone/>
            </a:pPr>
            <a:r>
              <a:rPr lang="en-US" sz="1450" b="1" dirty="0">
                <a:solidFill>
                  <a:srgbClr val="AF101A"/>
                </a:solidFill>
                <a:latin typeface="Calibri" pitchFamily="34" charset="0"/>
                <a:ea typeface="Calibri" pitchFamily="34" charset="-122"/>
                <a:cs typeface="Calibri" pitchFamily="34" charset="-120"/>
              </a:rPr>
              <a:t>Live status tracking</a:t>
            </a:r>
            <a:endParaRPr lang="en-US" sz="1450" dirty="0"/>
          </a:p>
        </p:txBody>
      </p:sp>
      <p:sp>
        <p:nvSpPr>
          <p:cNvPr id="20" name="Text 18"/>
          <p:cNvSpPr txBox="1"/>
          <p:nvPr/>
        </p:nvSpPr>
        <p:spPr>
          <a:xfrm>
            <a:off x="8266176" y="3383280"/>
            <a:ext cx="2980944" cy="603504"/>
          </a:xfrm>
          <a:prstGeom prst="rect">
            <a:avLst/>
          </a:prstGeom>
          <a:noFill/>
          <a:ln/>
        </p:spPr>
        <p:txBody>
          <a:bodyPr wrap="square" lIns="0" tIns="0" rIns="0" bIns="0" rtlCol="0" anchor="t"/>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Pending → Scheduled → Resolved, visible to the student in the app at every stage.</a:t>
            </a:r>
            <a:endParaRPr lang="en-US" sz="1150" dirty="0"/>
          </a:p>
        </p:txBody>
      </p:sp>
      <p:sp>
        <p:nvSpPr>
          <p:cNvPr id="21" name="Shape 19"/>
          <p:cNvSpPr/>
          <p:nvPr/>
        </p:nvSpPr>
        <p:spPr>
          <a:xfrm>
            <a:off x="566928" y="4279392"/>
            <a:ext cx="3493008" cy="1773936"/>
          </a:xfrm>
          <a:prstGeom prst="roundRect">
            <a:avLst>
              <a:gd name="adj" fmla="val 4639"/>
            </a:avLst>
          </a:prstGeom>
          <a:solidFill>
            <a:srgbClr val="FFFFFF"/>
          </a:solidFill>
          <a:ln w="9525">
            <a:solidFill>
              <a:srgbClr val="E4BEBA"/>
            </a:solidFill>
            <a:prstDash val="solid"/>
          </a:ln>
        </p:spPr>
      </p:sp>
      <p:sp>
        <p:nvSpPr>
          <p:cNvPr id="22" name="Shape 20"/>
          <p:cNvSpPr/>
          <p:nvPr/>
        </p:nvSpPr>
        <p:spPr>
          <a:xfrm>
            <a:off x="841248" y="4535424"/>
            <a:ext cx="420624" cy="420624"/>
          </a:xfrm>
          <a:prstGeom prst="ellipse">
            <a:avLst/>
          </a:prstGeom>
          <a:solidFill>
            <a:srgbClr val="AF101A"/>
          </a:solidFill>
          <a:ln w="12700">
            <a:solidFill>
              <a:srgbClr val="AF101A"/>
            </a:solidFill>
            <a:prstDash val="solid"/>
          </a:ln>
        </p:spPr>
      </p:sp>
      <p:sp>
        <p:nvSpPr>
          <p:cNvPr id="23" name="Text 21"/>
          <p:cNvSpPr txBox="1"/>
          <p:nvPr/>
        </p:nvSpPr>
        <p:spPr>
          <a:xfrm>
            <a:off x="841248"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841248" y="5056632"/>
            <a:ext cx="2962656" cy="292608"/>
          </a:xfrm>
          <a:prstGeom prst="rect">
            <a:avLst/>
          </a:prstGeom>
          <a:noFill/>
          <a:ln/>
        </p:spPr>
        <p:txBody>
          <a:bodyPr wrap="square" lIns="0" tIns="0" rIns="0" bIns="0" rtlCol="0" anchor="ctr"/>
          <a:lstStyle/>
          <a:p>
            <a:pPr indent="0" marL="0">
              <a:buNone/>
            </a:pPr>
            <a:r>
              <a:rPr lang="en-US" sz="1450" b="1" dirty="0">
                <a:solidFill>
                  <a:srgbClr val="AF101A"/>
                </a:solidFill>
                <a:latin typeface="Calibri" pitchFamily="34" charset="0"/>
                <a:ea typeface="Calibri" pitchFamily="34" charset="-122"/>
                <a:cs typeface="Calibri" pitchFamily="34" charset="-120"/>
              </a:rPr>
              <a:t>Role-based administration</a:t>
            </a:r>
            <a:endParaRPr lang="en-US" sz="1450" dirty="0"/>
          </a:p>
        </p:txBody>
      </p:sp>
      <p:sp>
        <p:nvSpPr>
          <p:cNvPr id="25" name="Text 23"/>
          <p:cNvSpPr txBox="1"/>
          <p:nvPr/>
        </p:nvSpPr>
        <p:spPr>
          <a:xfrm>
            <a:off x="841248" y="5358384"/>
            <a:ext cx="2980944" cy="603504"/>
          </a:xfrm>
          <a:prstGeom prst="rect">
            <a:avLst/>
          </a:prstGeom>
          <a:noFill/>
          <a:ln/>
        </p:spPr>
        <p:txBody>
          <a:bodyPr wrap="square" lIns="0" tIns="0" rIns="0" bIns="0" rtlCol="0" anchor="t"/>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Separate portals for hall admins and a super admin, each seeing only what their role permits.</a:t>
            </a:r>
            <a:endParaRPr lang="en-US" sz="1150" dirty="0"/>
          </a:p>
        </p:txBody>
      </p:sp>
      <p:sp>
        <p:nvSpPr>
          <p:cNvPr id="26" name="Shape 24"/>
          <p:cNvSpPr/>
          <p:nvPr/>
        </p:nvSpPr>
        <p:spPr>
          <a:xfrm>
            <a:off x="4279392" y="4279392"/>
            <a:ext cx="3493008" cy="1773936"/>
          </a:xfrm>
          <a:prstGeom prst="roundRect">
            <a:avLst>
              <a:gd name="adj" fmla="val 4639"/>
            </a:avLst>
          </a:prstGeom>
          <a:solidFill>
            <a:srgbClr val="FCF6F5"/>
          </a:solidFill>
          <a:ln w="9525">
            <a:solidFill>
              <a:srgbClr val="E4BEBA"/>
            </a:solidFill>
            <a:prstDash val="solid"/>
          </a:ln>
        </p:spPr>
      </p:sp>
      <p:sp>
        <p:nvSpPr>
          <p:cNvPr id="27" name="Shape 25"/>
          <p:cNvSpPr/>
          <p:nvPr/>
        </p:nvSpPr>
        <p:spPr>
          <a:xfrm>
            <a:off x="4553712" y="4535424"/>
            <a:ext cx="420624" cy="420624"/>
          </a:xfrm>
          <a:prstGeom prst="ellipse">
            <a:avLst/>
          </a:prstGeom>
          <a:solidFill>
            <a:srgbClr val="AF101A"/>
          </a:solidFill>
          <a:ln w="12700">
            <a:solidFill>
              <a:srgbClr val="AF101A"/>
            </a:solidFill>
            <a:prstDash val="solid"/>
          </a:ln>
        </p:spPr>
      </p:sp>
      <p:sp>
        <p:nvSpPr>
          <p:cNvPr id="28" name="Text 26"/>
          <p:cNvSpPr txBox="1"/>
          <p:nvPr/>
        </p:nvSpPr>
        <p:spPr>
          <a:xfrm>
            <a:off x="4553712"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7"/>
          <p:cNvSpPr txBox="1"/>
          <p:nvPr/>
        </p:nvSpPr>
        <p:spPr>
          <a:xfrm>
            <a:off x="4553712" y="5056632"/>
            <a:ext cx="2962656" cy="292608"/>
          </a:xfrm>
          <a:prstGeom prst="rect">
            <a:avLst/>
          </a:prstGeom>
          <a:noFill/>
          <a:ln/>
        </p:spPr>
        <p:txBody>
          <a:bodyPr wrap="square" lIns="0" tIns="0" rIns="0" bIns="0" rtlCol="0" anchor="ctr"/>
          <a:lstStyle/>
          <a:p>
            <a:pPr indent="0" marL="0">
              <a:buNone/>
            </a:pPr>
            <a:r>
              <a:rPr lang="en-US" sz="1450" b="1" dirty="0">
                <a:solidFill>
                  <a:srgbClr val="AF101A"/>
                </a:solidFill>
                <a:latin typeface="Calibri" pitchFamily="34" charset="0"/>
                <a:ea typeface="Calibri" pitchFamily="34" charset="-122"/>
                <a:cs typeface="Calibri" pitchFamily="34" charset="-120"/>
              </a:rPr>
              <a:t>Automatic dispatch alerts</a:t>
            </a:r>
            <a:endParaRPr lang="en-US" sz="1450" dirty="0"/>
          </a:p>
        </p:txBody>
      </p:sp>
      <p:sp>
        <p:nvSpPr>
          <p:cNvPr id="30" name="Text 28"/>
          <p:cNvSpPr txBox="1"/>
          <p:nvPr/>
        </p:nvSpPr>
        <p:spPr>
          <a:xfrm>
            <a:off x="4553712" y="5358384"/>
            <a:ext cx="2980944" cy="603504"/>
          </a:xfrm>
          <a:prstGeom prst="rect">
            <a:avLst/>
          </a:prstGeom>
          <a:noFill/>
          <a:ln/>
        </p:spPr>
        <p:txBody>
          <a:bodyPr wrap="square" lIns="0" tIns="0" rIns="0" bIns="0" rtlCol="0" anchor="t"/>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Admins are notified of a new request by email and in-app, without opening the dashboard.</a:t>
            </a:r>
            <a:endParaRPr lang="en-US" sz="1150" dirty="0"/>
          </a:p>
        </p:txBody>
      </p:sp>
      <p:sp>
        <p:nvSpPr>
          <p:cNvPr id="31" name="Shape 29"/>
          <p:cNvSpPr/>
          <p:nvPr/>
        </p:nvSpPr>
        <p:spPr>
          <a:xfrm>
            <a:off x="7991856" y="4279392"/>
            <a:ext cx="3493008" cy="1773936"/>
          </a:xfrm>
          <a:prstGeom prst="roundRect">
            <a:avLst>
              <a:gd name="adj" fmla="val 4639"/>
            </a:avLst>
          </a:prstGeom>
          <a:solidFill>
            <a:srgbClr val="FFFFFF"/>
          </a:solidFill>
          <a:ln w="9525">
            <a:solidFill>
              <a:srgbClr val="E4BEBA"/>
            </a:solidFill>
            <a:prstDash val="solid"/>
          </a:ln>
        </p:spPr>
      </p:sp>
      <p:sp>
        <p:nvSpPr>
          <p:cNvPr id="32" name="Shape 30"/>
          <p:cNvSpPr/>
          <p:nvPr/>
        </p:nvSpPr>
        <p:spPr>
          <a:xfrm>
            <a:off x="8266176" y="4535424"/>
            <a:ext cx="420624" cy="420624"/>
          </a:xfrm>
          <a:prstGeom prst="ellipse">
            <a:avLst/>
          </a:prstGeom>
          <a:solidFill>
            <a:srgbClr val="AF101A"/>
          </a:solidFill>
          <a:ln w="12700">
            <a:solidFill>
              <a:srgbClr val="AF101A"/>
            </a:solidFill>
            <a:prstDash val="solid"/>
          </a:ln>
        </p:spPr>
      </p:sp>
      <p:sp>
        <p:nvSpPr>
          <p:cNvPr id="33" name="Text 31"/>
          <p:cNvSpPr txBox="1"/>
          <p:nvPr/>
        </p:nvSpPr>
        <p:spPr>
          <a:xfrm>
            <a:off x="8266176" y="453542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4" name="Text 32"/>
          <p:cNvSpPr txBox="1"/>
          <p:nvPr/>
        </p:nvSpPr>
        <p:spPr>
          <a:xfrm>
            <a:off x="8266176" y="5056632"/>
            <a:ext cx="2962656" cy="292608"/>
          </a:xfrm>
          <a:prstGeom prst="rect">
            <a:avLst/>
          </a:prstGeom>
          <a:noFill/>
          <a:ln/>
        </p:spPr>
        <p:txBody>
          <a:bodyPr wrap="square" lIns="0" tIns="0" rIns="0" bIns="0" rtlCol="0" anchor="ctr"/>
          <a:lstStyle/>
          <a:p>
            <a:pPr indent="0" marL="0">
              <a:buNone/>
            </a:pPr>
            <a:r>
              <a:rPr lang="en-US" sz="1450" b="1" dirty="0">
                <a:solidFill>
                  <a:srgbClr val="AF101A"/>
                </a:solidFill>
                <a:latin typeface="Calibri" pitchFamily="34" charset="0"/>
                <a:ea typeface="Calibri" pitchFamily="34" charset="-122"/>
                <a:cs typeface="Calibri" pitchFamily="34" charset="-120"/>
              </a:rPr>
              <a:t>Strict hall isolation</a:t>
            </a:r>
            <a:endParaRPr lang="en-US" sz="1450" dirty="0"/>
          </a:p>
        </p:txBody>
      </p:sp>
      <p:sp>
        <p:nvSpPr>
          <p:cNvPr id="35" name="Text 33"/>
          <p:cNvSpPr txBox="1"/>
          <p:nvPr/>
        </p:nvSpPr>
        <p:spPr>
          <a:xfrm>
            <a:off x="8266176" y="5358384"/>
            <a:ext cx="2980944" cy="603504"/>
          </a:xfrm>
          <a:prstGeom prst="rect">
            <a:avLst/>
          </a:prstGeom>
          <a:noFill/>
          <a:ln/>
        </p:spPr>
        <p:txBody>
          <a:bodyPr wrap="square" lIns="0" tIns="0" rIns="0" bIns="0" rtlCol="0" anchor="t"/>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One account belongs to exactly one hall, enforced in the database rather than the interface.</a:t>
            </a:r>
            <a:endParaRPr lang="en-US" sz="1150" dirty="0"/>
          </a:p>
        </p:txBody>
      </p:sp>
      <p:sp>
        <p:nvSpPr>
          <p:cNvPr id="36" name="Text 34"/>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7" name="Text 35"/>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Review of Similar Systems</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What already exists, and why none of it fits a KNUST hall</a:t>
            </a:r>
            <a:endParaRPr lang="en-US" sz="1450" dirty="0"/>
          </a:p>
        </p:txBody>
      </p:sp>
      <p:sp>
        <p:nvSpPr>
          <p:cNvPr id="4" name="Shape 2"/>
          <p:cNvSpPr/>
          <p:nvPr/>
        </p:nvSpPr>
        <p:spPr>
          <a:xfrm>
            <a:off x="566928" y="1481328"/>
            <a:ext cx="3493008" cy="3602736"/>
          </a:xfrm>
          <a:prstGeom prst="roundRect">
            <a:avLst>
              <a:gd name="adj" fmla="val 2356"/>
            </a:avLst>
          </a:prstGeom>
          <a:solidFill>
            <a:srgbClr val="FCF6F5"/>
          </a:solidFill>
          <a:ln w="9525">
            <a:solidFill>
              <a:srgbClr val="E4BEBA"/>
            </a:solidFill>
            <a:prstDash val="solid"/>
          </a:ln>
        </p:spPr>
      </p:sp>
      <p:sp>
        <p:nvSpPr>
          <p:cNvPr id="5" name="Text 3"/>
          <p:cNvSpPr txBox="1"/>
          <p:nvPr/>
        </p:nvSpPr>
        <p:spPr>
          <a:xfrm>
            <a:off x="841248" y="1700784"/>
            <a:ext cx="2980944" cy="566928"/>
          </a:xfrm>
          <a:prstGeom prst="rect">
            <a:avLst/>
          </a:prstGeom>
          <a:noFill/>
          <a:ln/>
        </p:spPr>
        <p:txBody>
          <a:bodyPr wrap="square" lIns="0" tIns="0" rIns="0" bIns="0" rtlCol="0" anchor="t"/>
          <a:lstStyle/>
          <a:p>
            <a:pPr indent="0" marL="0">
              <a:buNone/>
            </a:pPr>
            <a:r>
              <a:rPr lang="en-US" sz="1800" b="1" dirty="0">
                <a:solidFill>
                  <a:srgbClr val="AF101A"/>
                </a:solidFill>
                <a:latin typeface="Cambria" pitchFamily="34" charset="0"/>
                <a:ea typeface="Cambria" pitchFamily="34" charset="-122"/>
                <a:cs typeface="Cambria" pitchFamily="34" charset="-120"/>
              </a:rPr>
              <a:t>Paper logbook</a:t>
            </a:r>
            <a:endParaRPr lang="en-US" sz="1800" dirty="0"/>
          </a:p>
        </p:txBody>
      </p:sp>
      <p:sp>
        <p:nvSpPr>
          <p:cNvPr id="6" name="Text 4"/>
          <p:cNvSpPr txBox="1"/>
          <p:nvPr/>
        </p:nvSpPr>
        <p:spPr>
          <a:xfrm>
            <a:off x="841248" y="2231136"/>
            <a:ext cx="2980944" cy="237744"/>
          </a:xfrm>
          <a:prstGeom prst="rect">
            <a:avLst/>
          </a:prstGeom>
          <a:noFill/>
          <a:ln/>
        </p:spPr>
        <p:txBody>
          <a:bodyPr wrap="square" lIns="0" tIns="0" rIns="0" bIns="0" rtlCol="0" anchor="ctr"/>
          <a:lstStyle/>
          <a:p>
            <a:pPr indent="0" marL="0">
              <a:buNone/>
            </a:pPr>
            <a:r>
              <a:rPr lang="en-US" sz="1100" i="1" dirty="0">
                <a:solidFill>
                  <a:srgbClr val="6B6360"/>
                </a:solidFill>
                <a:latin typeface="Calibri" pitchFamily="34" charset="0"/>
                <a:ea typeface="Calibri" pitchFamily="34" charset="-122"/>
                <a:cs typeface="Calibri" pitchFamily="34" charset="-120"/>
              </a:rPr>
              <a:t>Current practice</a:t>
            </a:r>
            <a:endParaRPr lang="en-US" sz="1100" dirty="0"/>
          </a:p>
        </p:txBody>
      </p:sp>
      <p:sp>
        <p:nvSpPr>
          <p:cNvPr id="7" name="Text 5"/>
          <p:cNvSpPr txBox="1"/>
          <p:nvPr/>
        </p:nvSpPr>
        <p:spPr>
          <a:xfrm>
            <a:off x="841248" y="2615184"/>
            <a:ext cx="2980944" cy="219456"/>
          </a:xfrm>
          <a:prstGeom prst="rect">
            <a:avLst/>
          </a:prstGeom>
          <a:noFill/>
          <a:ln/>
        </p:spPr>
        <p:txBody>
          <a:bodyPr wrap="square" lIns="0" tIns="0" rIns="0" bIns="0" rtlCol="0" anchor="t"/>
          <a:lstStyle/>
          <a:p>
            <a:pPr indent="0" marL="0">
              <a:buNone/>
            </a:pPr>
            <a:r>
              <a:rPr lang="en-US" sz="1000" b="1" spc="150" kern="0" dirty="0">
                <a:solidFill>
                  <a:srgbClr val="1B5E20"/>
                </a:solidFill>
                <a:latin typeface="Calibri" pitchFamily="34" charset="0"/>
                <a:ea typeface="Calibri" pitchFamily="34" charset="-122"/>
                <a:cs typeface="Calibri" pitchFamily="34" charset="-120"/>
              </a:rPr>
              <a:t>STRENGTHS</a:t>
            </a:r>
            <a:endParaRPr lang="en-US" sz="1000" dirty="0"/>
          </a:p>
        </p:txBody>
      </p:sp>
      <p:sp>
        <p:nvSpPr>
          <p:cNvPr id="8" name="Text 6"/>
          <p:cNvSpPr txBox="1"/>
          <p:nvPr/>
        </p:nvSpPr>
        <p:spPr>
          <a:xfrm>
            <a:off x="841248" y="2834640"/>
            <a:ext cx="2980944" cy="658368"/>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No cost, no training needed</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Works without power or data</a:t>
            </a:r>
            <a:endParaRPr lang="en-US" sz="1150" dirty="0"/>
          </a:p>
        </p:txBody>
      </p:sp>
      <p:sp>
        <p:nvSpPr>
          <p:cNvPr id="9" name="Text 7"/>
          <p:cNvSpPr txBox="1"/>
          <p:nvPr/>
        </p:nvSpPr>
        <p:spPr>
          <a:xfrm>
            <a:off x="841248" y="3584448"/>
            <a:ext cx="2980944" cy="219456"/>
          </a:xfrm>
          <a:prstGeom prst="rect">
            <a:avLst/>
          </a:prstGeom>
          <a:noFill/>
          <a:ln/>
        </p:spPr>
        <p:txBody>
          <a:bodyPr wrap="square" lIns="0" tIns="0" rIns="0" bIns="0" rtlCol="0" anchor="t"/>
          <a:lstStyle/>
          <a:p>
            <a:pPr indent="0" marL="0">
              <a:buNone/>
            </a:pPr>
            <a:r>
              <a:rPr lang="en-US" sz="1000" b="1" spc="150" kern="0" dirty="0">
                <a:solidFill>
                  <a:srgbClr val="AF101A"/>
                </a:solidFill>
                <a:latin typeface="Calibri" pitchFamily="34" charset="0"/>
                <a:ea typeface="Calibri" pitchFamily="34" charset="-122"/>
                <a:cs typeface="Calibri" pitchFamily="34" charset="-120"/>
              </a:rPr>
              <a:t>LIMITATIONS</a:t>
            </a:r>
            <a:endParaRPr lang="en-US" sz="1000" dirty="0"/>
          </a:p>
        </p:txBody>
      </p:sp>
      <p:sp>
        <p:nvSpPr>
          <p:cNvPr id="10" name="Text 8"/>
          <p:cNvSpPr txBox="1"/>
          <p:nvPr/>
        </p:nvSpPr>
        <p:spPr>
          <a:xfrm>
            <a:off x="841248" y="3803904"/>
            <a:ext cx="2980944" cy="1463040"/>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No tracking or audit trail</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Illegible, incomplete entries</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Reports are routinely lost</a:t>
            </a:r>
            <a:endParaRPr lang="en-US" sz="1150" dirty="0"/>
          </a:p>
        </p:txBody>
      </p:sp>
      <p:sp>
        <p:nvSpPr>
          <p:cNvPr id="11" name="Shape 9"/>
          <p:cNvSpPr/>
          <p:nvPr/>
        </p:nvSpPr>
        <p:spPr>
          <a:xfrm>
            <a:off x="4279392" y="1481328"/>
            <a:ext cx="3493008" cy="3602736"/>
          </a:xfrm>
          <a:prstGeom prst="roundRect">
            <a:avLst>
              <a:gd name="adj" fmla="val 2356"/>
            </a:avLst>
          </a:prstGeom>
          <a:solidFill>
            <a:srgbClr val="FFFFFF"/>
          </a:solidFill>
          <a:ln w="9525">
            <a:solidFill>
              <a:srgbClr val="E4BEBA"/>
            </a:solidFill>
            <a:prstDash val="solid"/>
          </a:ln>
        </p:spPr>
      </p:sp>
      <p:sp>
        <p:nvSpPr>
          <p:cNvPr id="12" name="Text 10"/>
          <p:cNvSpPr txBox="1"/>
          <p:nvPr/>
        </p:nvSpPr>
        <p:spPr>
          <a:xfrm>
            <a:off x="4553712" y="1700784"/>
            <a:ext cx="2980944" cy="566928"/>
          </a:xfrm>
          <a:prstGeom prst="rect">
            <a:avLst/>
          </a:prstGeom>
          <a:noFill/>
          <a:ln/>
        </p:spPr>
        <p:txBody>
          <a:bodyPr wrap="square" lIns="0" tIns="0" rIns="0" bIns="0" rtlCol="0" anchor="t"/>
          <a:lstStyle/>
          <a:p>
            <a:pPr indent="0" marL="0">
              <a:buNone/>
            </a:pPr>
            <a:r>
              <a:rPr lang="en-US" sz="1800" b="1" dirty="0">
                <a:solidFill>
                  <a:srgbClr val="6B6360"/>
                </a:solidFill>
                <a:latin typeface="Cambria" pitchFamily="34" charset="0"/>
                <a:ea typeface="Cambria" pitchFamily="34" charset="-122"/>
                <a:cs typeface="Cambria" pitchFamily="34" charset="-120"/>
              </a:rPr>
              <a:t>Generic web forms</a:t>
            </a:r>
            <a:endParaRPr lang="en-US" sz="1800" dirty="0"/>
          </a:p>
        </p:txBody>
      </p:sp>
      <p:sp>
        <p:nvSpPr>
          <p:cNvPr id="13" name="Text 11"/>
          <p:cNvSpPr txBox="1"/>
          <p:nvPr/>
        </p:nvSpPr>
        <p:spPr>
          <a:xfrm>
            <a:off x="4553712" y="2231136"/>
            <a:ext cx="2980944" cy="237744"/>
          </a:xfrm>
          <a:prstGeom prst="rect">
            <a:avLst/>
          </a:prstGeom>
          <a:noFill/>
          <a:ln/>
        </p:spPr>
        <p:txBody>
          <a:bodyPr wrap="square" lIns="0" tIns="0" rIns="0" bIns="0" rtlCol="0" anchor="ctr"/>
          <a:lstStyle/>
          <a:p>
            <a:pPr indent="0" marL="0">
              <a:buNone/>
            </a:pPr>
            <a:r>
              <a:rPr lang="en-US" sz="1100" i="1" dirty="0">
                <a:solidFill>
                  <a:srgbClr val="6B6360"/>
                </a:solidFill>
                <a:latin typeface="Calibri" pitchFamily="34" charset="0"/>
                <a:ea typeface="Calibri" pitchFamily="34" charset="-122"/>
                <a:cs typeface="Calibri" pitchFamily="34" charset="-120"/>
              </a:rPr>
              <a:t>Google Forms and similar</a:t>
            </a:r>
            <a:endParaRPr lang="en-US" sz="1100" dirty="0"/>
          </a:p>
        </p:txBody>
      </p:sp>
      <p:sp>
        <p:nvSpPr>
          <p:cNvPr id="14" name="Text 12"/>
          <p:cNvSpPr txBox="1"/>
          <p:nvPr/>
        </p:nvSpPr>
        <p:spPr>
          <a:xfrm>
            <a:off x="4553712" y="2615184"/>
            <a:ext cx="2980944" cy="219456"/>
          </a:xfrm>
          <a:prstGeom prst="rect">
            <a:avLst/>
          </a:prstGeom>
          <a:noFill/>
          <a:ln/>
        </p:spPr>
        <p:txBody>
          <a:bodyPr wrap="square" lIns="0" tIns="0" rIns="0" bIns="0" rtlCol="0" anchor="t"/>
          <a:lstStyle/>
          <a:p>
            <a:pPr indent="0" marL="0">
              <a:buNone/>
            </a:pPr>
            <a:r>
              <a:rPr lang="en-US" sz="1000" b="1" spc="150" kern="0" dirty="0">
                <a:solidFill>
                  <a:srgbClr val="1B5E20"/>
                </a:solidFill>
                <a:latin typeface="Calibri" pitchFamily="34" charset="0"/>
                <a:ea typeface="Calibri" pitchFamily="34" charset="-122"/>
                <a:cs typeface="Calibri" pitchFamily="34" charset="-120"/>
              </a:rPr>
              <a:t>STRENGTHS</a:t>
            </a:r>
            <a:endParaRPr lang="en-US" sz="1000" dirty="0"/>
          </a:p>
        </p:txBody>
      </p:sp>
      <p:sp>
        <p:nvSpPr>
          <p:cNvPr id="15" name="Text 13"/>
          <p:cNvSpPr txBox="1"/>
          <p:nvPr/>
        </p:nvSpPr>
        <p:spPr>
          <a:xfrm>
            <a:off x="4553712" y="2834640"/>
            <a:ext cx="2980944" cy="658368"/>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Fast to build</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Any browser can reach it</a:t>
            </a:r>
            <a:endParaRPr lang="en-US" sz="1150" dirty="0"/>
          </a:p>
        </p:txBody>
      </p:sp>
      <p:sp>
        <p:nvSpPr>
          <p:cNvPr id="16" name="Text 14"/>
          <p:cNvSpPr txBox="1"/>
          <p:nvPr/>
        </p:nvSpPr>
        <p:spPr>
          <a:xfrm>
            <a:off x="4553712" y="3584448"/>
            <a:ext cx="2980944" cy="219456"/>
          </a:xfrm>
          <a:prstGeom prst="rect">
            <a:avLst/>
          </a:prstGeom>
          <a:noFill/>
          <a:ln/>
        </p:spPr>
        <p:txBody>
          <a:bodyPr wrap="square" lIns="0" tIns="0" rIns="0" bIns="0" rtlCol="0" anchor="t"/>
          <a:lstStyle/>
          <a:p>
            <a:pPr indent="0" marL="0">
              <a:buNone/>
            </a:pPr>
            <a:r>
              <a:rPr lang="en-US" sz="1000" b="1" spc="150" kern="0" dirty="0">
                <a:solidFill>
                  <a:srgbClr val="AF101A"/>
                </a:solidFill>
                <a:latin typeface="Calibri" pitchFamily="34" charset="0"/>
                <a:ea typeface="Calibri" pitchFamily="34" charset="-122"/>
                <a:cs typeface="Calibri" pitchFamily="34" charset="-120"/>
              </a:rPr>
              <a:t>LIMITATIONS</a:t>
            </a:r>
            <a:endParaRPr lang="en-US" sz="1000" dirty="0"/>
          </a:p>
        </p:txBody>
      </p:sp>
      <p:sp>
        <p:nvSpPr>
          <p:cNvPr id="17" name="Text 15"/>
          <p:cNvSpPr txBox="1"/>
          <p:nvPr/>
        </p:nvSpPr>
        <p:spPr>
          <a:xfrm>
            <a:off x="4553712" y="3803904"/>
            <a:ext cx="2980944" cy="1463040"/>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No native camera capture</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No push notifications</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No offline access</a:t>
            </a:r>
            <a:endParaRPr lang="en-US" sz="1150" dirty="0"/>
          </a:p>
        </p:txBody>
      </p:sp>
      <p:sp>
        <p:nvSpPr>
          <p:cNvPr id="18" name="Shape 16"/>
          <p:cNvSpPr/>
          <p:nvPr/>
        </p:nvSpPr>
        <p:spPr>
          <a:xfrm>
            <a:off x="7991856" y="1481328"/>
            <a:ext cx="3493008" cy="3602736"/>
          </a:xfrm>
          <a:prstGeom prst="roundRect">
            <a:avLst>
              <a:gd name="adj" fmla="val 2356"/>
            </a:avLst>
          </a:prstGeom>
          <a:solidFill>
            <a:srgbClr val="FFFFFF"/>
          </a:solidFill>
          <a:ln w="9525">
            <a:solidFill>
              <a:srgbClr val="E4BEBA"/>
            </a:solidFill>
            <a:prstDash val="solid"/>
          </a:ln>
        </p:spPr>
      </p:sp>
      <p:sp>
        <p:nvSpPr>
          <p:cNvPr id="19" name="Text 17"/>
          <p:cNvSpPr txBox="1"/>
          <p:nvPr/>
        </p:nvSpPr>
        <p:spPr>
          <a:xfrm>
            <a:off x="8266176" y="1700784"/>
            <a:ext cx="2980944" cy="566928"/>
          </a:xfrm>
          <a:prstGeom prst="rect">
            <a:avLst/>
          </a:prstGeom>
          <a:noFill/>
          <a:ln/>
        </p:spPr>
        <p:txBody>
          <a:bodyPr wrap="square" lIns="0" tIns="0" rIns="0" bIns="0" rtlCol="0" anchor="t"/>
          <a:lstStyle/>
          <a:p>
            <a:pPr indent="0" marL="0">
              <a:buNone/>
            </a:pPr>
            <a:r>
              <a:rPr lang="en-US" sz="1800" b="1" dirty="0">
                <a:solidFill>
                  <a:srgbClr val="006994"/>
                </a:solidFill>
                <a:latin typeface="Cambria" pitchFamily="34" charset="0"/>
                <a:ea typeface="Cambria" pitchFamily="34" charset="-122"/>
                <a:cs typeface="Cambria" pitchFamily="34" charset="-120"/>
              </a:rPr>
              <a:t>Commercial tenant portals</a:t>
            </a:r>
            <a:endParaRPr lang="en-US" sz="1800" dirty="0"/>
          </a:p>
        </p:txBody>
      </p:sp>
      <p:sp>
        <p:nvSpPr>
          <p:cNvPr id="20" name="Text 18"/>
          <p:cNvSpPr txBox="1"/>
          <p:nvPr/>
        </p:nvSpPr>
        <p:spPr>
          <a:xfrm>
            <a:off x="8266176" y="2231136"/>
            <a:ext cx="2980944" cy="237744"/>
          </a:xfrm>
          <a:prstGeom prst="rect">
            <a:avLst/>
          </a:prstGeom>
          <a:noFill/>
          <a:ln/>
        </p:spPr>
        <p:txBody>
          <a:bodyPr wrap="square" lIns="0" tIns="0" rIns="0" bIns="0" rtlCol="0" anchor="ctr"/>
          <a:lstStyle/>
          <a:p>
            <a:pPr indent="0" marL="0">
              <a:buNone/>
            </a:pPr>
            <a:r>
              <a:rPr lang="en-US" sz="1100" i="1" dirty="0">
                <a:solidFill>
                  <a:srgbClr val="6B6360"/>
                </a:solidFill>
                <a:latin typeface="Calibri" pitchFamily="34" charset="0"/>
                <a:ea typeface="Calibri" pitchFamily="34" charset="-122"/>
                <a:cs typeface="Calibri" pitchFamily="34" charset="-120"/>
              </a:rPr>
              <a:t>Rent Cafe, Resident Center</a:t>
            </a:r>
            <a:endParaRPr lang="en-US" sz="1100" dirty="0"/>
          </a:p>
        </p:txBody>
      </p:sp>
      <p:sp>
        <p:nvSpPr>
          <p:cNvPr id="21" name="Text 19"/>
          <p:cNvSpPr txBox="1"/>
          <p:nvPr/>
        </p:nvSpPr>
        <p:spPr>
          <a:xfrm>
            <a:off x="8266176" y="2615184"/>
            <a:ext cx="2980944" cy="219456"/>
          </a:xfrm>
          <a:prstGeom prst="rect">
            <a:avLst/>
          </a:prstGeom>
          <a:noFill/>
          <a:ln/>
        </p:spPr>
        <p:txBody>
          <a:bodyPr wrap="square" lIns="0" tIns="0" rIns="0" bIns="0" rtlCol="0" anchor="t"/>
          <a:lstStyle/>
          <a:p>
            <a:pPr indent="0" marL="0">
              <a:buNone/>
            </a:pPr>
            <a:r>
              <a:rPr lang="en-US" sz="1000" b="1" spc="150" kern="0" dirty="0">
                <a:solidFill>
                  <a:srgbClr val="1B5E20"/>
                </a:solidFill>
                <a:latin typeface="Calibri" pitchFamily="34" charset="0"/>
                <a:ea typeface="Calibri" pitchFamily="34" charset="-122"/>
                <a:cs typeface="Calibri" pitchFamily="34" charset="-120"/>
              </a:rPr>
              <a:t>STRENGTHS</a:t>
            </a:r>
            <a:endParaRPr lang="en-US" sz="1000" dirty="0"/>
          </a:p>
        </p:txBody>
      </p:sp>
      <p:sp>
        <p:nvSpPr>
          <p:cNvPr id="22" name="Text 20"/>
          <p:cNvSpPr txBox="1"/>
          <p:nvPr/>
        </p:nvSpPr>
        <p:spPr>
          <a:xfrm>
            <a:off x="8266176" y="2834640"/>
            <a:ext cx="2980944" cy="658368"/>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Mature work-order engines</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Full accounting integration</a:t>
            </a:r>
            <a:endParaRPr lang="en-US" sz="1150" dirty="0"/>
          </a:p>
        </p:txBody>
      </p:sp>
      <p:sp>
        <p:nvSpPr>
          <p:cNvPr id="23" name="Text 21"/>
          <p:cNvSpPr txBox="1"/>
          <p:nvPr/>
        </p:nvSpPr>
        <p:spPr>
          <a:xfrm>
            <a:off x="8266176" y="3584448"/>
            <a:ext cx="2980944" cy="219456"/>
          </a:xfrm>
          <a:prstGeom prst="rect">
            <a:avLst/>
          </a:prstGeom>
          <a:noFill/>
          <a:ln/>
        </p:spPr>
        <p:txBody>
          <a:bodyPr wrap="square" lIns="0" tIns="0" rIns="0" bIns="0" rtlCol="0" anchor="t"/>
          <a:lstStyle/>
          <a:p>
            <a:pPr indent="0" marL="0">
              <a:buNone/>
            </a:pPr>
            <a:r>
              <a:rPr lang="en-US" sz="1000" b="1" spc="150" kern="0" dirty="0">
                <a:solidFill>
                  <a:srgbClr val="AF101A"/>
                </a:solidFill>
                <a:latin typeface="Calibri" pitchFamily="34" charset="0"/>
                <a:ea typeface="Calibri" pitchFamily="34" charset="-122"/>
                <a:cs typeface="Calibri" pitchFamily="34" charset="-120"/>
              </a:rPr>
              <a:t>LIMITATIONS</a:t>
            </a:r>
            <a:endParaRPr lang="en-US" sz="1000" dirty="0"/>
          </a:p>
        </p:txBody>
      </p:sp>
      <p:sp>
        <p:nvSpPr>
          <p:cNvPr id="24" name="Text 22"/>
          <p:cNvSpPr txBox="1"/>
          <p:nvPr/>
        </p:nvSpPr>
        <p:spPr>
          <a:xfrm>
            <a:off x="8266176" y="3803904"/>
            <a:ext cx="2980944" cy="1463040"/>
          </a:xfrm>
          <a:prstGeom prst="rect">
            <a:avLst/>
          </a:prstGeom>
          <a:noFill/>
          <a:ln/>
        </p:spPr>
        <p:txBody>
          <a:bodyPr wrap="square" lIns="0" tIns="0" rIns="0" bIns="0" rtlCol="0" anchor="t"/>
          <a:lstStyle/>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Licensed per unit — costly</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Built around leases and rent</a:t>
            </a:r>
            <a:endParaRPr lang="en-US" sz="1150" dirty="0"/>
          </a:p>
          <a:p>
            <a:pPr marL="342900" indent="-342900">
              <a:lnSpc>
                <a:spcPts val="1500"/>
              </a:lnSpc>
              <a:spcAft>
                <a:spcPts val="300"/>
              </a:spcAft>
              <a:buSzPct val="100000"/>
              <a:buChar char="•"/>
            </a:pPr>
            <a:r>
              <a:rPr lang="en-US" sz="1150" dirty="0">
                <a:solidFill>
                  <a:srgbClr val="1A1C1C"/>
                </a:solidFill>
                <a:latin typeface="Calibri" pitchFamily="34" charset="0"/>
                <a:ea typeface="Calibri" pitchFamily="34" charset="-122"/>
                <a:cs typeface="Calibri" pitchFamily="34" charset="-120"/>
              </a:rPr>
              <a:t>No hall / block / floor model</a:t>
            </a:r>
            <a:endParaRPr lang="en-US" sz="1150" dirty="0"/>
          </a:p>
        </p:txBody>
      </p:sp>
      <p:sp>
        <p:nvSpPr>
          <p:cNvPr id="25" name="Text 23"/>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26" name="Text 24"/>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System Architecture</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Two clients, one managed backend — no self-hosted application server</a:t>
            </a:r>
            <a:endParaRPr lang="en-US" sz="1450" dirty="0"/>
          </a:p>
        </p:txBody>
      </p:sp>
      <p:sp>
        <p:nvSpPr>
          <p:cNvPr id="4" name="Shape 2"/>
          <p:cNvSpPr/>
          <p:nvPr/>
        </p:nvSpPr>
        <p:spPr>
          <a:xfrm>
            <a:off x="566928" y="1463040"/>
            <a:ext cx="3566160" cy="2212848"/>
          </a:xfrm>
          <a:prstGeom prst="roundRect">
            <a:avLst>
              <a:gd name="adj" fmla="val 3719"/>
            </a:avLst>
          </a:prstGeom>
          <a:solidFill>
            <a:srgbClr val="FFFFFF"/>
          </a:solidFill>
          <a:ln w="19050">
            <a:solidFill>
              <a:srgbClr val="AF101A"/>
            </a:solidFill>
            <a:prstDash val="solid"/>
          </a:ln>
        </p:spPr>
      </p:sp>
      <p:sp>
        <p:nvSpPr>
          <p:cNvPr id="5" name="Text 3"/>
          <p:cNvSpPr txBox="1"/>
          <p:nvPr/>
        </p:nvSpPr>
        <p:spPr>
          <a:xfrm>
            <a:off x="804672" y="1664208"/>
            <a:ext cx="3108960" cy="310896"/>
          </a:xfrm>
          <a:prstGeom prst="rect">
            <a:avLst/>
          </a:prstGeom>
          <a:noFill/>
          <a:ln/>
        </p:spPr>
        <p:txBody>
          <a:bodyPr wrap="square" lIns="0" tIns="0" rIns="0" bIns="0" rtlCol="0" anchor="ctr"/>
          <a:lstStyle/>
          <a:p>
            <a:pPr indent="0" marL="0">
              <a:buNone/>
            </a:pPr>
            <a:r>
              <a:rPr lang="en-US" sz="1550" b="1" dirty="0">
                <a:solidFill>
                  <a:srgbClr val="AF101A"/>
                </a:solidFill>
                <a:latin typeface="Calibri" pitchFamily="34" charset="0"/>
                <a:ea typeface="Calibri" pitchFamily="34" charset="-122"/>
                <a:cs typeface="Calibri" pitchFamily="34" charset="-120"/>
              </a:rPr>
              <a:t>Mobile Student Client</a:t>
            </a:r>
            <a:endParaRPr lang="en-US" sz="1550" dirty="0"/>
          </a:p>
        </p:txBody>
      </p:sp>
      <p:sp>
        <p:nvSpPr>
          <p:cNvPr id="6" name="Text 4"/>
          <p:cNvSpPr txBox="1"/>
          <p:nvPr/>
        </p:nvSpPr>
        <p:spPr>
          <a:xfrm>
            <a:off x="804672" y="1975104"/>
            <a:ext cx="3108960" cy="237744"/>
          </a:xfrm>
          <a:prstGeom prst="rect">
            <a:avLst/>
          </a:prstGeom>
          <a:noFill/>
          <a:ln/>
        </p:spPr>
        <p:txBody>
          <a:bodyPr wrap="square" lIns="0" tIns="0" rIns="0" bIns="0" rtlCol="0" anchor="ctr"/>
          <a:lstStyle/>
          <a:p>
            <a:pPr indent="0" marL="0">
              <a:buNone/>
            </a:pPr>
            <a:r>
              <a:rPr lang="en-US" sz="1050" dirty="0">
                <a:solidFill>
                  <a:srgbClr val="6B6360"/>
                </a:solidFill>
                <a:latin typeface="Calibri" pitchFamily="34" charset="0"/>
                <a:ea typeface="Calibri" pitchFamily="34" charset="-122"/>
                <a:cs typeface="Calibri" pitchFamily="34" charset="-120"/>
              </a:rPr>
              <a:t>React Native 0.81 · Expo SDK 54</a:t>
            </a:r>
            <a:endParaRPr lang="en-US" sz="1050" dirty="0"/>
          </a:p>
        </p:txBody>
      </p:sp>
      <p:sp>
        <p:nvSpPr>
          <p:cNvPr id="7" name="Text 5"/>
          <p:cNvSpPr txBox="1"/>
          <p:nvPr/>
        </p:nvSpPr>
        <p:spPr>
          <a:xfrm>
            <a:off x="804672" y="2304288"/>
            <a:ext cx="3108960" cy="1207008"/>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100" dirty="0">
                <a:solidFill>
                  <a:srgbClr val="1A1C1C"/>
                </a:solidFill>
                <a:latin typeface="Calibri" pitchFamily="34" charset="0"/>
                <a:ea typeface="Calibri" pitchFamily="34" charset="-122"/>
                <a:cs typeface="Calibri" pitchFamily="34" charset="-120"/>
              </a:rPr>
              <a:t>26 screens, stack + bottom tabs</a:t>
            </a:r>
            <a:endParaRPr lang="en-US" sz="1100" dirty="0"/>
          </a:p>
          <a:p>
            <a:pPr marL="342900" indent="-342900">
              <a:lnSpc>
                <a:spcPts val="1400"/>
              </a:lnSpc>
              <a:spcAft>
                <a:spcPts val="200"/>
              </a:spcAft>
              <a:buSzPct val="100000"/>
              <a:buChar char="•"/>
            </a:pPr>
            <a:r>
              <a:rPr lang="en-US" sz="1100" dirty="0">
                <a:solidFill>
                  <a:srgbClr val="1A1C1C"/>
                </a:solidFill>
                <a:latin typeface="Calibri" pitchFamily="34" charset="0"/>
                <a:ea typeface="Calibri" pitchFamily="34" charset="-122"/>
                <a:cs typeface="Calibri" pitchFamily="34" charset="-120"/>
              </a:rPr>
              <a:t>Camera and video capture</a:t>
            </a:r>
            <a:endParaRPr lang="en-US" sz="1100" dirty="0"/>
          </a:p>
          <a:p>
            <a:pPr marL="342900" indent="-342900">
              <a:lnSpc>
                <a:spcPts val="1400"/>
              </a:lnSpc>
              <a:spcAft>
                <a:spcPts val="200"/>
              </a:spcAft>
              <a:buSzPct val="100000"/>
              <a:buChar char="•"/>
            </a:pPr>
            <a:r>
              <a:rPr lang="en-US" sz="1100" dirty="0">
                <a:solidFill>
                  <a:srgbClr val="1A1C1C"/>
                </a:solidFill>
                <a:latin typeface="Calibri" pitchFamily="34" charset="0"/>
                <a:ea typeface="Calibri" pitchFamily="34" charset="-122"/>
                <a:cs typeface="Calibri" pitchFamily="34" charset="-120"/>
              </a:rPr>
              <a:t>Per-hall visual theming</a:t>
            </a:r>
            <a:endParaRPr lang="en-US" sz="1100" dirty="0"/>
          </a:p>
        </p:txBody>
      </p:sp>
      <p:sp>
        <p:nvSpPr>
          <p:cNvPr id="8" name="Shape 6"/>
          <p:cNvSpPr/>
          <p:nvPr/>
        </p:nvSpPr>
        <p:spPr>
          <a:xfrm>
            <a:off x="566928" y="3931920"/>
            <a:ext cx="3566160" cy="2212848"/>
          </a:xfrm>
          <a:prstGeom prst="roundRect">
            <a:avLst>
              <a:gd name="adj" fmla="val 3719"/>
            </a:avLst>
          </a:prstGeom>
          <a:solidFill>
            <a:srgbClr val="FFFFFF"/>
          </a:solidFill>
          <a:ln w="19050">
            <a:solidFill>
              <a:srgbClr val="006994"/>
            </a:solidFill>
            <a:prstDash val="solid"/>
          </a:ln>
        </p:spPr>
      </p:sp>
      <p:sp>
        <p:nvSpPr>
          <p:cNvPr id="9" name="Text 7"/>
          <p:cNvSpPr txBox="1"/>
          <p:nvPr/>
        </p:nvSpPr>
        <p:spPr>
          <a:xfrm>
            <a:off x="804672" y="4133088"/>
            <a:ext cx="3108960" cy="310896"/>
          </a:xfrm>
          <a:prstGeom prst="rect">
            <a:avLst/>
          </a:prstGeom>
          <a:noFill/>
          <a:ln/>
        </p:spPr>
        <p:txBody>
          <a:bodyPr wrap="square" lIns="0" tIns="0" rIns="0" bIns="0" rtlCol="0" anchor="ctr"/>
          <a:lstStyle/>
          <a:p>
            <a:pPr indent="0" marL="0">
              <a:buNone/>
            </a:pPr>
            <a:r>
              <a:rPr lang="en-US" sz="1550" b="1" dirty="0">
                <a:solidFill>
                  <a:srgbClr val="006994"/>
                </a:solidFill>
                <a:latin typeface="Calibri" pitchFamily="34" charset="0"/>
                <a:ea typeface="Calibri" pitchFamily="34" charset="-122"/>
                <a:cs typeface="Calibri" pitchFamily="34" charset="-120"/>
              </a:rPr>
              <a:t>Web Admin Dashboard</a:t>
            </a:r>
            <a:endParaRPr lang="en-US" sz="1550" dirty="0"/>
          </a:p>
        </p:txBody>
      </p:sp>
      <p:sp>
        <p:nvSpPr>
          <p:cNvPr id="10" name="Text 8"/>
          <p:cNvSpPr txBox="1"/>
          <p:nvPr/>
        </p:nvSpPr>
        <p:spPr>
          <a:xfrm>
            <a:off x="804672" y="4443984"/>
            <a:ext cx="3108960" cy="237744"/>
          </a:xfrm>
          <a:prstGeom prst="rect">
            <a:avLst/>
          </a:prstGeom>
          <a:noFill/>
          <a:ln/>
        </p:spPr>
        <p:txBody>
          <a:bodyPr wrap="square" lIns="0" tIns="0" rIns="0" bIns="0" rtlCol="0" anchor="ctr"/>
          <a:lstStyle/>
          <a:p>
            <a:pPr indent="0" marL="0">
              <a:buNone/>
            </a:pPr>
            <a:r>
              <a:rPr lang="en-US" sz="1050" dirty="0">
                <a:solidFill>
                  <a:srgbClr val="6B6360"/>
                </a:solidFill>
                <a:latin typeface="Calibri" pitchFamily="34" charset="0"/>
                <a:ea typeface="Calibri" pitchFamily="34" charset="-122"/>
                <a:cs typeface="Calibri" pitchFamily="34" charset="-120"/>
              </a:rPr>
              <a:t>React 19 · React Router 7</a:t>
            </a:r>
            <a:endParaRPr lang="en-US" sz="1050" dirty="0"/>
          </a:p>
        </p:txBody>
      </p:sp>
      <p:sp>
        <p:nvSpPr>
          <p:cNvPr id="11" name="Text 9"/>
          <p:cNvSpPr txBox="1"/>
          <p:nvPr/>
        </p:nvSpPr>
        <p:spPr>
          <a:xfrm>
            <a:off x="804672" y="4773168"/>
            <a:ext cx="3108960" cy="1207008"/>
          </a:xfrm>
          <a:prstGeom prst="rect">
            <a:avLst/>
          </a:prstGeom>
          <a:noFill/>
          <a:ln/>
        </p:spPr>
        <p:txBody>
          <a:bodyPr wrap="square" lIns="0" tIns="0" rIns="0" bIns="0" rtlCol="0" anchor="t"/>
          <a:lstStyle/>
          <a:p>
            <a:pPr marL="342900" indent="-342900">
              <a:lnSpc>
                <a:spcPts val="1400"/>
              </a:lnSpc>
              <a:spcAft>
                <a:spcPts val="200"/>
              </a:spcAft>
              <a:buSzPct val="100000"/>
              <a:buChar char="•"/>
            </a:pPr>
            <a:r>
              <a:rPr lang="en-US" sz="1100" dirty="0">
                <a:solidFill>
                  <a:srgbClr val="1A1C1C"/>
                </a:solidFill>
                <a:latin typeface="Calibri" pitchFamily="34" charset="0"/>
                <a:ea typeface="Calibri" pitchFamily="34" charset="-122"/>
                <a:cs typeface="Calibri" pitchFamily="34" charset="-120"/>
              </a:rPr>
              <a:t>Triage, scheduling, staff, halls</a:t>
            </a:r>
            <a:endParaRPr lang="en-US" sz="1100" dirty="0"/>
          </a:p>
          <a:p>
            <a:pPr marL="342900" indent="-342900">
              <a:lnSpc>
                <a:spcPts val="1400"/>
              </a:lnSpc>
              <a:spcAft>
                <a:spcPts val="200"/>
              </a:spcAft>
              <a:buSzPct val="100000"/>
              <a:buChar char="•"/>
            </a:pPr>
            <a:r>
              <a:rPr lang="en-US" sz="1100" dirty="0">
                <a:solidFill>
                  <a:srgbClr val="1A1C1C"/>
                </a:solidFill>
                <a:latin typeface="Calibri" pitchFamily="34" charset="0"/>
                <a:ea typeface="Calibri" pitchFamily="34" charset="-122"/>
                <a:cs typeface="Calibri" pitchFamily="34" charset="-120"/>
              </a:rPr>
              <a:t>Realtime subscription to reports</a:t>
            </a:r>
            <a:endParaRPr lang="en-US" sz="1100" dirty="0"/>
          </a:p>
          <a:p>
            <a:pPr marL="342900" indent="-342900">
              <a:lnSpc>
                <a:spcPts val="1400"/>
              </a:lnSpc>
              <a:spcAft>
                <a:spcPts val="200"/>
              </a:spcAft>
              <a:buSzPct val="100000"/>
              <a:buChar char="•"/>
            </a:pPr>
            <a:r>
              <a:rPr lang="en-US" sz="1100" dirty="0">
                <a:solidFill>
                  <a:srgbClr val="1A1C1C"/>
                </a:solidFill>
                <a:latin typeface="Calibri" pitchFamily="34" charset="0"/>
                <a:ea typeface="Calibri" pitchFamily="34" charset="-122"/>
                <a:cs typeface="Calibri" pitchFamily="34" charset="-120"/>
              </a:rPr>
              <a:t>Route guards from the database role</a:t>
            </a:r>
            <a:endParaRPr lang="en-US" sz="1100" dirty="0"/>
          </a:p>
        </p:txBody>
      </p:sp>
      <p:sp>
        <p:nvSpPr>
          <p:cNvPr id="12" name="Shape 10"/>
          <p:cNvSpPr/>
          <p:nvPr/>
        </p:nvSpPr>
        <p:spPr>
          <a:xfrm>
            <a:off x="5852160" y="1463040"/>
            <a:ext cx="5769864" cy="4681728"/>
          </a:xfrm>
          <a:prstGeom prst="roundRect">
            <a:avLst>
              <a:gd name="adj" fmla="val 1758"/>
            </a:avLst>
          </a:prstGeom>
          <a:solidFill>
            <a:srgbClr val="1A1C1C"/>
          </a:solidFill>
          <a:ln w="12700">
            <a:solidFill>
              <a:srgbClr val="1A1C1C"/>
            </a:solidFill>
            <a:prstDash val="solid"/>
          </a:ln>
        </p:spPr>
      </p:sp>
      <p:sp>
        <p:nvSpPr>
          <p:cNvPr id="13" name="Text 11"/>
          <p:cNvSpPr txBox="1"/>
          <p:nvPr/>
        </p:nvSpPr>
        <p:spPr>
          <a:xfrm>
            <a:off x="6108192" y="1682496"/>
            <a:ext cx="5212080" cy="365760"/>
          </a:xfrm>
          <a:prstGeom prst="rect">
            <a:avLst/>
          </a:prstGeom>
          <a:noFill/>
          <a:ln/>
        </p:spPr>
        <p:txBody>
          <a:bodyPr wrap="square" lIns="0" tIns="0" rIns="0" bIns="0" rtlCol="0" anchor="ctr"/>
          <a:lstStyle/>
          <a:p>
            <a:pPr indent="0" marL="0">
              <a:buNone/>
            </a:pPr>
            <a:r>
              <a:rPr lang="en-US" sz="2000" b="1" dirty="0">
                <a:solidFill>
                  <a:srgbClr val="F5C518"/>
                </a:solidFill>
                <a:latin typeface="Cambria" pitchFamily="34" charset="0"/>
                <a:ea typeface="Cambria" pitchFamily="34" charset="-122"/>
                <a:cs typeface="Cambria" pitchFamily="34" charset="-120"/>
              </a:rPr>
              <a:t>Supabase Backend</a:t>
            </a:r>
            <a:endParaRPr lang="en-US" sz="2000" dirty="0"/>
          </a:p>
        </p:txBody>
      </p:sp>
      <p:sp>
        <p:nvSpPr>
          <p:cNvPr id="14" name="Shape 12"/>
          <p:cNvSpPr/>
          <p:nvPr/>
        </p:nvSpPr>
        <p:spPr>
          <a:xfrm>
            <a:off x="6144768" y="2212848"/>
            <a:ext cx="128016" cy="128016"/>
          </a:xfrm>
          <a:prstGeom prst="ellipse">
            <a:avLst/>
          </a:prstGeom>
          <a:solidFill>
            <a:srgbClr val="F5C518"/>
          </a:solidFill>
          <a:ln w="12700">
            <a:solidFill>
              <a:srgbClr val="F5C518"/>
            </a:solidFill>
            <a:prstDash val="solid"/>
          </a:ln>
        </p:spPr>
      </p:sp>
      <p:sp>
        <p:nvSpPr>
          <p:cNvPr id="15" name="Text 13"/>
          <p:cNvSpPr txBox="1"/>
          <p:nvPr/>
        </p:nvSpPr>
        <p:spPr>
          <a:xfrm>
            <a:off x="6419088" y="2139696"/>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PostgreSQL 17</a:t>
            </a:r>
            <a:endParaRPr lang="en-US" sz="1350" dirty="0"/>
          </a:p>
        </p:txBody>
      </p:sp>
      <p:sp>
        <p:nvSpPr>
          <p:cNvPr id="16" name="Text 14"/>
          <p:cNvSpPr txBox="1"/>
          <p:nvPr/>
        </p:nvSpPr>
        <p:spPr>
          <a:xfrm>
            <a:off x="6419088" y="2395728"/>
            <a:ext cx="4956048" cy="420624"/>
          </a:xfrm>
          <a:prstGeom prst="rect">
            <a:avLst/>
          </a:prstGeom>
          <a:noFill/>
          <a:ln/>
        </p:spPr>
        <p:txBody>
          <a:bodyPr wrap="square" lIns="0" tIns="0" rIns="0" bIns="0" rtlCol="0" anchor="t"/>
          <a:lstStyle/>
          <a:p>
            <a:pPr indent="0" marL="0">
              <a:lnSpc>
                <a:spcPts val="1400"/>
              </a:lnSpc>
              <a:buNone/>
            </a:pPr>
            <a:r>
              <a:rPr lang="en-US" sz="1100" dirty="0">
                <a:solidFill>
                  <a:srgbClr val="C9C2C0"/>
                </a:solidFill>
                <a:latin typeface="Calibri" pitchFamily="34" charset="0"/>
                <a:ea typeface="Calibri" pitchFamily="34" charset="-122"/>
                <a:cs typeface="Calibri" pitchFamily="34" charset="-120"/>
              </a:rPr>
              <a:t>14 tables · halls, profiles, reports, appointments, notifications, news</a:t>
            </a:r>
            <a:endParaRPr lang="en-US" sz="1100" dirty="0"/>
          </a:p>
        </p:txBody>
      </p:sp>
      <p:sp>
        <p:nvSpPr>
          <p:cNvPr id="17" name="Shape 15"/>
          <p:cNvSpPr/>
          <p:nvPr/>
        </p:nvSpPr>
        <p:spPr>
          <a:xfrm>
            <a:off x="6144768" y="2999232"/>
            <a:ext cx="128016" cy="128016"/>
          </a:xfrm>
          <a:prstGeom prst="ellipse">
            <a:avLst/>
          </a:prstGeom>
          <a:solidFill>
            <a:srgbClr val="F5C518"/>
          </a:solidFill>
          <a:ln w="12700">
            <a:solidFill>
              <a:srgbClr val="F5C518"/>
            </a:solidFill>
            <a:prstDash val="solid"/>
          </a:ln>
        </p:spPr>
      </p:sp>
      <p:sp>
        <p:nvSpPr>
          <p:cNvPr id="18" name="Text 16"/>
          <p:cNvSpPr txBox="1"/>
          <p:nvPr/>
        </p:nvSpPr>
        <p:spPr>
          <a:xfrm>
            <a:off x="6419088" y="2926080"/>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Supabase Auth</a:t>
            </a:r>
            <a:endParaRPr lang="en-US" sz="1350" dirty="0"/>
          </a:p>
        </p:txBody>
      </p:sp>
      <p:sp>
        <p:nvSpPr>
          <p:cNvPr id="19" name="Text 17"/>
          <p:cNvSpPr txBox="1"/>
          <p:nvPr/>
        </p:nvSpPr>
        <p:spPr>
          <a:xfrm>
            <a:off x="6419088" y="3182112"/>
            <a:ext cx="4956048" cy="420624"/>
          </a:xfrm>
          <a:prstGeom prst="rect">
            <a:avLst/>
          </a:prstGeom>
          <a:noFill/>
          <a:ln/>
        </p:spPr>
        <p:txBody>
          <a:bodyPr wrap="square" lIns="0" tIns="0" rIns="0" bIns="0" rtlCol="0" anchor="t"/>
          <a:lstStyle/>
          <a:p>
            <a:pPr indent="0" marL="0">
              <a:lnSpc>
                <a:spcPts val="1400"/>
              </a:lnSpc>
              <a:buNone/>
            </a:pPr>
            <a:r>
              <a:rPr lang="en-US" sz="1100" dirty="0">
                <a:solidFill>
                  <a:srgbClr val="C9C2C0"/>
                </a:solidFill>
                <a:latin typeface="Calibri" pitchFamily="34" charset="0"/>
                <a:ea typeface="Calibri" pitchFamily="34" charset="-122"/>
                <a:cs typeface="Calibri" pitchFamily="34" charset="-120"/>
              </a:rPr>
              <a:t>Email + password sessions; the role lives in the database, never the browser</a:t>
            </a:r>
            <a:endParaRPr lang="en-US" sz="1100" dirty="0"/>
          </a:p>
        </p:txBody>
      </p:sp>
      <p:sp>
        <p:nvSpPr>
          <p:cNvPr id="20" name="Shape 18"/>
          <p:cNvSpPr/>
          <p:nvPr/>
        </p:nvSpPr>
        <p:spPr>
          <a:xfrm>
            <a:off x="6144768" y="3785616"/>
            <a:ext cx="128016" cy="128016"/>
          </a:xfrm>
          <a:prstGeom prst="ellipse">
            <a:avLst/>
          </a:prstGeom>
          <a:solidFill>
            <a:srgbClr val="F5C518"/>
          </a:solidFill>
          <a:ln w="12700">
            <a:solidFill>
              <a:srgbClr val="F5C518"/>
            </a:solidFill>
            <a:prstDash val="solid"/>
          </a:ln>
        </p:spPr>
      </p:sp>
      <p:sp>
        <p:nvSpPr>
          <p:cNvPr id="21" name="Text 19"/>
          <p:cNvSpPr txBox="1"/>
          <p:nvPr/>
        </p:nvSpPr>
        <p:spPr>
          <a:xfrm>
            <a:off x="6419088" y="3712464"/>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Row Level Security</a:t>
            </a:r>
            <a:endParaRPr lang="en-US" sz="1350" dirty="0"/>
          </a:p>
        </p:txBody>
      </p:sp>
      <p:sp>
        <p:nvSpPr>
          <p:cNvPr id="22" name="Text 20"/>
          <p:cNvSpPr txBox="1"/>
          <p:nvPr/>
        </p:nvSpPr>
        <p:spPr>
          <a:xfrm>
            <a:off x="6419088" y="3968496"/>
            <a:ext cx="4956048" cy="420624"/>
          </a:xfrm>
          <a:prstGeom prst="rect">
            <a:avLst/>
          </a:prstGeom>
          <a:noFill/>
          <a:ln/>
        </p:spPr>
        <p:txBody>
          <a:bodyPr wrap="square" lIns="0" tIns="0" rIns="0" bIns="0" rtlCol="0" anchor="t"/>
          <a:lstStyle/>
          <a:p>
            <a:pPr indent="0" marL="0">
              <a:lnSpc>
                <a:spcPts val="1400"/>
              </a:lnSpc>
              <a:buNone/>
            </a:pPr>
            <a:r>
              <a:rPr lang="en-US" sz="1100" dirty="0">
                <a:solidFill>
                  <a:srgbClr val="C9C2C0"/>
                </a:solidFill>
                <a:latin typeface="Calibri" pitchFamily="34" charset="0"/>
                <a:ea typeface="Calibri" pitchFamily="34" charset="-122"/>
                <a:cs typeface="Calibri" pitchFamily="34" charset="-120"/>
              </a:rPr>
              <a:t>Hall scoping enforced per row, so the API cannot leak another hall</a:t>
            </a:r>
            <a:endParaRPr lang="en-US" sz="1100" dirty="0"/>
          </a:p>
        </p:txBody>
      </p:sp>
      <p:sp>
        <p:nvSpPr>
          <p:cNvPr id="23" name="Shape 21"/>
          <p:cNvSpPr/>
          <p:nvPr/>
        </p:nvSpPr>
        <p:spPr>
          <a:xfrm>
            <a:off x="6144768" y="4572000"/>
            <a:ext cx="128016" cy="128016"/>
          </a:xfrm>
          <a:prstGeom prst="ellipse">
            <a:avLst/>
          </a:prstGeom>
          <a:solidFill>
            <a:srgbClr val="F5C518"/>
          </a:solidFill>
          <a:ln w="12700">
            <a:solidFill>
              <a:srgbClr val="F5C518"/>
            </a:solidFill>
            <a:prstDash val="solid"/>
          </a:ln>
        </p:spPr>
      </p:sp>
      <p:sp>
        <p:nvSpPr>
          <p:cNvPr id="24" name="Text 22"/>
          <p:cNvSpPr txBox="1"/>
          <p:nvPr/>
        </p:nvSpPr>
        <p:spPr>
          <a:xfrm>
            <a:off x="6419088" y="4498848"/>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Edge Functions (Deno)</a:t>
            </a:r>
            <a:endParaRPr lang="en-US" sz="1350" dirty="0"/>
          </a:p>
        </p:txBody>
      </p:sp>
      <p:sp>
        <p:nvSpPr>
          <p:cNvPr id="25" name="Text 23"/>
          <p:cNvSpPr txBox="1"/>
          <p:nvPr/>
        </p:nvSpPr>
        <p:spPr>
          <a:xfrm>
            <a:off x="6419088" y="4754880"/>
            <a:ext cx="4956048" cy="420624"/>
          </a:xfrm>
          <a:prstGeom prst="rect">
            <a:avLst/>
          </a:prstGeom>
          <a:noFill/>
          <a:ln/>
        </p:spPr>
        <p:txBody>
          <a:bodyPr wrap="square" lIns="0" tIns="0" rIns="0" bIns="0" rtlCol="0" anchor="t"/>
          <a:lstStyle/>
          <a:p>
            <a:pPr indent="0" marL="0">
              <a:lnSpc>
                <a:spcPts val="1400"/>
              </a:lnSpc>
              <a:buNone/>
            </a:pPr>
            <a:r>
              <a:rPr lang="en-US" sz="1100" dirty="0">
                <a:solidFill>
                  <a:srgbClr val="C9C2C0"/>
                </a:solidFill>
                <a:latin typeface="Calibri" pitchFamily="34" charset="0"/>
                <a:ea typeface="Calibri" pitchFamily="34" charset="-122"/>
                <a:cs typeface="Calibri" pitchFamily="34" charset="-120"/>
              </a:rPr>
              <a:t>10 functions — admin alerts, status emails, technician assignment</a:t>
            </a:r>
            <a:endParaRPr lang="en-US" sz="1100" dirty="0"/>
          </a:p>
        </p:txBody>
      </p:sp>
      <p:sp>
        <p:nvSpPr>
          <p:cNvPr id="26" name="Shape 24"/>
          <p:cNvSpPr/>
          <p:nvPr/>
        </p:nvSpPr>
        <p:spPr>
          <a:xfrm>
            <a:off x="6144768" y="5358384"/>
            <a:ext cx="128016" cy="128016"/>
          </a:xfrm>
          <a:prstGeom prst="ellipse">
            <a:avLst/>
          </a:prstGeom>
          <a:solidFill>
            <a:srgbClr val="F5C518"/>
          </a:solidFill>
          <a:ln w="12700">
            <a:solidFill>
              <a:srgbClr val="F5C518"/>
            </a:solidFill>
            <a:prstDash val="solid"/>
          </a:ln>
        </p:spPr>
      </p:sp>
      <p:sp>
        <p:nvSpPr>
          <p:cNvPr id="27" name="Text 25"/>
          <p:cNvSpPr txBox="1"/>
          <p:nvPr/>
        </p:nvSpPr>
        <p:spPr>
          <a:xfrm>
            <a:off x="6419088" y="5285232"/>
            <a:ext cx="4937760" cy="2560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pg_net + triggers</a:t>
            </a:r>
            <a:endParaRPr lang="en-US" sz="1350" dirty="0"/>
          </a:p>
        </p:txBody>
      </p:sp>
      <p:sp>
        <p:nvSpPr>
          <p:cNvPr id="28" name="Text 26"/>
          <p:cNvSpPr txBox="1"/>
          <p:nvPr/>
        </p:nvSpPr>
        <p:spPr>
          <a:xfrm>
            <a:off x="6419088" y="5541264"/>
            <a:ext cx="4956048" cy="420624"/>
          </a:xfrm>
          <a:prstGeom prst="rect">
            <a:avLst/>
          </a:prstGeom>
          <a:noFill/>
          <a:ln/>
        </p:spPr>
        <p:txBody>
          <a:bodyPr wrap="square" lIns="0" tIns="0" rIns="0" bIns="0" rtlCol="0" anchor="t"/>
          <a:lstStyle/>
          <a:p>
            <a:pPr indent="0" marL="0">
              <a:lnSpc>
                <a:spcPts val="1400"/>
              </a:lnSpc>
              <a:buNone/>
            </a:pPr>
            <a:r>
              <a:rPr lang="en-US" sz="1100" dirty="0">
                <a:solidFill>
                  <a:srgbClr val="C9C2C0"/>
                </a:solidFill>
                <a:latin typeface="Calibri" pitchFamily="34" charset="0"/>
                <a:ea typeface="Calibri" pitchFamily="34" charset="-122"/>
                <a:cs typeface="Calibri" pitchFamily="34" charset="-120"/>
              </a:rPr>
              <a:t>A new report fires its own notification without any client involvement</a:t>
            </a:r>
            <a:endParaRPr lang="en-US" sz="1100" dirty="0"/>
          </a:p>
        </p:txBody>
      </p:sp>
      <p:sp>
        <p:nvSpPr>
          <p:cNvPr id="29" name="Shape 27"/>
          <p:cNvSpPr/>
          <p:nvPr/>
        </p:nvSpPr>
        <p:spPr>
          <a:xfrm>
            <a:off x="4261104" y="2377440"/>
            <a:ext cx="1371600" cy="310896"/>
          </a:xfrm>
          <a:prstGeom prst="rightArrow">
            <a:avLst/>
          </a:prstGeom>
          <a:solidFill>
            <a:srgbClr val="AF101A"/>
          </a:solidFill>
          <a:ln w="12700">
            <a:solidFill>
              <a:srgbClr val="AF101A"/>
            </a:solidFill>
            <a:prstDash val="solid"/>
          </a:ln>
        </p:spPr>
      </p:sp>
      <p:sp>
        <p:nvSpPr>
          <p:cNvPr id="30" name="Shape 28"/>
          <p:cNvSpPr/>
          <p:nvPr/>
        </p:nvSpPr>
        <p:spPr>
          <a:xfrm>
            <a:off x="4261104" y="4846320"/>
            <a:ext cx="1371600" cy="310896"/>
          </a:xfrm>
          <a:prstGeom prst="rightArrow">
            <a:avLst/>
          </a:prstGeom>
          <a:solidFill>
            <a:srgbClr val="006994"/>
          </a:solidFill>
          <a:ln w="12700">
            <a:solidFill>
              <a:srgbClr val="006994"/>
            </a:solidFill>
            <a:prstDash val="solid"/>
          </a:ln>
        </p:spPr>
      </p:sp>
      <p:sp>
        <p:nvSpPr>
          <p:cNvPr id="31" name="Text 29"/>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2" name="Text 30"/>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Methodology</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Agile Scrum across four sprints, each ending in a demonstrable build</a:t>
            </a:r>
            <a:endParaRPr lang="en-US" sz="1450" dirty="0"/>
          </a:p>
        </p:txBody>
      </p:sp>
      <p:sp>
        <p:nvSpPr>
          <p:cNvPr id="4" name="Shape 2"/>
          <p:cNvSpPr/>
          <p:nvPr/>
        </p:nvSpPr>
        <p:spPr>
          <a:xfrm>
            <a:off x="566928" y="1572768"/>
            <a:ext cx="2606040" cy="3218688"/>
          </a:xfrm>
          <a:prstGeom prst="roundRect">
            <a:avLst>
              <a:gd name="adj" fmla="val 3158"/>
            </a:avLst>
          </a:prstGeom>
          <a:solidFill>
            <a:srgbClr val="FFFFFF"/>
          </a:solidFill>
          <a:ln w="9525">
            <a:solidFill>
              <a:srgbClr val="E4BEBA"/>
            </a:solidFill>
            <a:prstDash val="solid"/>
          </a:ln>
        </p:spPr>
      </p:sp>
      <p:sp>
        <p:nvSpPr>
          <p:cNvPr id="5" name="Shape 3"/>
          <p:cNvSpPr/>
          <p:nvPr/>
        </p:nvSpPr>
        <p:spPr>
          <a:xfrm>
            <a:off x="822960" y="1810512"/>
            <a:ext cx="512064" cy="512064"/>
          </a:xfrm>
          <a:prstGeom prst="ellipse">
            <a:avLst/>
          </a:prstGeom>
          <a:solidFill>
            <a:srgbClr val="AF101A"/>
          </a:solidFill>
          <a:ln w="12700">
            <a:solidFill>
              <a:srgbClr val="AF101A"/>
            </a:solidFill>
            <a:prstDash val="solid"/>
          </a:ln>
        </p:spPr>
      </p:sp>
      <p:sp>
        <p:nvSpPr>
          <p:cNvPr id="6" name="Text 4"/>
          <p:cNvSpPr txBox="1"/>
          <p:nvPr/>
        </p:nvSpPr>
        <p:spPr>
          <a:xfrm>
            <a:off x="822960" y="181051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22960" y="2487168"/>
            <a:ext cx="2103120" cy="256032"/>
          </a:xfrm>
          <a:prstGeom prst="rect">
            <a:avLst/>
          </a:prstGeom>
          <a:noFill/>
          <a:ln/>
        </p:spPr>
        <p:txBody>
          <a:bodyPr wrap="square" lIns="0" tIns="0" rIns="0" bIns="0" rtlCol="0" anchor="ctr"/>
          <a:lstStyle/>
          <a:p>
            <a:pPr indent="0" marL="0">
              <a:buNone/>
            </a:pPr>
            <a:r>
              <a:rPr lang="en-US" sz="1100" b="1" spc="150" kern="0" dirty="0">
                <a:solidFill>
                  <a:srgbClr val="6B6360"/>
                </a:solidFill>
                <a:latin typeface="Calibri" pitchFamily="34" charset="0"/>
                <a:ea typeface="Calibri" pitchFamily="34" charset="-122"/>
                <a:cs typeface="Calibri" pitchFamily="34" charset="-120"/>
              </a:rPr>
              <a:t>Sprint 1</a:t>
            </a:r>
            <a:endParaRPr lang="en-US" sz="1100" dirty="0"/>
          </a:p>
        </p:txBody>
      </p:sp>
      <p:sp>
        <p:nvSpPr>
          <p:cNvPr id="8" name="Text 6"/>
          <p:cNvSpPr txBox="1"/>
          <p:nvPr/>
        </p:nvSpPr>
        <p:spPr>
          <a:xfrm>
            <a:off x="822960" y="2743200"/>
            <a:ext cx="2121408" cy="603504"/>
          </a:xfrm>
          <a:prstGeom prst="rect">
            <a:avLst/>
          </a:prstGeom>
          <a:noFill/>
          <a:ln/>
        </p:spPr>
        <p:txBody>
          <a:bodyPr wrap="square" lIns="0" tIns="0" rIns="0" bIns="0" rtlCol="0" anchor="t"/>
          <a:lstStyle/>
          <a:p>
            <a:pPr indent="0" marL="0">
              <a:lnSpc>
                <a:spcPts val="2100"/>
              </a:lnSpc>
              <a:buNone/>
            </a:pPr>
            <a:r>
              <a:rPr lang="en-US" sz="1700" b="1" dirty="0">
                <a:solidFill>
                  <a:srgbClr val="1A1C1C"/>
                </a:solidFill>
                <a:latin typeface="Cambria" pitchFamily="34" charset="0"/>
                <a:ea typeface="Cambria" pitchFamily="34" charset="-122"/>
                <a:cs typeface="Cambria" pitchFamily="34" charset="-120"/>
              </a:rPr>
              <a:t>Requirements &amp; UX</a:t>
            </a:r>
            <a:endParaRPr lang="en-US" sz="1700" dirty="0"/>
          </a:p>
        </p:txBody>
      </p:sp>
      <p:sp>
        <p:nvSpPr>
          <p:cNvPr id="9" name="Text 7"/>
          <p:cNvSpPr txBox="1"/>
          <p:nvPr/>
        </p:nvSpPr>
        <p:spPr>
          <a:xfrm>
            <a:off x="822960" y="3419856"/>
            <a:ext cx="2121408" cy="1645920"/>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Student surveys on common room faults, screen mockups, navigation map, Expo project setup.</a:t>
            </a:r>
            <a:endParaRPr lang="en-US" sz="1150" dirty="0"/>
          </a:p>
        </p:txBody>
      </p:sp>
      <p:sp>
        <p:nvSpPr>
          <p:cNvPr id="10" name="Shape 8"/>
          <p:cNvSpPr/>
          <p:nvPr/>
        </p:nvSpPr>
        <p:spPr>
          <a:xfrm>
            <a:off x="3355848" y="1572768"/>
            <a:ext cx="2606040" cy="3218688"/>
          </a:xfrm>
          <a:prstGeom prst="roundRect">
            <a:avLst>
              <a:gd name="adj" fmla="val 3158"/>
            </a:avLst>
          </a:prstGeom>
          <a:solidFill>
            <a:srgbClr val="FFFFFF"/>
          </a:solidFill>
          <a:ln w="9525">
            <a:solidFill>
              <a:srgbClr val="E4BEBA"/>
            </a:solidFill>
            <a:prstDash val="solid"/>
          </a:ln>
        </p:spPr>
      </p:sp>
      <p:sp>
        <p:nvSpPr>
          <p:cNvPr id="11" name="Shape 9"/>
          <p:cNvSpPr/>
          <p:nvPr/>
        </p:nvSpPr>
        <p:spPr>
          <a:xfrm>
            <a:off x="3611880" y="1810512"/>
            <a:ext cx="512064" cy="512064"/>
          </a:xfrm>
          <a:prstGeom prst="ellipse">
            <a:avLst/>
          </a:prstGeom>
          <a:solidFill>
            <a:srgbClr val="AF101A"/>
          </a:solidFill>
          <a:ln w="12700">
            <a:solidFill>
              <a:srgbClr val="AF101A"/>
            </a:solidFill>
            <a:prstDash val="solid"/>
          </a:ln>
        </p:spPr>
      </p:sp>
      <p:sp>
        <p:nvSpPr>
          <p:cNvPr id="12" name="Text 10"/>
          <p:cNvSpPr txBox="1"/>
          <p:nvPr/>
        </p:nvSpPr>
        <p:spPr>
          <a:xfrm>
            <a:off x="3611880" y="181051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3611880" y="2487168"/>
            <a:ext cx="2103120" cy="256032"/>
          </a:xfrm>
          <a:prstGeom prst="rect">
            <a:avLst/>
          </a:prstGeom>
          <a:noFill/>
          <a:ln/>
        </p:spPr>
        <p:txBody>
          <a:bodyPr wrap="square" lIns="0" tIns="0" rIns="0" bIns="0" rtlCol="0" anchor="ctr"/>
          <a:lstStyle/>
          <a:p>
            <a:pPr indent="0" marL="0">
              <a:buNone/>
            </a:pPr>
            <a:r>
              <a:rPr lang="en-US" sz="1100" b="1" spc="150" kern="0" dirty="0">
                <a:solidFill>
                  <a:srgbClr val="6B6360"/>
                </a:solidFill>
                <a:latin typeface="Calibri" pitchFamily="34" charset="0"/>
                <a:ea typeface="Calibri" pitchFamily="34" charset="-122"/>
                <a:cs typeface="Calibri" pitchFamily="34" charset="-120"/>
              </a:rPr>
              <a:t>Sprint 2</a:t>
            </a:r>
            <a:endParaRPr lang="en-US" sz="1100" dirty="0"/>
          </a:p>
        </p:txBody>
      </p:sp>
      <p:sp>
        <p:nvSpPr>
          <p:cNvPr id="14" name="Text 12"/>
          <p:cNvSpPr txBox="1"/>
          <p:nvPr/>
        </p:nvSpPr>
        <p:spPr>
          <a:xfrm>
            <a:off x="3611880" y="2743200"/>
            <a:ext cx="2121408" cy="603504"/>
          </a:xfrm>
          <a:prstGeom prst="rect">
            <a:avLst/>
          </a:prstGeom>
          <a:noFill/>
          <a:ln/>
        </p:spPr>
        <p:txBody>
          <a:bodyPr wrap="square" lIns="0" tIns="0" rIns="0" bIns="0" rtlCol="0" anchor="t"/>
          <a:lstStyle/>
          <a:p>
            <a:pPr indent="0" marL="0">
              <a:lnSpc>
                <a:spcPts val="2100"/>
              </a:lnSpc>
              <a:buNone/>
            </a:pPr>
            <a:r>
              <a:rPr lang="en-US" sz="1700" b="1" dirty="0">
                <a:solidFill>
                  <a:srgbClr val="1A1C1C"/>
                </a:solidFill>
                <a:latin typeface="Cambria" pitchFamily="34" charset="0"/>
                <a:ea typeface="Cambria" pitchFamily="34" charset="-122"/>
                <a:cs typeface="Cambria" pitchFamily="34" charset="-120"/>
              </a:rPr>
              <a:t>UI Framework</a:t>
            </a:r>
            <a:endParaRPr lang="en-US" sz="1700" dirty="0"/>
          </a:p>
        </p:txBody>
      </p:sp>
      <p:sp>
        <p:nvSpPr>
          <p:cNvPr id="15" name="Text 13"/>
          <p:cNvSpPr txBox="1"/>
          <p:nvPr/>
        </p:nvSpPr>
        <p:spPr>
          <a:xfrm>
            <a:off x="3611880" y="3419856"/>
            <a:ext cx="2121408" cy="1645920"/>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Theme context, bottom-tab and stack navigation, per-hall colour palettes, screen scaffolding.</a:t>
            </a:r>
            <a:endParaRPr lang="en-US" sz="1150" dirty="0"/>
          </a:p>
        </p:txBody>
      </p:sp>
      <p:sp>
        <p:nvSpPr>
          <p:cNvPr id="16" name="Shape 14"/>
          <p:cNvSpPr/>
          <p:nvPr/>
        </p:nvSpPr>
        <p:spPr>
          <a:xfrm>
            <a:off x="6144768" y="1572768"/>
            <a:ext cx="2606040" cy="3218688"/>
          </a:xfrm>
          <a:prstGeom prst="roundRect">
            <a:avLst>
              <a:gd name="adj" fmla="val 3158"/>
            </a:avLst>
          </a:prstGeom>
          <a:solidFill>
            <a:srgbClr val="FFFFFF"/>
          </a:solidFill>
          <a:ln w="9525">
            <a:solidFill>
              <a:srgbClr val="E4BEBA"/>
            </a:solidFill>
            <a:prstDash val="solid"/>
          </a:ln>
        </p:spPr>
      </p:sp>
      <p:sp>
        <p:nvSpPr>
          <p:cNvPr id="17" name="Shape 15"/>
          <p:cNvSpPr/>
          <p:nvPr/>
        </p:nvSpPr>
        <p:spPr>
          <a:xfrm>
            <a:off x="6400800" y="1810512"/>
            <a:ext cx="512064" cy="512064"/>
          </a:xfrm>
          <a:prstGeom prst="ellipse">
            <a:avLst/>
          </a:prstGeom>
          <a:solidFill>
            <a:srgbClr val="AF101A"/>
          </a:solidFill>
          <a:ln w="12700">
            <a:solidFill>
              <a:srgbClr val="AF101A"/>
            </a:solidFill>
            <a:prstDash val="solid"/>
          </a:ln>
        </p:spPr>
      </p:sp>
      <p:sp>
        <p:nvSpPr>
          <p:cNvPr id="18" name="Text 16"/>
          <p:cNvSpPr txBox="1"/>
          <p:nvPr/>
        </p:nvSpPr>
        <p:spPr>
          <a:xfrm>
            <a:off x="6400800" y="181051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6400800" y="2487168"/>
            <a:ext cx="2103120" cy="256032"/>
          </a:xfrm>
          <a:prstGeom prst="rect">
            <a:avLst/>
          </a:prstGeom>
          <a:noFill/>
          <a:ln/>
        </p:spPr>
        <p:txBody>
          <a:bodyPr wrap="square" lIns="0" tIns="0" rIns="0" bIns="0" rtlCol="0" anchor="ctr"/>
          <a:lstStyle/>
          <a:p>
            <a:pPr indent="0" marL="0">
              <a:buNone/>
            </a:pPr>
            <a:r>
              <a:rPr lang="en-US" sz="1100" b="1" spc="150" kern="0" dirty="0">
                <a:solidFill>
                  <a:srgbClr val="6B6360"/>
                </a:solidFill>
                <a:latin typeface="Calibri" pitchFamily="34" charset="0"/>
                <a:ea typeface="Calibri" pitchFamily="34" charset="-122"/>
                <a:cs typeface="Calibri" pitchFamily="34" charset="-120"/>
              </a:rPr>
              <a:t>Sprint 3</a:t>
            </a:r>
            <a:endParaRPr lang="en-US" sz="1100" dirty="0"/>
          </a:p>
        </p:txBody>
      </p:sp>
      <p:sp>
        <p:nvSpPr>
          <p:cNvPr id="20" name="Text 18"/>
          <p:cNvSpPr txBox="1"/>
          <p:nvPr/>
        </p:nvSpPr>
        <p:spPr>
          <a:xfrm>
            <a:off x="6400800" y="2743200"/>
            <a:ext cx="2121408" cy="603504"/>
          </a:xfrm>
          <a:prstGeom prst="rect">
            <a:avLst/>
          </a:prstGeom>
          <a:noFill/>
          <a:ln/>
        </p:spPr>
        <p:txBody>
          <a:bodyPr wrap="square" lIns="0" tIns="0" rIns="0" bIns="0" rtlCol="0" anchor="t"/>
          <a:lstStyle/>
          <a:p>
            <a:pPr indent="0" marL="0">
              <a:lnSpc>
                <a:spcPts val="2100"/>
              </a:lnSpc>
              <a:buNone/>
            </a:pPr>
            <a:r>
              <a:rPr lang="en-US" sz="1700" b="1" dirty="0">
                <a:solidFill>
                  <a:srgbClr val="1A1C1C"/>
                </a:solidFill>
                <a:latin typeface="Cambria" pitchFamily="34" charset="0"/>
                <a:ea typeface="Cambria" pitchFamily="34" charset="-122"/>
                <a:cs typeface="Cambria" pitchFamily="34" charset="-120"/>
              </a:rPr>
              <a:t>Reporting &amp; Media</a:t>
            </a:r>
            <a:endParaRPr lang="en-US" sz="1700" dirty="0"/>
          </a:p>
        </p:txBody>
      </p:sp>
      <p:sp>
        <p:nvSpPr>
          <p:cNvPr id="21" name="Text 19"/>
          <p:cNvSpPr txBox="1"/>
          <p:nvPr/>
        </p:nvSpPr>
        <p:spPr>
          <a:xfrm>
            <a:off x="6400800" y="3419856"/>
            <a:ext cx="2121408" cy="1645920"/>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The reporting wizard, ImagePicker camera integration, upload limits, review and submit flow.</a:t>
            </a:r>
            <a:endParaRPr lang="en-US" sz="1150" dirty="0"/>
          </a:p>
        </p:txBody>
      </p:sp>
      <p:sp>
        <p:nvSpPr>
          <p:cNvPr id="22" name="Shape 20"/>
          <p:cNvSpPr/>
          <p:nvPr/>
        </p:nvSpPr>
        <p:spPr>
          <a:xfrm>
            <a:off x="8933688" y="1572768"/>
            <a:ext cx="2606040" cy="3218688"/>
          </a:xfrm>
          <a:prstGeom prst="roundRect">
            <a:avLst>
              <a:gd name="adj" fmla="val 3158"/>
            </a:avLst>
          </a:prstGeom>
          <a:solidFill>
            <a:srgbClr val="FCF6F5"/>
          </a:solidFill>
          <a:ln w="9525">
            <a:solidFill>
              <a:srgbClr val="E4BEBA"/>
            </a:solidFill>
            <a:prstDash val="solid"/>
          </a:ln>
        </p:spPr>
      </p:sp>
      <p:sp>
        <p:nvSpPr>
          <p:cNvPr id="23" name="Shape 21"/>
          <p:cNvSpPr/>
          <p:nvPr/>
        </p:nvSpPr>
        <p:spPr>
          <a:xfrm>
            <a:off x="9189720" y="1810512"/>
            <a:ext cx="512064" cy="512064"/>
          </a:xfrm>
          <a:prstGeom prst="ellipse">
            <a:avLst/>
          </a:prstGeom>
          <a:solidFill>
            <a:srgbClr val="F5C518"/>
          </a:solidFill>
          <a:ln w="12700">
            <a:solidFill>
              <a:srgbClr val="F5C518"/>
            </a:solidFill>
            <a:prstDash val="solid"/>
          </a:ln>
        </p:spPr>
      </p:sp>
      <p:sp>
        <p:nvSpPr>
          <p:cNvPr id="24" name="Text 22"/>
          <p:cNvSpPr txBox="1"/>
          <p:nvPr/>
        </p:nvSpPr>
        <p:spPr>
          <a:xfrm>
            <a:off x="9189720" y="1810512"/>
            <a:ext cx="512064" cy="512064"/>
          </a:xfrm>
          <a:prstGeom prst="rect">
            <a:avLst/>
          </a:prstGeom>
          <a:noFill/>
          <a:ln/>
        </p:spPr>
        <p:txBody>
          <a:bodyPr wrap="square" lIns="0" tIns="0" rIns="0" bIns="0" rtlCol="0" anchor="ctr"/>
          <a:lstStyle/>
          <a:p>
            <a:pPr algn="ctr" indent="0" marL="0">
              <a:buNone/>
            </a:pPr>
            <a:r>
              <a:rPr lang="en-US" sz="1400" b="1" dirty="0">
                <a:solidFill>
                  <a:srgbClr val="1A1C1C"/>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9189720" y="2487168"/>
            <a:ext cx="2103120" cy="256032"/>
          </a:xfrm>
          <a:prstGeom prst="rect">
            <a:avLst/>
          </a:prstGeom>
          <a:noFill/>
          <a:ln/>
        </p:spPr>
        <p:txBody>
          <a:bodyPr wrap="square" lIns="0" tIns="0" rIns="0" bIns="0" rtlCol="0" anchor="ctr"/>
          <a:lstStyle/>
          <a:p>
            <a:pPr indent="0" marL="0">
              <a:buNone/>
            </a:pPr>
            <a:r>
              <a:rPr lang="en-US" sz="1100" b="1" spc="150" kern="0" dirty="0">
                <a:solidFill>
                  <a:srgbClr val="6B6360"/>
                </a:solidFill>
                <a:latin typeface="Calibri" pitchFamily="34" charset="0"/>
                <a:ea typeface="Calibri" pitchFamily="34" charset="-122"/>
                <a:cs typeface="Calibri" pitchFamily="34" charset="-120"/>
              </a:rPr>
              <a:t>Sprint 4</a:t>
            </a:r>
            <a:endParaRPr lang="en-US" sz="1100" dirty="0"/>
          </a:p>
        </p:txBody>
      </p:sp>
      <p:sp>
        <p:nvSpPr>
          <p:cNvPr id="26" name="Text 24"/>
          <p:cNvSpPr txBox="1"/>
          <p:nvPr/>
        </p:nvSpPr>
        <p:spPr>
          <a:xfrm>
            <a:off x="9189720" y="2743200"/>
            <a:ext cx="2121408" cy="603504"/>
          </a:xfrm>
          <a:prstGeom prst="rect">
            <a:avLst/>
          </a:prstGeom>
          <a:noFill/>
          <a:ln/>
        </p:spPr>
        <p:txBody>
          <a:bodyPr wrap="square" lIns="0" tIns="0" rIns="0" bIns="0" rtlCol="0" anchor="t"/>
          <a:lstStyle/>
          <a:p>
            <a:pPr indent="0" marL="0">
              <a:lnSpc>
                <a:spcPts val="2100"/>
              </a:lnSpc>
              <a:buNone/>
            </a:pPr>
            <a:r>
              <a:rPr lang="en-US" sz="1700" b="1" dirty="0">
                <a:solidFill>
                  <a:srgbClr val="1A1C1C"/>
                </a:solidFill>
                <a:latin typeface="Cambria" pitchFamily="34" charset="0"/>
                <a:ea typeface="Cambria" pitchFamily="34" charset="-122"/>
                <a:cs typeface="Cambria" pitchFamily="34" charset="-120"/>
              </a:rPr>
              <a:t>Backend &amp; Hardening</a:t>
            </a:r>
            <a:endParaRPr lang="en-US" sz="1700" dirty="0"/>
          </a:p>
        </p:txBody>
      </p:sp>
      <p:sp>
        <p:nvSpPr>
          <p:cNvPr id="27" name="Text 25"/>
          <p:cNvSpPr txBox="1"/>
          <p:nvPr/>
        </p:nvSpPr>
        <p:spPr>
          <a:xfrm>
            <a:off x="9189720" y="3419856"/>
            <a:ext cx="2121408" cy="1645920"/>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Migration from the mock server to Supabase, RLS policies, notification pipeline, security fixes.</a:t>
            </a:r>
            <a:endParaRPr lang="en-US" sz="1150" dirty="0"/>
          </a:p>
        </p:txBody>
      </p:sp>
      <p:sp>
        <p:nvSpPr>
          <p:cNvPr id="28" name="Text 26"/>
          <p:cNvSpPr txBox="1"/>
          <p:nvPr/>
        </p:nvSpPr>
        <p:spPr>
          <a:xfrm>
            <a:off x="566928" y="5120640"/>
            <a:ext cx="11055096" cy="548640"/>
          </a:xfrm>
          <a:prstGeom prst="rect">
            <a:avLst/>
          </a:prstGeom>
          <a:noFill/>
          <a:ln/>
        </p:spPr>
        <p:txBody>
          <a:bodyPr wrap="square" lIns="0" tIns="0" rIns="0" bIns="0" rtlCol="0" anchor="t"/>
          <a:lstStyle/>
          <a:p>
            <a:pPr indent="0" marL="0">
              <a:lnSpc>
                <a:spcPts val="1900"/>
              </a:lnSpc>
              <a:buNone/>
            </a:pPr>
            <a:r>
              <a:rPr lang="en-US" sz="1300" i="1" dirty="0">
                <a:solidFill>
                  <a:srgbClr val="1A1C1C"/>
                </a:solidFill>
                <a:latin typeface="Calibri" pitchFamily="34" charset="0"/>
                <a:ea typeface="Calibri" pitchFamily="34" charset="-122"/>
                <a:cs typeface="Calibri" pitchFamily="34" charset="-120"/>
              </a:rPr>
              <a:t>Scrum was chosen because the highest-risk features — camera permissions, media limits, push registration — could only be validated on a real device, so each had to reach a runnable build before the next was designed.</a:t>
            </a:r>
            <a:endParaRPr lang="en-US" sz="1300" dirty="0"/>
          </a:p>
        </p:txBody>
      </p:sp>
      <p:sp>
        <p:nvSpPr>
          <p:cNvPr id="29" name="Text 27"/>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0" name="Text 28"/>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Sub-system 1 — Mobile Student Client</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React Native 0.81.5 · Expo SDK 54 · React 19 · TypeScript</a:t>
            </a:r>
            <a:endParaRPr lang="en-US" sz="1450" dirty="0"/>
          </a:p>
        </p:txBody>
      </p:sp>
      <p:sp>
        <p:nvSpPr>
          <p:cNvPr id="4" name="Shape 2"/>
          <p:cNvSpPr/>
          <p:nvPr/>
        </p:nvSpPr>
        <p:spPr>
          <a:xfrm>
            <a:off x="566928" y="1481328"/>
            <a:ext cx="2606040" cy="1298448"/>
          </a:xfrm>
          <a:prstGeom prst="roundRect">
            <a:avLst>
              <a:gd name="adj" fmla="val 6338"/>
            </a:avLst>
          </a:prstGeom>
          <a:solidFill>
            <a:srgbClr val="FCF6F5"/>
          </a:solidFill>
          <a:ln w="9525">
            <a:solidFill>
              <a:srgbClr val="E4BEBA"/>
            </a:solidFill>
            <a:prstDash val="solid"/>
          </a:ln>
        </p:spPr>
      </p:sp>
      <p:sp>
        <p:nvSpPr>
          <p:cNvPr id="5" name="Text 3"/>
          <p:cNvSpPr txBox="1"/>
          <p:nvPr/>
        </p:nvSpPr>
        <p:spPr>
          <a:xfrm>
            <a:off x="822960" y="1572768"/>
            <a:ext cx="2103120" cy="713232"/>
          </a:xfrm>
          <a:prstGeom prst="rect">
            <a:avLst/>
          </a:prstGeom>
          <a:noFill/>
          <a:ln/>
        </p:spPr>
        <p:txBody>
          <a:bodyPr wrap="square" lIns="0" tIns="0" rIns="0" bIns="0" rtlCol="0" anchor="ctr"/>
          <a:lstStyle/>
          <a:p>
            <a:pPr indent="0" marL="0">
              <a:buNone/>
            </a:pPr>
            <a:r>
              <a:rPr lang="en-US" sz="4000" b="1" dirty="0">
                <a:solidFill>
                  <a:srgbClr val="AF101A"/>
                </a:solidFill>
                <a:latin typeface="Cambria" pitchFamily="34" charset="0"/>
                <a:ea typeface="Cambria" pitchFamily="34" charset="-122"/>
                <a:cs typeface="Cambria" pitchFamily="34" charset="-120"/>
              </a:rPr>
              <a:t>26</a:t>
            </a:r>
            <a:endParaRPr lang="en-US" sz="4000" dirty="0"/>
          </a:p>
        </p:txBody>
      </p:sp>
      <p:sp>
        <p:nvSpPr>
          <p:cNvPr id="6" name="Text 4"/>
          <p:cNvSpPr txBox="1"/>
          <p:nvPr/>
        </p:nvSpPr>
        <p:spPr>
          <a:xfrm>
            <a:off x="822960" y="2304288"/>
            <a:ext cx="2103120" cy="274320"/>
          </a:xfrm>
          <a:prstGeom prst="rect">
            <a:avLst/>
          </a:prstGeom>
          <a:noFill/>
          <a:ln/>
        </p:spPr>
        <p:txBody>
          <a:bodyPr wrap="square" lIns="0" tIns="0" rIns="0" bIns="0" rtlCol="0" anchor="ctr"/>
          <a:lstStyle/>
          <a:p>
            <a:pPr indent="0" marL="0">
              <a:buNone/>
            </a:pPr>
            <a:r>
              <a:rPr lang="en-US" sz="1200" dirty="0">
                <a:solidFill>
                  <a:srgbClr val="6B6360"/>
                </a:solidFill>
                <a:latin typeface="Calibri" pitchFamily="34" charset="0"/>
                <a:ea typeface="Calibri" pitchFamily="34" charset="-122"/>
                <a:cs typeface="Calibri" pitchFamily="34" charset="-120"/>
              </a:rPr>
              <a:t>screens</a:t>
            </a:r>
            <a:endParaRPr lang="en-US" sz="1200" dirty="0"/>
          </a:p>
        </p:txBody>
      </p:sp>
      <p:sp>
        <p:nvSpPr>
          <p:cNvPr id="7" name="Shape 5"/>
          <p:cNvSpPr/>
          <p:nvPr/>
        </p:nvSpPr>
        <p:spPr>
          <a:xfrm>
            <a:off x="3355848" y="1481328"/>
            <a:ext cx="2606040" cy="1298448"/>
          </a:xfrm>
          <a:prstGeom prst="roundRect">
            <a:avLst>
              <a:gd name="adj" fmla="val 6338"/>
            </a:avLst>
          </a:prstGeom>
          <a:solidFill>
            <a:srgbClr val="FCF6F5"/>
          </a:solidFill>
          <a:ln w="9525">
            <a:solidFill>
              <a:srgbClr val="E4BEBA"/>
            </a:solidFill>
            <a:prstDash val="solid"/>
          </a:ln>
        </p:spPr>
      </p:sp>
      <p:sp>
        <p:nvSpPr>
          <p:cNvPr id="8" name="Text 6"/>
          <p:cNvSpPr txBox="1"/>
          <p:nvPr/>
        </p:nvSpPr>
        <p:spPr>
          <a:xfrm>
            <a:off x="3611880" y="1572768"/>
            <a:ext cx="2103120" cy="713232"/>
          </a:xfrm>
          <a:prstGeom prst="rect">
            <a:avLst/>
          </a:prstGeom>
          <a:noFill/>
          <a:ln/>
        </p:spPr>
        <p:txBody>
          <a:bodyPr wrap="square" lIns="0" tIns="0" rIns="0" bIns="0" rtlCol="0" anchor="ctr"/>
          <a:lstStyle/>
          <a:p>
            <a:pPr indent="0" marL="0">
              <a:buNone/>
            </a:pPr>
            <a:r>
              <a:rPr lang="en-US" sz="4000" b="1" dirty="0">
                <a:solidFill>
                  <a:srgbClr val="AF101A"/>
                </a:solidFill>
                <a:latin typeface="Cambria" pitchFamily="34" charset="0"/>
                <a:ea typeface="Cambria" pitchFamily="34" charset="-122"/>
                <a:cs typeface="Cambria" pitchFamily="34" charset="-120"/>
              </a:rPr>
              <a:t>4</a:t>
            </a:r>
            <a:endParaRPr lang="en-US" sz="4000" dirty="0"/>
          </a:p>
        </p:txBody>
      </p:sp>
      <p:sp>
        <p:nvSpPr>
          <p:cNvPr id="9" name="Text 7"/>
          <p:cNvSpPr txBox="1"/>
          <p:nvPr/>
        </p:nvSpPr>
        <p:spPr>
          <a:xfrm>
            <a:off x="3611880" y="2304288"/>
            <a:ext cx="2103120" cy="274320"/>
          </a:xfrm>
          <a:prstGeom prst="rect">
            <a:avLst/>
          </a:prstGeom>
          <a:noFill/>
          <a:ln/>
        </p:spPr>
        <p:txBody>
          <a:bodyPr wrap="square" lIns="0" tIns="0" rIns="0" bIns="0" rtlCol="0" anchor="ctr"/>
          <a:lstStyle/>
          <a:p>
            <a:pPr indent="0" marL="0">
              <a:buNone/>
            </a:pPr>
            <a:r>
              <a:rPr lang="en-US" sz="1200" dirty="0">
                <a:solidFill>
                  <a:srgbClr val="6B6360"/>
                </a:solidFill>
                <a:latin typeface="Calibri" pitchFamily="34" charset="0"/>
                <a:ea typeface="Calibri" pitchFamily="34" charset="-122"/>
                <a:cs typeface="Calibri" pitchFamily="34" charset="-120"/>
              </a:rPr>
              <a:t>trade categories</a:t>
            </a:r>
            <a:endParaRPr lang="en-US" sz="1200" dirty="0"/>
          </a:p>
        </p:txBody>
      </p:sp>
      <p:sp>
        <p:nvSpPr>
          <p:cNvPr id="10" name="Shape 8"/>
          <p:cNvSpPr/>
          <p:nvPr/>
        </p:nvSpPr>
        <p:spPr>
          <a:xfrm>
            <a:off x="6144768" y="1481328"/>
            <a:ext cx="2606040" cy="1298448"/>
          </a:xfrm>
          <a:prstGeom prst="roundRect">
            <a:avLst>
              <a:gd name="adj" fmla="val 6338"/>
            </a:avLst>
          </a:prstGeom>
          <a:solidFill>
            <a:srgbClr val="FCF6F5"/>
          </a:solidFill>
          <a:ln w="9525">
            <a:solidFill>
              <a:srgbClr val="E4BEBA"/>
            </a:solidFill>
            <a:prstDash val="solid"/>
          </a:ln>
        </p:spPr>
      </p:sp>
      <p:sp>
        <p:nvSpPr>
          <p:cNvPr id="11" name="Text 9"/>
          <p:cNvSpPr txBox="1"/>
          <p:nvPr/>
        </p:nvSpPr>
        <p:spPr>
          <a:xfrm>
            <a:off x="6400800" y="1572768"/>
            <a:ext cx="2103120" cy="713232"/>
          </a:xfrm>
          <a:prstGeom prst="rect">
            <a:avLst/>
          </a:prstGeom>
          <a:noFill/>
          <a:ln/>
        </p:spPr>
        <p:txBody>
          <a:bodyPr wrap="square" lIns="0" tIns="0" rIns="0" bIns="0" rtlCol="0" anchor="ctr"/>
          <a:lstStyle/>
          <a:p>
            <a:pPr indent="0" marL="0">
              <a:buNone/>
            </a:pPr>
            <a:r>
              <a:rPr lang="en-US" sz="4000" b="1" dirty="0">
                <a:solidFill>
                  <a:srgbClr val="AF101A"/>
                </a:solidFill>
                <a:latin typeface="Cambria" pitchFamily="34" charset="0"/>
                <a:ea typeface="Cambria" pitchFamily="34" charset="-122"/>
                <a:cs typeface="Cambria" pitchFamily="34" charset="-120"/>
              </a:rPr>
              <a:t>6</a:t>
            </a:r>
            <a:endParaRPr lang="en-US" sz="4000" dirty="0"/>
          </a:p>
        </p:txBody>
      </p:sp>
      <p:sp>
        <p:nvSpPr>
          <p:cNvPr id="12" name="Text 10"/>
          <p:cNvSpPr txBox="1"/>
          <p:nvPr/>
        </p:nvSpPr>
        <p:spPr>
          <a:xfrm>
            <a:off x="6400800" y="2304288"/>
            <a:ext cx="2103120" cy="274320"/>
          </a:xfrm>
          <a:prstGeom prst="rect">
            <a:avLst/>
          </a:prstGeom>
          <a:noFill/>
          <a:ln/>
        </p:spPr>
        <p:txBody>
          <a:bodyPr wrap="square" lIns="0" tIns="0" rIns="0" bIns="0" rtlCol="0" anchor="ctr"/>
          <a:lstStyle/>
          <a:p>
            <a:pPr indent="0" marL="0">
              <a:buNone/>
            </a:pPr>
            <a:r>
              <a:rPr lang="en-US" sz="1200" dirty="0">
                <a:solidFill>
                  <a:srgbClr val="6B6360"/>
                </a:solidFill>
                <a:latin typeface="Calibri" pitchFamily="34" charset="0"/>
                <a:ea typeface="Calibri" pitchFamily="34" charset="-122"/>
                <a:cs typeface="Calibri" pitchFamily="34" charset="-120"/>
              </a:rPr>
              <a:t>hall themes</a:t>
            </a:r>
            <a:endParaRPr lang="en-US" sz="1200" dirty="0"/>
          </a:p>
        </p:txBody>
      </p:sp>
      <p:sp>
        <p:nvSpPr>
          <p:cNvPr id="13" name="Shape 11"/>
          <p:cNvSpPr/>
          <p:nvPr/>
        </p:nvSpPr>
        <p:spPr>
          <a:xfrm>
            <a:off x="8933688" y="1481328"/>
            <a:ext cx="2606040" cy="1298448"/>
          </a:xfrm>
          <a:prstGeom prst="roundRect">
            <a:avLst>
              <a:gd name="adj" fmla="val 6338"/>
            </a:avLst>
          </a:prstGeom>
          <a:solidFill>
            <a:srgbClr val="FCF6F5"/>
          </a:solidFill>
          <a:ln w="9525">
            <a:solidFill>
              <a:srgbClr val="E4BEBA"/>
            </a:solidFill>
            <a:prstDash val="solid"/>
          </a:ln>
        </p:spPr>
      </p:sp>
      <p:sp>
        <p:nvSpPr>
          <p:cNvPr id="14" name="Text 12"/>
          <p:cNvSpPr txBox="1"/>
          <p:nvPr/>
        </p:nvSpPr>
        <p:spPr>
          <a:xfrm>
            <a:off x="9189720" y="1572768"/>
            <a:ext cx="2103120" cy="713232"/>
          </a:xfrm>
          <a:prstGeom prst="rect">
            <a:avLst/>
          </a:prstGeom>
          <a:noFill/>
          <a:ln/>
        </p:spPr>
        <p:txBody>
          <a:bodyPr wrap="square" lIns="0" tIns="0" rIns="0" bIns="0" rtlCol="0" anchor="ctr"/>
          <a:lstStyle/>
          <a:p>
            <a:pPr indent="0" marL="0">
              <a:buNone/>
            </a:pPr>
            <a:r>
              <a:rPr lang="en-US" sz="4000" b="1" dirty="0">
                <a:solidFill>
                  <a:srgbClr val="AF101A"/>
                </a:solidFill>
                <a:latin typeface="Cambria" pitchFamily="34" charset="0"/>
                <a:ea typeface="Cambria" pitchFamily="34" charset="-122"/>
                <a:cs typeface="Cambria" pitchFamily="34" charset="-120"/>
              </a:rPr>
              <a:t>3+1</a:t>
            </a:r>
            <a:endParaRPr lang="en-US" sz="4000" dirty="0"/>
          </a:p>
        </p:txBody>
      </p:sp>
      <p:sp>
        <p:nvSpPr>
          <p:cNvPr id="15" name="Text 13"/>
          <p:cNvSpPr txBox="1"/>
          <p:nvPr/>
        </p:nvSpPr>
        <p:spPr>
          <a:xfrm>
            <a:off x="9189720" y="2304288"/>
            <a:ext cx="2103120" cy="274320"/>
          </a:xfrm>
          <a:prstGeom prst="rect">
            <a:avLst/>
          </a:prstGeom>
          <a:noFill/>
          <a:ln/>
        </p:spPr>
        <p:txBody>
          <a:bodyPr wrap="square" lIns="0" tIns="0" rIns="0" bIns="0" rtlCol="0" anchor="ctr"/>
          <a:lstStyle/>
          <a:p>
            <a:pPr indent="0" marL="0">
              <a:buNone/>
            </a:pPr>
            <a:r>
              <a:rPr lang="en-US" sz="1200" dirty="0">
                <a:solidFill>
                  <a:srgbClr val="6B6360"/>
                </a:solidFill>
                <a:latin typeface="Calibri" pitchFamily="34" charset="0"/>
                <a:ea typeface="Calibri" pitchFamily="34" charset="-122"/>
                <a:cs typeface="Calibri" pitchFamily="34" charset="-120"/>
              </a:rPr>
              <a:t>photo / video limit</a:t>
            </a:r>
            <a:endParaRPr lang="en-US" sz="1200" dirty="0"/>
          </a:p>
        </p:txBody>
      </p:sp>
      <p:sp>
        <p:nvSpPr>
          <p:cNvPr id="16" name="Shape 14"/>
          <p:cNvSpPr/>
          <p:nvPr/>
        </p:nvSpPr>
        <p:spPr>
          <a:xfrm>
            <a:off x="566928" y="3035808"/>
            <a:ext cx="5394960" cy="1389888"/>
          </a:xfrm>
          <a:prstGeom prst="roundRect">
            <a:avLst>
              <a:gd name="adj" fmla="val 5921"/>
            </a:avLst>
          </a:prstGeom>
          <a:solidFill>
            <a:srgbClr val="FFFFFF"/>
          </a:solidFill>
          <a:ln w="9525">
            <a:solidFill>
              <a:srgbClr val="E4BEBA"/>
            </a:solidFill>
            <a:prstDash val="solid"/>
          </a:ln>
        </p:spPr>
      </p:sp>
      <p:sp>
        <p:nvSpPr>
          <p:cNvPr id="17" name="Shape 15"/>
          <p:cNvSpPr/>
          <p:nvPr/>
        </p:nvSpPr>
        <p:spPr>
          <a:xfrm>
            <a:off x="822960" y="3291840"/>
            <a:ext cx="402336" cy="402336"/>
          </a:xfrm>
          <a:prstGeom prst="ellipse">
            <a:avLst/>
          </a:prstGeom>
          <a:solidFill>
            <a:srgbClr val="AF101A"/>
          </a:solidFill>
          <a:ln w="12700">
            <a:solidFill>
              <a:srgbClr val="AF101A"/>
            </a:solidFill>
            <a:prstDash val="solid"/>
          </a:ln>
        </p:spPr>
      </p:sp>
      <p:sp>
        <p:nvSpPr>
          <p:cNvPr id="18" name="Text 16"/>
          <p:cNvSpPr txBox="1"/>
          <p:nvPr/>
        </p:nvSpPr>
        <p:spPr>
          <a:xfrm>
            <a:off x="822960" y="32918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9" name="Text 17"/>
          <p:cNvSpPr txBox="1"/>
          <p:nvPr/>
        </p:nvSpPr>
        <p:spPr>
          <a:xfrm>
            <a:off x="1353312" y="3255264"/>
            <a:ext cx="4389120" cy="274320"/>
          </a:xfrm>
          <a:prstGeom prst="rect">
            <a:avLst/>
          </a:prstGeom>
          <a:noFill/>
          <a:ln/>
        </p:spPr>
        <p:txBody>
          <a:bodyPr wrap="square" lIns="0" tIns="0" rIns="0" bIns="0" rtlCol="0" anchor="ctr"/>
          <a:lstStyle/>
          <a:p>
            <a:pPr indent="0" marL="0">
              <a:buNone/>
            </a:pPr>
            <a:r>
              <a:rPr lang="en-US" sz="1450" b="1" dirty="0">
                <a:solidFill>
                  <a:srgbClr val="1A1C1C"/>
                </a:solidFill>
                <a:latin typeface="Calibri" pitchFamily="34" charset="0"/>
                <a:ea typeface="Calibri" pitchFamily="34" charset="-122"/>
                <a:cs typeface="Calibri" pitchFamily="34" charset="-120"/>
              </a:rPr>
              <a:t>Reporting wizard</a:t>
            </a:r>
            <a:endParaRPr lang="en-US" sz="1450" dirty="0"/>
          </a:p>
        </p:txBody>
      </p:sp>
      <p:sp>
        <p:nvSpPr>
          <p:cNvPr id="20" name="Text 18"/>
          <p:cNvSpPr txBox="1"/>
          <p:nvPr/>
        </p:nvSpPr>
        <p:spPr>
          <a:xfrm>
            <a:off x="1353312" y="3584448"/>
            <a:ext cx="4407408" cy="749808"/>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Category → specific fault → free-text detail → photo/video → review → submit. Each step is its own screen, so the form never feels long.</a:t>
            </a:r>
            <a:endParaRPr lang="en-US" sz="1150" dirty="0"/>
          </a:p>
        </p:txBody>
      </p:sp>
      <p:sp>
        <p:nvSpPr>
          <p:cNvPr id="21" name="Shape 19"/>
          <p:cNvSpPr/>
          <p:nvPr/>
        </p:nvSpPr>
        <p:spPr>
          <a:xfrm>
            <a:off x="6181344" y="3035808"/>
            <a:ext cx="5394960" cy="1389888"/>
          </a:xfrm>
          <a:prstGeom prst="roundRect">
            <a:avLst>
              <a:gd name="adj" fmla="val 5921"/>
            </a:avLst>
          </a:prstGeom>
          <a:solidFill>
            <a:srgbClr val="FFFFFF"/>
          </a:solidFill>
          <a:ln w="9525">
            <a:solidFill>
              <a:srgbClr val="E4BEBA"/>
            </a:solidFill>
            <a:prstDash val="solid"/>
          </a:ln>
        </p:spPr>
      </p:sp>
      <p:sp>
        <p:nvSpPr>
          <p:cNvPr id="22" name="Shape 20"/>
          <p:cNvSpPr/>
          <p:nvPr/>
        </p:nvSpPr>
        <p:spPr>
          <a:xfrm>
            <a:off x="6437376" y="3291840"/>
            <a:ext cx="402336" cy="402336"/>
          </a:xfrm>
          <a:prstGeom prst="ellipse">
            <a:avLst/>
          </a:prstGeom>
          <a:solidFill>
            <a:srgbClr val="AF101A"/>
          </a:solidFill>
          <a:ln w="12700">
            <a:solidFill>
              <a:srgbClr val="AF101A"/>
            </a:solidFill>
            <a:prstDash val="solid"/>
          </a:ln>
        </p:spPr>
      </p:sp>
      <p:sp>
        <p:nvSpPr>
          <p:cNvPr id="23" name="Text 21"/>
          <p:cNvSpPr txBox="1"/>
          <p:nvPr/>
        </p:nvSpPr>
        <p:spPr>
          <a:xfrm>
            <a:off x="6437376" y="32918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4" name="Text 22"/>
          <p:cNvSpPr txBox="1"/>
          <p:nvPr/>
        </p:nvSpPr>
        <p:spPr>
          <a:xfrm>
            <a:off x="6967728" y="3255264"/>
            <a:ext cx="4389120" cy="274320"/>
          </a:xfrm>
          <a:prstGeom prst="rect">
            <a:avLst/>
          </a:prstGeom>
          <a:noFill/>
          <a:ln/>
        </p:spPr>
        <p:txBody>
          <a:bodyPr wrap="square" lIns="0" tIns="0" rIns="0" bIns="0" rtlCol="0" anchor="ctr"/>
          <a:lstStyle/>
          <a:p>
            <a:pPr indent="0" marL="0">
              <a:buNone/>
            </a:pPr>
            <a:r>
              <a:rPr lang="en-US" sz="1450" b="1" dirty="0">
                <a:solidFill>
                  <a:srgbClr val="1A1C1C"/>
                </a:solidFill>
                <a:latin typeface="Calibri" pitchFamily="34" charset="0"/>
                <a:ea typeface="Calibri" pitchFamily="34" charset="-122"/>
                <a:cs typeface="Calibri" pitchFamily="34" charset="-120"/>
              </a:rPr>
              <a:t>Native media capture</a:t>
            </a:r>
            <a:endParaRPr lang="en-US" sz="1450" dirty="0"/>
          </a:p>
        </p:txBody>
      </p:sp>
      <p:sp>
        <p:nvSpPr>
          <p:cNvPr id="25" name="Text 23"/>
          <p:cNvSpPr txBox="1"/>
          <p:nvPr/>
        </p:nvSpPr>
        <p:spPr>
          <a:xfrm>
            <a:off x="6967728" y="3584448"/>
            <a:ext cx="4407408" cy="749808"/>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expo-image-picker launches the camera on demand; permission is requested at the moment of use, not at install.</a:t>
            </a:r>
            <a:endParaRPr lang="en-US" sz="1150" dirty="0"/>
          </a:p>
        </p:txBody>
      </p:sp>
      <p:sp>
        <p:nvSpPr>
          <p:cNvPr id="26" name="Shape 24"/>
          <p:cNvSpPr/>
          <p:nvPr/>
        </p:nvSpPr>
        <p:spPr>
          <a:xfrm>
            <a:off x="566928" y="4608576"/>
            <a:ext cx="5394960" cy="1389888"/>
          </a:xfrm>
          <a:prstGeom prst="roundRect">
            <a:avLst>
              <a:gd name="adj" fmla="val 5921"/>
            </a:avLst>
          </a:prstGeom>
          <a:solidFill>
            <a:srgbClr val="FFFFFF"/>
          </a:solidFill>
          <a:ln w="9525">
            <a:solidFill>
              <a:srgbClr val="E4BEBA"/>
            </a:solidFill>
            <a:prstDash val="solid"/>
          </a:ln>
        </p:spPr>
      </p:sp>
      <p:sp>
        <p:nvSpPr>
          <p:cNvPr id="27" name="Shape 25"/>
          <p:cNvSpPr/>
          <p:nvPr/>
        </p:nvSpPr>
        <p:spPr>
          <a:xfrm>
            <a:off x="822960" y="4864608"/>
            <a:ext cx="402336" cy="402336"/>
          </a:xfrm>
          <a:prstGeom prst="ellipse">
            <a:avLst/>
          </a:prstGeom>
          <a:solidFill>
            <a:srgbClr val="AF101A"/>
          </a:solidFill>
          <a:ln w="12700">
            <a:solidFill>
              <a:srgbClr val="AF101A"/>
            </a:solidFill>
            <a:prstDash val="solid"/>
          </a:ln>
        </p:spPr>
      </p:sp>
      <p:sp>
        <p:nvSpPr>
          <p:cNvPr id="28" name="Text 26"/>
          <p:cNvSpPr txBox="1"/>
          <p:nvPr/>
        </p:nvSpPr>
        <p:spPr>
          <a:xfrm>
            <a:off x="822960" y="4864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 name="Text 27"/>
          <p:cNvSpPr txBox="1"/>
          <p:nvPr/>
        </p:nvSpPr>
        <p:spPr>
          <a:xfrm>
            <a:off x="1353312" y="4828032"/>
            <a:ext cx="4389120" cy="274320"/>
          </a:xfrm>
          <a:prstGeom prst="rect">
            <a:avLst/>
          </a:prstGeom>
          <a:noFill/>
          <a:ln/>
        </p:spPr>
        <p:txBody>
          <a:bodyPr wrap="square" lIns="0" tIns="0" rIns="0" bIns="0" rtlCol="0" anchor="ctr"/>
          <a:lstStyle/>
          <a:p>
            <a:pPr indent="0" marL="0">
              <a:buNone/>
            </a:pPr>
            <a:r>
              <a:rPr lang="en-US" sz="1450" b="1" dirty="0">
                <a:solidFill>
                  <a:srgbClr val="1A1C1C"/>
                </a:solidFill>
                <a:latin typeface="Calibri" pitchFamily="34" charset="0"/>
                <a:ea typeface="Calibri" pitchFamily="34" charset="-122"/>
                <a:cs typeface="Calibri" pitchFamily="34" charset="-120"/>
              </a:rPr>
              <a:t>Per-hall theming</a:t>
            </a:r>
            <a:endParaRPr lang="en-US" sz="1450" dirty="0"/>
          </a:p>
        </p:txBody>
      </p:sp>
      <p:sp>
        <p:nvSpPr>
          <p:cNvPr id="30" name="Text 28"/>
          <p:cNvSpPr txBox="1"/>
          <p:nvPr/>
        </p:nvSpPr>
        <p:spPr>
          <a:xfrm>
            <a:off x="1353312" y="5157216"/>
            <a:ext cx="4407408" cy="749808"/>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Each of the six halls carries its own palette and emblem, so the app looks like the student's own hall rather than a generic form.</a:t>
            </a:r>
            <a:endParaRPr lang="en-US" sz="1150" dirty="0"/>
          </a:p>
        </p:txBody>
      </p:sp>
      <p:sp>
        <p:nvSpPr>
          <p:cNvPr id="31" name="Shape 29"/>
          <p:cNvSpPr/>
          <p:nvPr/>
        </p:nvSpPr>
        <p:spPr>
          <a:xfrm>
            <a:off x="6181344" y="4608576"/>
            <a:ext cx="5394960" cy="1389888"/>
          </a:xfrm>
          <a:prstGeom prst="roundRect">
            <a:avLst>
              <a:gd name="adj" fmla="val 5921"/>
            </a:avLst>
          </a:prstGeom>
          <a:solidFill>
            <a:srgbClr val="FFFFFF"/>
          </a:solidFill>
          <a:ln w="9525">
            <a:solidFill>
              <a:srgbClr val="E4BEBA"/>
            </a:solidFill>
            <a:prstDash val="solid"/>
          </a:ln>
        </p:spPr>
      </p:sp>
      <p:sp>
        <p:nvSpPr>
          <p:cNvPr id="32" name="Shape 30"/>
          <p:cNvSpPr/>
          <p:nvPr/>
        </p:nvSpPr>
        <p:spPr>
          <a:xfrm>
            <a:off x="6437376" y="4864608"/>
            <a:ext cx="402336" cy="402336"/>
          </a:xfrm>
          <a:prstGeom prst="ellipse">
            <a:avLst/>
          </a:prstGeom>
          <a:solidFill>
            <a:srgbClr val="AF101A"/>
          </a:solidFill>
          <a:ln w="12700">
            <a:solidFill>
              <a:srgbClr val="AF101A"/>
            </a:solidFill>
            <a:prstDash val="solid"/>
          </a:ln>
        </p:spPr>
      </p:sp>
      <p:sp>
        <p:nvSpPr>
          <p:cNvPr id="33" name="Text 31"/>
          <p:cNvSpPr txBox="1"/>
          <p:nvPr/>
        </p:nvSpPr>
        <p:spPr>
          <a:xfrm>
            <a:off x="6437376" y="4864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Text 32"/>
          <p:cNvSpPr txBox="1"/>
          <p:nvPr/>
        </p:nvSpPr>
        <p:spPr>
          <a:xfrm>
            <a:off x="6967728" y="4828032"/>
            <a:ext cx="4389120" cy="274320"/>
          </a:xfrm>
          <a:prstGeom prst="rect">
            <a:avLst/>
          </a:prstGeom>
          <a:noFill/>
          <a:ln/>
        </p:spPr>
        <p:txBody>
          <a:bodyPr wrap="square" lIns="0" tIns="0" rIns="0" bIns="0" rtlCol="0" anchor="ctr"/>
          <a:lstStyle/>
          <a:p>
            <a:pPr indent="0" marL="0">
              <a:buNone/>
            </a:pPr>
            <a:r>
              <a:rPr lang="en-US" sz="1450" b="1" dirty="0">
                <a:solidFill>
                  <a:srgbClr val="1A1C1C"/>
                </a:solidFill>
                <a:latin typeface="Calibri" pitchFamily="34" charset="0"/>
                <a:ea typeface="Calibri" pitchFamily="34" charset="-122"/>
                <a:cs typeface="Calibri" pitchFamily="34" charset="-120"/>
              </a:rPr>
              <a:t>Offline resilience</a:t>
            </a:r>
            <a:endParaRPr lang="en-US" sz="1450" dirty="0"/>
          </a:p>
        </p:txBody>
      </p:sp>
      <p:sp>
        <p:nvSpPr>
          <p:cNvPr id="35" name="Text 33"/>
          <p:cNvSpPr txBox="1"/>
          <p:nvPr/>
        </p:nvSpPr>
        <p:spPr>
          <a:xfrm>
            <a:off x="6967728" y="5157216"/>
            <a:ext cx="4407408" cy="749808"/>
          </a:xfrm>
          <a:prstGeom prst="rect">
            <a:avLst/>
          </a:prstGeom>
          <a:noFill/>
          <a:ln/>
        </p:spPr>
        <p:txBody>
          <a:bodyPr wrap="square" lIns="0" tIns="0" rIns="0" bIns="0" rtlCol="0" anchor="t"/>
          <a:lstStyle/>
          <a:p>
            <a:pPr indent="0" marL="0">
              <a:lnSpc>
                <a:spcPts val="1500"/>
              </a:lnSpc>
              <a:buNone/>
            </a:pPr>
            <a:r>
              <a:rPr lang="en-US" sz="1150" dirty="0">
                <a:solidFill>
                  <a:srgbClr val="6B6360"/>
                </a:solidFill>
                <a:latin typeface="Calibri" pitchFamily="34" charset="0"/>
                <a:ea typeface="Calibri" pitchFamily="34" charset="-122"/>
                <a:cs typeface="Calibri" pitchFamily="34" charset="-120"/>
              </a:rPr>
              <a:t>AsyncStorage caches the profile and submitted tickets; FAQs, facility rules and emergency numbers stay readable with no connection.</a:t>
            </a:r>
            <a:endParaRPr lang="en-US" sz="1150" dirty="0"/>
          </a:p>
        </p:txBody>
      </p:sp>
      <p:sp>
        <p:nvSpPr>
          <p:cNvPr id="36" name="Text 34"/>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7" name="Text 35"/>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The Student Journey</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From noticing a fault to a scheduled repair</a:t>
            </a:r>
            <a:endParaRPr lang="en-US" sz="1450" dirty="0"/>
          </a:p>
        </p:txBody>
      </p:sp>
      <p:sp>
        <p:nvSpPr>
          <p:cNvPr id="4" name="Shape 2"/>
          <p:cNvSpPr/>
          <p:nvPr/>
        </p:nvSpPr>
        <p:spPr>
          <a:xfrm>
            <a:off x="566928" y="1920240"/>
            <a:ext cx="1664208" cy="2286000"/>
          </a:xfrm>
          <a:prstGeom prst="roundRect">
            <a:avLst>
              <a:gd name="adj" fmla="val 4396"/>
            </a:avLst>
          </a:prstGeom>
          <a:solidFill>
            <a:srgbClr val="FCF6F5"/>
          </a:solidFill>
          <a:ln w="9525">
            <a:solidFill>
              <a:srgbClr val="E4BEBA"/>
            </a:solidFill>
            <a:prstDash val="solid"/>
          </a:ln>
        </p:spPr>
      </p:sp>
      <p:sp>
        <p:nvSpPr>
          <p:cNvPr id="5" name="Shape 3"/>
          <p:cNvSpPr/>
          <p:nvPr/>
        </p:nvSpPr>
        <p:spPr>
          <a:xfrm>
            <a:off x="1170432" y="2139696"/>
            <a:ext cx="457200" cy="457200"/>
          </a:xfrm>
          <a:prstGeom prst="ellipse">
            <a:avLst/>
          </a:prstGeom>
          <a:solidFill>
            <a:srgbClr val="AF101A"/>
          </a:solidFill>
          <a:ln w="12700">
            <a:solidFill>
              <a:srgbClr val="AF101A"/>
            </a:solidFill>
            <a:prstDash val="solid"/>
          </a:ln>
        </p:spPr>
      </p:sp>
      <p:sp>
        <p:nvSpPr>
          <p:cNvPr id="6" name="Text 4"/>
          <p:cNvSpPr txBox="1"/>
          <p:nvPr/>
        </p:nvSpPr>
        <p:spPr>
          <a:xfrm>
            <a:off x="1170432"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94944" y="2743200"/>
            <a:ext cx="1408176" cy="512064"/>
          </a:xfrm>
          <a:prstGeom prst="rect">
            <a:avLst/>
          </a:prstGeom>
          <a:noFill/>
          <a:ln/>
        </p:spPr>
        <p:txBody>
          <a:bodyPr wrap="square" lIns="0" tIns="0" rIns="0" bIns="0" rtlCol="0" anchor="ctr"/>
          <a:lstStyle/>
          <a:p>
            <a:pPr algn="ctr" indent="0" marL="0">
              <a:lnSpc>
                <a:spcPts val="1700"/>
              </a:lnSpc>
              <a:buNone/>
            </a:pPr>
            <a:r>
              <a:rPr lang="en-US" sz="1350" b="1" dirty="0">
                <a:solidFill>
                  <a:srgbClr val="AF101A"/>
                </a:solidFill>
                <a:latin typeface="Calibri" pitchFamily="34" charset="0"/>
                <a:ea typeface="Calibri" pitchFamily="34" charset="-122"/>
                <a:cs typeface="Calibri" pitchFamily="34" charset="-120"/>
              </a:rPr>
              <a:t>Register</a:t>
            </a:r>
            <a:endParaRPr lang="en-US" sz="1350" dirty="0"/>
          </a:p>
        </p:txBody>
      </p:sp>
      <p:sp>
        <p:nvSpPr>
          <p:cNvPr id="8" name="Text 6"/>
          <p:cNvSpPr txBox="1"/>
          <p:nvPr/>
        </p:nvSpPr>
        <p:spPr>
          <a:xfrm>
            <a:off x="694944" y="3255264"/>
            <a:ext cx="1417320" cy="877824"/>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Sign up, confirm email</a:t>
            </a:r>
            <a:endParaRPr lang="en-US" sz="1050" dirty="0"/>
          </a:p>
        </p:txBody>
      </p:sp>
      <p:sp>
        <p:nvSpPr>
          <p:cNvPr id="9" name="Shape 7"/>
          <p:cNvSpPr/>
          <p:nvPr/>
        </p:nvSpPr>
        <p:spPr>
          <a:xfrm>
            <a:off x="2263140" y="2962656"/>
            <a:ext cx="128016" cy="182880"/>
          </a:xfrm>
          <a:prstGeom prst="rightArrow">
            <a:avLst/>
          </a:prstGeom>
          <a:solidFill>
            <a:srgbClr val="E4BEBA"/>
          </a:solidFill>
          <a:ln w="12700">
            <a:solidFill>
              <a:srgbClr val="E4BEBA"/>
            </a:solidFill>
            <a:prstDash val="solid"/>
          </a:ln>
        </p:spPr>
      </p:sp>
      <p:sp>
        <p:nvSpPr>
          <p:cNvPr id="10" name="Shape 8"/>
          <p:cNvSpPr/>
          <p:nvPr/>
        </p:nvSpPr>
        <p:spPr>
          <a:xfrm>
            <a:off x="2414016" y="1920240"/>
            <a:ext cx="1664208" cy="2286000"/>
          </a:xfrm>
          <a:prstGeom prst="roundRect">
            <a:avLst>
              <a:gd name="adj" fmla="val 4396"/>
            </a:avLst>
          </a:prstGeom>
          <a:solidFill>
            <a:srgbClr val="FCF6F5"/>
          </a:solidFill>
          <a:ln w="9525">
            <a:solidFill>
              <a:srgbClr val="E4BEBA"/>
            </a:solidFill>
            <a:prstDash val="solid"/>
          </a:ln>
        </p:spPr>
      </p:sp>
      <p:sp>
        <p:nvSpPr>
          <p:cNvPr id="11" name="Shape 9"/>
          <p:cNvSpPr/>
          <p:nvPr/>
        </p:nvSpPr>
        <p:spPr>
          <a:xfrm>
            <a:off x="3017520" y="2139696"/>
            <a:ext cx="457200" cy="457200"/>
          </a:xfrm>
          <a:prstGeom prst="ellipse">
            <a:avLst/>
          </a:prstGeom>
          <a:solidFill>
            <a:srgbClr val="AF101A"/>
          </a:solidFill>
          <a:ln w="12700">
            <a:solidFill>
              <a:srgbClr val="AF101A"/>
            </a:solidFill>
            <a:prstDash val="solid"/>
          </a:ln>
        </p:spPr>
      </p:sp>
      <p:sp>
        <p:nvSpPr>
          <p:cNvPr id="12" name="Text 10"/>
          <p:cNvSpPr txBox="1"/>
          <p:nvPr/>
        </p:nvSpPr>
        <p:spPr>
          <a:xfrm>
            <a:off x="3017520"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542032" y="2743200"/>
            <a:ext cx="1408176" cy="512064"/>
          </a:xfrm>
          <a:prstGeom prst="rect">
            <a:avLst/>
          </a:prstGeom>
          <a:noFill/>
          <a:ln/>
        </p:spPr>
        <p:txBody>
          <a:bodyPr wrap="square" lIns="0" tIns="0" rIns="0" bIns="0" rtlCol="0" anchor="ctr"/>
          <a:lstStyle/>
          <a:p>
            <a:pPr algn="ctr" indent="0" marL="0">
              <a:lnSpc>
                <a:spcPts val="1700"/>
              </a:lnSpc>
              <a:buNone/>
            </a:pPr>
            <a:r>
              <a:rPr lang="en-US" sz="1350" b="1" dirty="0">
                <a:solidFill>
                  <a:srgbClr val="AF101A"/>
                </a:solidFill>
                <a:latin typeface="Calibri" pitchFamily="34" charset="0"/>
                <a:ea typeface="Calibri" pitchFamily="34" charset="-122"/>
                <a:cs typeface="Calibri" pitchFamily="34" charset="-120"/>
              </a:rPr>
              <a:t>Set address</a:t>
            </a:r>
            <a:endParaRPr lang="en-US" sz="1350" dirty="0"/>
          </a:p>
        </p:txBody>
      </p:sp>
      <p:sp>
        <p:nvSpPr>
          <p:cNvPr id="14" name="Text 12"/>
          <p:cNvSpPr txBox="1"/>
          <p:nvPr/>
        </p:nvSpPr>
        <p:spPr>
          <a:xfrm>
            <a:off x="2542032" y="3255264"/>
            <a:ext cx="1417320" cy="877824"/>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Hall, floor and room — chosen once, then locked</a:t>
            </a:r>
            <a:endParaRPr lang="en-US" sz="1050" dirty="0"/>
          </a:p>
        </p:txBody>
      </p:sp>
      <p:sp>
        <p:nvSpPr>
          <p:cNvPr id="15" name="Shape 13"/>
          <p:cNvSpPr/>
          <p:nvPr/>
        </p:nvSpPr>
        <p:spPr>
          <a:xfrm>
            <a:off x="4110228" y="2962656"/>
            <a:ext cx="128016" cy="182880"/>
          </a:xfrm>
          <a:prstGeom prst="rightArrow">
            <a:avLst/>
          </a:prstGeom>
          <a:solidFill>
            <a:srgbClr val="E4BEBA"/>
          </a:solidFill>
          <a:ln w="12700">
            <a:solidFill>
              <a:srgbClr val="E4BEBA"/>
            </a:solidFill>
            <a:prstDash val="solid"/>
          </a:ln>
        </p:spPr>
      </p:sp>
      <p:sp>
        <p:nvSpPr>
          <p:cNvPr id="16" name="Shape 14"/>
          <p:cNvSpPr/>
          <p:nvPr/>
        </p:nvSpPr>
        <p:spPr>
          <a:xfrm>
            <a:off x="4261104" y="1920240"/>
            <a:ext cx="1664208" cy="2286000"/>
          </a:xfrm>
          <a:prstGeom prst="roundRect">
            <a:avLst>
              <a:gd name="adj" fmla="val 4396"/>
            </a:avLst>
          </a:prstGeom>
          <a:solidFill>
            <a:srgbClr val="FFFFFF"/>
          </a:solidFill>
          <a:ln w="9525">
            <a:solidFill>
              <a:srgbClr val="E4BEBA"/>
            </a:solidFill>
            <a:prstDash val="solid"/>
          </a:ln>
        </p:spPr>
      </p:sp>
      <p:sp>
        <p:nvSpPr>
          <p:cNvPr id="17" name="Shape 15"/>
          <p:cNvSpPr/>
          <p:nvPr/>
        </p:nvSpPr>
        <p:spPr>
          <a:xfrm>
            <a:off x="4864608" y="2139696"/>
            <a:ext cx="457200" cy="457200"/>
          </a:xfrm>
          <a:prstGeom prst="ellipse">
            <a:avLst/>
          </a:prstGeom>
          <a:solidFill>
            <a:srgbClr val="AF101A"/>
          </a:solidFill>
          <a:ln w="12700">
            <a:solidFill>
              <a:srgbClr val="AF101A"/>
            </a:solidFill>
            <a:prstDash val="solid"/>
          </a:ln>
        </p:spPr>
      </p:sp>
      <p:sp>
        <p:nvSpPr>
          <p:cNvPr id="18" name="Text 16"/>
          <p:cNvSpPr txBox="1"/>
          <p:nvPr/>
        </p:nvSpPr>
        <p:spPr>
          <a:xfrm>
            <a:off x="4864608"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4389120" y="2743200"/>
            <a:ext cx="1408176" cy="512064"/>
          </a:xfrm>
          <a:prstGeom prst="rect">
            <a:avLst/>
          </a:prstGeom>
          <a:noFill/>
          <a:ln/>
        </p:spPr>
        <p:txBody>
          <a:bodyPr wrap="square" lIns="0" tIns="0" rIns="0" bIns="0" rtlCol="0" anchor="ctr"/>
          <a:lstStyle/>
          <a:p>
            <a:pPr algn="ctr" indent="0" marL="0">
              <a:lnSpc>
                <a:spcPts val="1700"/>
              </a:lnSpc>
              <a:buNone/>
            </a:pPr>
            <a:r>
              <a:rPr lang="en-US" sz="1350" b="1" dirty="0">
                <a:solidFill>
                  <a:srgbClr val="AF101A"/>
                </a:solidFill>
                <a:latin typeface="Calibri" pitchFamily="34" charset="0"/>
                <a:ea typeface="Calibri" pitchFamily="34" charset="-122"/>
                <a:cs typeface="Calibri" pitchFamily="34" charset="-120"/>
              </a:rPr>
              <a:t>Pick a fault</a:t>
            </a:r>
            <a:endParaRPr lang="en-US" sz="1350" dirty="0"/>
          </a:p>
        </p:txBody>
      </p:sp>
      <p:sp>
        <p:nvSpPr>
          <p:cNvPr id="20" name="Text 18"/>
          <p:cNvSpPr txBox="1"/>
          <p:nvPr/>
        </p:nvSpPr>
        <p:spPr>
          <a:xfrm>
            <a:off x="4389120" y="3255264"/>
            <a:ext cx="1417320" cy="877824"/>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Trade, then a specific issue from the list</a:t>
            </a:r>
            <a:endParaRPr lang="en-US" sz="1050" dirty="0"/>
          </a:p>
        </p:txBody>
      </p:sp>
      <p:sp>
        <p:nvSpPr>
          <p:cNvPr id="21" name="Shape 19"/>
          <p:cNvSpPr/>
          <p:nvPr/>
        </p:nvSpPr>
        <p:spPr>
          <a:xfrm>
            <a:off x="5957316" y="2962656"/>
            <a:ext cx="128016" cy="182880"/>
          </a:xfrm>
          <a:prstGeom prst="rightArrow">
            <a:avLst/>
          </a:prstGeom>
          <a:solidFill>
            <a:srgbClr val="E4BEBA"/>
          </a:solidFill>
          <a:ln w="12700">
            <a:solidFill>
              <a:srgbClr val="E4BEBA"/>
            </a:solidFill>
            <a:prstDash val="solid"/>
          </a:ln>
        </p:spPr>
      </p:sp>
      <p:sp>
        <p:nvSpPr>
          <p:cNvPr id="22" name="Shape 20"/>
          <p:cNvSpPr/>
          <p:nvPr/>
        </p:nvSpPr>
        <p:spPr>
          <a:xfrm>
            <a:off x="6108192" y="1920240"/>
            <a:ext cx="1664208" cy="2286000"/>
          </a:xfrm>
          <a:prstGeom prst="roundRect">
            <a:avLst>
              <a:gd name="adj" fmla="val 4396"/>
            </a:avLst>
          </a:prstGeom>
          <a:solidFill>
            <a:srgbClr val="FFFFFF"/>
          </a:solidFill>
          <a:ln w="9525">
            <a:solidFill>
              <a:srgbClr val="E4BEBA"/>
            </a:solidFill>
            <a:prstDash val="solid"/>
          </a:ln>
        </p:spPr>
      </p:sp>
      <p:sp>
        <p:nvSpPr>
          <p:cNvPr id="23" name="Shape 21"/>
          <p:cNvSpPr/>
          <p:nvPr/>
        </p:nvSpPr>
        <p:spPr>
          <a:xfrm>
            <a:off x="6711696" y="2139696"/>
            <a:ext cx="457200" cy="457200"/>
          </a:xfrm>
          <a:prstGeom prst="ellipse">
            <a:avLst/>
          </a:prstGeom>
          <a:solidFill>
            <a:srgbClr val="AF101A"/>
          </a:solidFill>
          <a:ln w="12700">
            <a:solidFill>
              <a:srgbClr val="AF101A"/>
            </a:solidFill>
            <a:prstDash val="solid"/>
          </a:ln>
        </p:spPr>
      </p:sp>
      <p:sp>
        <p:nvSpPr>
          <p:cNvPr id="24" name="Text 22"/>
          <p:cNvSpPr txBox="1"/>
          <p:nvPr/>
        </p:nvSpPr>
        <p:spPr>
          <a:xfrm>
            <a:off x="6711696"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6236208" y="2743200"/>
            <a:ext cx="1408176" cy="512064"/>
          </a:xfrm>
          <a:prstGeom prst="rect">
            <a:avLst/>
          </a:prstGeom>
          <a:noFill/>
          <a:ln/>
        </p:spPr>
        <p:txBody>
          <a:bodyPr wrap="square" lIns="0" tIns="0" rIns="0" bIns="0" rtlCol="0" anchor="ctr"/>
          <a:lstStyle/>
          <a:p>
            <a:pPr algn="ctr" indent="0" marL="0">
              <a:lnSpc>
                <a:spcPts val="1700"/>
              </a:lnSpc>
              <a:buNone/>
            </a:pPr>
            <a:r>
              <a:rPr lang="en-US" sz="1350" b="1" dirty="0">
                <a:solidFill>
                  <a:srgbClr val="AF101A"/>
                </a:solidFill>
                <a:latin typeface="Calibri" pitchFamily="34" charset="0"/>
                <a:ea typeface="Calibri" pitchFamily="34" charset="-122"/>
                <a:cs typeface="Calibri" pitchFamily="34" charset="-120"/>
              </a:rPr>
              <a:t>Attach evidence</a:t>
            </a:r>
            <a:endParaRPr lang="en-US" sz="1350" dirty="0"/>
          </a:p>
        </p:txBody>
      </p:sp>
      <p:sp>
        <p:nvSpPr>
          <p:cNvPr id="26" name="Text 24"/>
          <p:cNvSpPr txBox="1"/>
          <p:nvPr/>
        </p:nvSpPr>
        <p:spPr>
          <a:xfrm>
            <a:off x="6236208" y="3255264"/>
            <a:ext cx="1417320" cy="877824"/>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Up to 3 photos or 1 video</a:t>
            </a:r>
            <a:endParaRPr lang="en-US" sz="1050" dirty="0"/>
          </a:p>
        </p:txBody>
      </p:sp>
      <p:sp>
        <p:nvSpPr>
          <p:cNvPr id="27" name="Shape 25"/>
          <p:cNvSpPr/>
          <p:nvPr/>
        </p:nvSpPr>
        <p:spPr>
          <a:xfrm>
            <a:off x="7804404" y="2962656"/>
            <a:ext cx="128016" cy="182880"/>
          </a:xfrm>
          <a:prstGeom prst="rightArrow">
            <a:avLst/>
          </a:prstGeom>
          <a:solidFill>
            <a:srgbClr val="E4BEBA"/>
          </a:solidFill>
          <a:ln w="12700">
            <a:solidFill>
              <a:srgbClr val="E4BEBA"/>
            </a:solidFill>
            <a:prstDash val="solid"/>
          </a:ln>
        </p:spPr>
      </p:sp>
      <p:sp>
        <p:nvSpPr>
          <p:cNvPr id="28" name="Shape 26"/>
          <p:cNvSpPr/>
          <p:nvPr/>
        </p:nvSpPr>
        <p:spPr>
          <a:xfrm>
            <a:off x="7955280" y="1920240"/>
            <a:ext cx="1664208" cy="2286000"/>
          </a:xfrm>
          <a:prstGeom prst="roundRect">
            <a:avLst>
              <a:gd name="adj" fmla="val 4396"/>
            </a:avLst>
          </a:prstGeom>
          <a:solidFill>
            <a:srgbClr val="FFFFFF"/>
          </a:solidFill>
          <a:ln w="9525">
            <a:solidFill>
              <a:srgbClr val="E4BEBA"/>
            </a:solidFill>
            <a:prstDash val="solid"/>
          </a:ln>
        </p:spPr>
      </p:sp>
      <p:sp>
        <p:nvSpPr>
          <p:cNvPr id="29" name="Shape 27"/>
          <p:cNvSpPr/>
          <p:nvPr/>
        </p:nvSpPr>
        <p:spPr>
          <a:xfrm>
            <a:off x="8558784" y="2139696"/>
            <a:ext cx="457200" cy="457200"/>
          </a:xfrm>
          <a:prstGeom prst="ellipse">
            <a:avLst/>
          </a:prstGeom>
          <a:solidFill>
            <a:srgbClr val="AF101A"/>
          </a:solidFill>
          <a:ln w="12700">
            <a:solidFill>
              <a:srgbClr val="AF101A"/>
            </a:solidFill>
            <a:prstDash val="solid"/>
          </a:ln>
        </p:spPr>
      </p:sp>
      <p:sp>
        <p:nvSpPr>
          <p:cNvPr id="30" name="Text 28"/>
          <p:cNvSpPr txBox="1"/>
          <p:nvPr/>
        </p:nvSpPr>
        <p:spPr>
          <a:xfrm>
            <a:off x="8558784"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8083296" y="2743200"/>
            <a:ext cx="1408176" cy="512064"/>
          </a:xfrm>
          <a:prstGeom prst="rect">
            <a:avLst/>
          </a:prstGeom>
          <a:noFill/>
          <a:ln/>
        </p:spPr>
        <p:txBody>
          <a:bodyPr wrap="square" lIns="0" tIns="0" rIns="0" bIns="0" rtlCol="0" anchor="ctr"/>
          <a:lstStyle/>
          <a:p>
            <a:pPr algn="ctr" indent="0" marL="0">
              <a:lnSpc>
                <a:spcPts val="1700"/>
              </a:lnSpc>
              <a:buNone/>
            </a:pPr>
            <a:r>
              <a:rPr lang="en-US" sz="1350" b="1" dirty="0">
                <a:solidFill>
                  <a:srgbClr val="AF101A"/>
                </a:solidFill>
                <a:latin typeface="Calibri" pitchFamily="34" charset="0"/>
                <a:ea typeface="Calibri" pitchFamily="34" charset="-122"/>
                <a:cs typeface="Calibri" pitchFamily="34" charset="-120"/>
              </a:rPr>
              <a:t>Review &amp; submit</a:t>
            </a:r>
            <a:endParaRPr lang="en-US" sz="1350" dirty="0"/>
          </a:p>
        </p:txBody>
      </p:sp>
      <p:sp>
        <p:nvSpPr>
          <p:cNvPr id="32" name="Text 30"/>
          <p:cNvSpPr txBox="1"/>
          <p:nvPr/>
        </p:nvSpPr>
        <p:spPr>
          <a:xfrm>
            <a:off x="8083296" y="3255264"/>
            <a:ext cx="1417320" cy="877824"/>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Reference number issued instantly</a:t>
            </a:r>
            <a:endParaRPr lang="en-US" sz="1050" dirty="0"/>
          </a:p>
        </p:txBody>
      </p:sp>
      <p:sp>
        <p:nvSpPr>
          <p:cNvPr id="33" name="Shape 31"/>
          <p:cNvSpPr/>
          <p:nvPr/>
        </p:nvSpPr>
        <p:spPr>
          <a:xfrm>
            <a:off x="9651492" y="2962656"/>
            <a:ext cx="128016" cy="182880"/>
          </a:xfrm>
          <a:prstGeom prst="rightArrow">
            <a:avLst/>
          </a:prstGeom>
          <a:solidFill>
            <a:srgbClr val="E4BEBA"/>
          </a:solidFill>
          <a:ln w="12700">
            <a:solidFill>
              <a:srgbClr val="E4BEBA"/>
            </a:solidFill>
            <a:prstDash val="solid"/>
          </a:ln>
        </p:spPr>
      </p:sp>
      <p:sp>
        <p:nvSpPr>
          <p:cNvPr id="34" name="Shape 32"/>
          <p:cNvSpPr/>
          <p:nvPr/>
        </p:nvSpPr>
        <p:spPr>
          <a:xfrm>
            <a:off x="9802368" y="1920240"/>
            <a:ext cx="1664208" cy="2286000"/>
          </a:xfrm>
          <a:prstGeom prst="roundRect">
            <a:avLst>
              <a:gd name="adj" fmla="val 4396"/>
            </a:avLst>
          </a:prstGeom>
          <a:solidFill>
            <a:srgbClr val="FFFFFF"/>
          </a:solidFill>
          <a:ln w="9525">
            <a:solidFill>
              <a:srgbClr val="E4BEBA"/>
            </a:solidFill>
            <a:prstDash val="solid"/>
          </a:ln>
        </p:spPr>
      </p:sp>
      <p:sp>
        <p:nvSpPr>
          <p:cNvPr id="35" name="Shape 33"/>
          <p:cNvSpPr/>
          <p:nvPr/>
        </p:nvSpPr>
        <p:spPr>
          <a:xfrm>
            <a:off x="10405872" y="2139696"/>
            <a:ext cx="457200" cy="457200"/>
          </a:xfrm>
          <a:prstGeom prst="ellipse">
            <a:avLst/>
          </a:prstGeom>
          <a:solidFill>
            <a:srgbClr val="AF101A"/>
          </a:solidFill>
          <a:ln w="12700">
            <a:solidFill>
              <a:srgbClr val="AF101A"/>
            </a:solidFill>
            <a:prstDash val="solid"/>
          </a:ln>
        </p:spPr>
      </p:sp>
      <p:sp>
        <p:nvSpPr>
          <p:cNvPr id="36" name="Text 34"/>
          <p:cNvSpPr txBox="1"/>
          <p:nvPr/>
        </p:nvSpPr>
        <p:spPr>
          <a:xfrm>
            <a:off x="10405872" y="213969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7" name="Text 35"/>
          <p:cNvSpPr txBox="1"/>
          <p:nvPr/>
        </p:nvSpPr>
        <p:spPr>
          <a:xfrm>
            <a:off x="9930384" y="2743200"/>
            <a:ext cx="1408176" cy="512064"/>
          </a:xfrm>
          <a:prstGeom prst="rect">
            <a:avLst/>
          </a:prstGeom>
          <a:noFill/>
          <a:ln/>
        </p:spPr>
        <p:txBody>
          <a:bodyPr wrap="square" lIns="0" tIns="0" rIns="0" bIns="0" rtlCol="0" anchor="ctr"/>
          <a:lstStyle/>
          <a:p>
            <a:pPr algn="ctr" indent="0" marL="0">
              <a:lnSpc>
                <a:spcPts val="1700"/>
              </a:lnSpc>
              <a:buNone/>
            </a:pPr>
            <a:r>
              <a:rPr lang="en-US" sz="1350" b="1" dirty="0">
                <a:solidFill>
                  <a:srgbClr val="AF101A"/>
                </a:solidFill>
                <a:latin typeface="Calibri" pitchFamily="34" charset="0"/>
                <a:ea typeface="Calibri" pitchFamily="34" charset="-122"/>
                <a:cs typeface="Calibri" pitchFamily="34" charset="-120"/>
              </a:rPr>
              <a:t>Track &amp; be told</a:t>
            </a:r>
            <a:endParaRPr lang="en-US" sz="1350" dirty="0"/>
          </a:p>
        </p:txBody>
      </p:sp>
      <p:sp>
        <p:nvSpPr>
          <p:cNvPr id="38" name="Text 36"/>
          <p:cNvSpPr txBox="1"/>
          <p:nvPr/>
        </p:nvSpPr>
        <p:spPr>
          <a:xfrm>
            <a:off x="9930384" y="3255264"/>
            <a:ext cx="1417320" cy="877824"/>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Status changes arrive by email</a:t>
            </a:r>
            <a:endParaRPr lang="en-US" sz="1050" dirty="0"/>
          </a:p>
        </p:txBody>
      </p:sp>
      <p:sp>
        <p:nvSpPr>
          <p:cNvPr id="39" name="Shape 37"/>
          <p:cNvSpPr/>
          <p:nvPr/>
        </p:nvSpPr>
        <p:spPr>
          <a:xfrm>
            <a:off x="566928" y="4553712"/>
            <a:ext cx="11055096" cy="1371600"/>
          </a:xfrm>
          <a:prstGeom prst="roundRect">
            <a:avLst>
              <a:gd name="adj" fmla="val 5333"/>
            </a:avLst>
          </a:prstGeom>
          <a:solidFill>
            <a:srgbClr val="1A1C1C"/>
          </a:solidFill>
          <a:ln w="12700">
            <a:solidFill>
              <a:srgbClr val="1A1C1C"/>
            </a:solidFill>
            <a:prstDash val="solid"/>
          </a:ln>
        </p:spPr>
      </p:sp>
      <p:sp>
        <p:nvSpPr>
          <p:cNvPr id="40" name="Text 38"/>
          <p:cNvSpPr txBox="1"/>
          <p:nvPr/>
        </p:nvSpPr>
        <p:spPr>
          <a:xfrm>
            <a:off x="896112" y="4754880"/>
            <a:ext cx="10332720" cy="310896"/>
          </a:xfrm>
          <a:prstGeom prst="rect">
            <a:avLst/>
          </a:prstGeom>
          <a:noFill/>
          <a:ln/>
        </p:spPr>
        <p:txBody>
          <a:bodyPr wrap="square" lIns="0" tIns="0" rIns="0" bIns="0" rtlCol="0" anchor="ctr"/>
          <a:lstStyle/>
          <a:p>
            <a:pPr indent="0" marL="0">
              <a:buNone/>
            </a:pPr>
            <a:r>
              <a:rPr lang="en-US" sz="1500" b="1" dirty="0">
                <a:solidFill>
                  <a:srgbClr val="F5C518"/>
                </a:solidFill>
                <a:latin typeface="Calibri" pitchFamily="34" charset="0"/>
                <a:ea typeface="Calibri" pitchFamily="34" charset="-122"/>
                <a:cs typeface="Calibri" pitchFamily="34" charset="-120"/>
              </a:rPr>
              <a:t>The address is chosen once and then fixed</a:t>
            </a:r>
            <a:endParaRPr lang="en-US" sz="1500" dirty="0"/>
          </a:p>
        </p:txBody>
      </p:sp>
      <p:sp>
        <p:nvSpPr>
          <p:cNvPr id="41" name="Text 39"/>
          <p:cNvSpPr txBox="1"/>
          <p:nvPr/>
        </p:nvSpPr>
        <p:spPr>
          <a:xfrm>
            <a:off x="896112" y="5084064"/>
            <a:ext cx="10424160" cy="694944"/>
          </a:xfrm>
          <a:prstGeom prst="rect">
            <a:avLst/>
          </a:prstGeom>
          <a:noFill/>
          <a:ln/>
        </p:spPr>
        <p:txBody>
          <a:bodyPr wrap="square" lIns="0" tIns="0" rIns="0" bIns="0" rtlCol="0" anchor="t"/>
          <a:lstStyle/>
          <a:p>
            <a:pPr indent="0" marL="0">
              <a:lnSpc>
                <a:spcPts val="1700"/>
              </a:lnSpc>
              <a:buNone/>
            </a:pPr>
            <a:r>
              <a:rPr lang="en-US" sz="1250" dirty="0">
                <a:solidFill>
                  <a:srgbClr val="C9C2C0"/>
                </a:solidFill>
                <a:latin typeface="Calibri" pitchFamily="34" charset="0"/>
                <a:ea typeface="Calibri" pitchFamily="34" charset="-122"/>
                <a:cs typeface="Calibri" pitchFamily="34" charset="-120"/>
              </a:rPr>
              <a:t>A student picks hall, floor and room on first login and goes straight to the app on every login after that. Every report they file is then stamped with that registered address by the database — whatever the form sends — so a single account can never file into a hall it does not belong to.</a:t>
            </a:r>
            <a:endParaRPr lang="en-US" sz="1250" dirty="0"/>
          </a:p>
        </p:txBody>
      </p:sp>
      <p:sp>
        <p:nvSpPr>
          <p:cNvPr id="42" name="Text 40"/>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43" name="Text 41"/>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Sub-system 2 — Web Admin Dashboard</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React 19.2 · React Router DOM 7 · Supabase realtime</a:t>
            </a:r>
            <a:endParaRPr lang="en-US" sz="1450" dirty="0"/>
          </a:p>
        </p:txBody>
      </p:sp>
      <p:sp>
        <p:nvSpPr>
          <p:cNvPr id="4" name="Shape 2"/>
          <p:cNvSpPr/>
          <p:nvPr/>
        </p:nvSpPr>
        <p:spPr>
          <a:xfrm>
            <a:off x="566928" y="1517904"/>
            <a:ext cx="2606040" cy="1133856"/>
          </a:xfrm>
          <a:prstGeom prst="roundRect">
            <a:avLst>
              <a:gd name="adj" fmla="val 7258"/>
            </a:avLst>
          </a:prstGeom>
          <a:solidFill>
            <a:srgbClr val="FCF6F5"/>
          </a:solidFill>
          <a:ln w="9525">
            <a:solidFill>
              <a:srgbClr val="E4BEBA"/>
            </a:solidFill>
            <a:prstDash val="solid"/>
          </a:ln>
        </p:spPr>
      </p:sp>
      <p:sp>
        <p:nvSpPr>
          <p:cNvPr id="5" name="Text 3"/>
          <p:cNvSpPr txBox="1"/>
          <p:nvPr/>
        </p:nvSpPr>
        <p:spPr>
          <a:xfrm>
            <a:off x="786384" y="1700784"/>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Dashboard</a:t>
            </a:r>
            <a:endParaRPr lang="en-US" sz="1400" dirty="0"/>
          </a:p>
        </p:txBody>
      </p:sp>
      <p:sp>
        <p:nvSpPr>
          <p:cNvPr id="6" name="Text 4"/>
          <p:cNvSpPr txBox="1"/>
          <p:nvPr/>
        </p:nvSpPr>
        <p:spPr>
          <a:xfrm>
            <a:off x="786384" y="2011680"/>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Live analytics — volume, status mix, response times</a:t>
            </a:r>
            <a:endParaRPr lang="en-US" sz="1050" dirty="0"/>
          </a:p>
        </p:txBody>
      </p:sp>
      <p:sp>
        <p:nvSpPr>
          <p:cNvPr id="7" name="Shape 5"/>
          <p:cNvSpPr/>
          <p:nvPr/>
        </p:nvSpPr>
        <p:spPr>
          <a:xfrm>
            <a:off x="3355848" y="1517904"/>
            <a:ext cx="2606040" cy="1133856"/>
          </a:xfrm>
          <a:prstGeom prst="roundRect">
            <a:avLst>
              <a:gd name="adj" fmla="val 7258"/>
            </a:avLst>
          </a:prstGeom>
          <a:solidFill>
            <a:srgbClr val="FFFFFF"/>
          </a:solidFill>
          <a:ln w="9525">
            <a:solidFill>
              <a:srgbClr val="E4BEBA"/>
            </a:solidFill>
            <a:prstDash val="solid"/>
          </a:ln>
        </p:spPr>
      </p:sp>
      <p:sp>
        <p:nvSpPr>
          <p:cNvPr id="8" name="Text 6"/>
          <p:cNvSpPr txBox="1"/>
          <p:nvPr/>
        </p:nvSpPr>
        <p:spPr>
          <a:xfrm>
            <a:off x="3575304" y="1700784"/>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Students</a:t>
            </a:r>
            <a:endParaRPr lang="en-US" sz="1400" dirty="0"/>
          </a:p>
        </p:txBody>
      </p:sp>
      <p:sp>
        <p:nvSpPr>
          <p:cNvPr id="9" name="Text 7"/>
          <p:cNvSpPr txBox="1"/>
          <p:nvPr/>
        </p:nvSpPr>
        <p:spPr>
          <a:xfrm>
            <a:off x="3575304" y="2011680"/>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Directory of residents and their reports</a:t>
            </a:r>
            <a:endParaRPr lang="en-US" sz="1050" dirty="0"/>
          </a:p>
        </p:txBody>
      </p:sp>
      <p:sp>
        <p:nvSpPr>
          <p:cNvPr id="10" name="Shape 8"/>
          <p:cNvSpPr/>
          <p:nvPr/>
        </p:nvSpPr>
        <p:spPr>
          <a:xfrm>
            <a:off x="6144768" y="1517904"/>
            <a:ext cx="2606040" cy="1133856"/>
          </a:xfrm>
          <a:prstGeom prst="roundRect">
            <a:avLst>
              <a:gd name="adj" fmla="val 7258"/>
            </a:avLst>
          </a:prstGeom>
          <a:solidFill>
            <a:srgbClr val="FCF6F5"/>
          </a:solidFill>
          <a:ln w="9525">
            <a:solidFill>
              <a:srgbClr val="E4BEBA"/>
            </a:solidFill>
            <a:prstDash val="solid"/>
          </a:ln>
        </p:spPr>
      </p:sp>
      <p:sp>
        <p:nvSpPr>
          <p:cNvPr id="11" name="Text 9"/>
          <p:cNvSpPr txBox="1"/>
          <p:nvPr/>
        </p:nvSpPr>
        <p:spPr>
          <a:xfrm>
            <a:off x="6364224" y="1700784"/>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Staff</a:t>
            </a:r>
            <a:endParaRPr lang="en-US" sz="1400" dirty="0"/>
          </a:p>
        </p:txBody>
      </p:sp>
      <p:sp>
        <p:nvSpPr>
          <p:cNvPr id="12" name="Text 10"/>
          <p:cNvSpPr txBox="1"/>
          <p:nvPr/>
        </p:nvSpPr>
        <p:spPr>
          <a:xfrm>
            <a:off x="6364224" y="2011680"/>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Create and manage hall admin accounts</a:t>
            </a:r>
            <a:endParaRPr lang="en-US" sz="1050" dirty="0"/>
          </a:p>
        </p:txBody>
      </p:sp>
      <p:sp>
        <p:nvSpPr>
          <p:cNvPr id="13" name="Shape 11"/>
          <p:cNvSpPr/>
          <p:nvPr/>
        </p:nvSpPr>
        <p:spPr>
          <a:xfrm>
            <a:off x="8933688" y="1517904"/>
            <a:ext cx="2606040" cy="1133856"/>
          </a:xfrm>
          <a:prstGeom prst="roundRect">
            <a:avLst>
              <a:gd name="adj" fmla="val 7258"/>
            </a:avLst>
          </a:prstGeom>
          <a:solidFill>
            <a:srgbClr val="FFFFFF"/>
          </a:solidFill>
          <a:ln w="9525">
            <a:solidFill>
              <a:srgbClr val="E4BEBA"/>
            </a:solidFill>
            <a:prstDash val="solid"/>
          </a:ln>
        </p:spPr>
      </p:sp>
      <p:sp>
        <p:nvSpPr>
          <p:cNvPr id="14" name="Text 12"/>
          <p:cNvSpPr txBox="1"/>
          <p:nvPr/>
        </p:nvSpPr>
        <p:spPr>
          <a:xfrm>
            <a:off x="9153144" y="1700784"/>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Locations</a:t>
            </a:r>
            <a:endParaRPr lang="en-US" sz="1400" dirty="0"/>
          </a:p>
        </p:txBody>
      </p:sp>
      <p:sp>
        <p:nvSpPr>
          <p:cNvPr id="15" name="Text 13"/>
          <p:cNvSpPr txBox="1"/>
          <p:nvPr/>
        </p:nvSpPr>
        <p:spPr>
          <a:xfrm>
            <a:off x="9153144" y="2011680"/>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Halls, floors and room inventory</a:t>
            </a:r>
            <a:endParaRPr lang="en-US" sz="1050" dirty="0"/>
          </a:p>
        </p:txBody>
      </p:sp>
      <p:sp>
        <p:nvSpPr>
          <p:cNvPr id="16" name="Shape 14"/>
          <p:cNvSpPr/>
          <p:nvPr/>
        </p:nvSpPr>
        <p:spPr>
          <a:xfrm>
            <a:off x="566928" y="2834640"/>
            <a:ext cx="2606040" cy="1133856"/>
          </a:xfrm>
          <a:prstGeom prst="roundRect">
            <a:avLst>
              <a:gd name="adj" fmla="val 7258"/>
            </a:avLst>
          </a:prstGeom>
          <a:solidFill>
            <a:srgbClr val="FCF6F5"/>
          </a:solidFill>
          <a:ln w="9525">
            <a:solidFill>
              <a:srgbClr val="E4BEBA"/>
            </a:solidFill>
            <a:prstDash val="solid"/>
          </a:ln>
        </p:spPr>
      </p:sp>
      <p:sp>
        <p:nvSpPr>
          <p:cNvPr id="17" name="Text 15"/>
          <p:cNvSpPr txBox="1"/>
          <p:nvPr/>
        </p:nvSpPr>
        <p:spPr>
          <a:xfrm>
            <a:off x="786384" y="3017520"/>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Schedule</a:t>
            </a:r>
            <a:endParaRPr lang="en-US" sz="1400" dirty="0"/>
          </a:p>
        </p:txBody>
      </p:sp>
      <p:sp>
        <p:nvSpPr>
          <p:cNvPr id="18" name="Text 16"/>
          <p:cNvSpPr txBox="1"/>
          <p:nvPr/>
        </p:nvSpPr>
        <p:spPr>
          <a:xfrm>
            <a:off x="786384" y="3328416"/>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Book a repair slot against a report</a:t>
            </a:r>
            <a:endParaRPr lang="en-US" sz="1050" dirty="0"/>
          </a:p>
        </p:txBody>
      </p:sp>
      <p:sp>
        <p:nvSpPr>
          <p:cNvPr id="19" name="Shape 17"/>
          <p:cNvSpPr/>
          <p:nvPr/>
        </p:nvSpPr>
        <p:spPr>
          <a:xfrm>
            <a:off x="3355848" y="2834640"/>
            <a:ext cx="2606040" cy="1133856"/>
          </a:xfrm>
          <a:prstGeom prst="roundRect">
            <a:avLst>
              <a:gd name="adj" fmla="val 7258"/>
            </a:avLst>
          </a:prstGeom>
          <a:solidFill>
            <a:srgbClr val="FFFFFF"/>
          </a:solidFill>
          <a:ln w="9525">
            <a:solidFill>
              <a:srgbClr val="E4BEBA"/>
            </a:solidFill>
            <a:prstDash val="solid"/>
          </a:ln>
        </p:spPr>
      </p:sp>
      <p:sp>
        <p:nvSpPr>
          <p:cNvPr id="20" name="Text 18"/>
          <p:cNvSpPr txBox="1"/>
          <p:nvPr/>
        </p:nvSpPr>
        <p:spPr>
          <a:xfrm>
            <a:off x="3575304" y="3017520"/>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News</a:t>
            </a:r>
            <a:endParaRPr lang="en-US" sz="1400" dirty="0"/>
          </a:p>
        </p:txBody>
      </p:sp>
      <p:sp>
        <p:nvSpPr>
          <p:cNvPr id="21" name="Text 19"/>
          <p:cNvSpPr txBox="1"/>
          <p:nvPr/>
        </p:nvSpPr>
        <p:spPr>
          <a:xfrm>
            <a:off x="3575304" y="3328416"/>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Publish hall-wide announcements</a:t>
            </a:r>
            <a:endParaRPr lang="en-US" sz="1050" dirty="0"/>
          </a:p>
        </p:txBody>
      </p:sp>
      <p:sp>
        <p:nvSpPr>
          <p:cNvPr id="22" name="Shape 20"/>
          <p:cNvSpPr/>
          <p:nvPr/>
        </p:nvSpPr>
        <p:spPr>
          <a:xfrm>
            <a:off x="6144768" y="2834640"/>
            <a:ext cx="2606040" cy="1133856"/>
          </a:xfrm>
          <a:prstGeom prst="roundRect">
            <a:avLst>
              <a:gd name="adj" fmla="val 7258"/>
            </a:avLst>
          </a:prstGeom>
          <a:solidFill>
            <a:srgbClr val="FCF6F5"/>
          </a:solidFill>
          <a:ln w="9525">
            <a:solidFill>
              <a:srgbClr val="E4BEBA"/>
            </a:solidFill>
            <a:prstDash val="solid"/>
          </a:ln>
        </p:spPr>
      </p:sp>
      <p:sp>
        <p:nvSpPr>
          <p:cNvPr id="23" name="Text 21"/>
          <p:cNvSpPr txBox="1"/>
          <p:nvPr/>
        </p:nvSpPr>
        <p:spPr>
          <a:xfrm>
            <a:off x="6364224" y="3017520"/>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Settings</a:t>
            </a:r>
            <a:endParaRPr lang="en-US" sz="1400" dirty="0"/>
          </a:p>
        </p:txBody>
      </p:sp>
      <p:sp>
        <p:nvSpPr>
          <p:cNvPr id="24" name="Text 22"/>
          <p:cNvSpPr txBox="1"/>
          <p:nvPr/>
        </p:nvSpPr>
        <p:spPr>
          <a:xfrm>
            <a:off x="6364224" y="3328416"/>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Account and system configuration</a:t>
            </a:r>
            <a:endParaRPr lang="en-US" sz="1050" dirty="0"/>
          </a:p>
        </p:txBody>
      </p:sp>
      <p:sp>
        <p:nvSpPr>
          <p:cNvPr id="25" name="Shape 23"/>
          <p:cNvSpPr/>
          <p:nvPr/>
        </p:nvSpPr>
        <p:spPr>
          <a:xfrm>
            <a:off x="8933688" y="2834640"/>
            <a:ext cx="2606040" cy="1133856"/>
          </a:xfrm>
          <a:prstGeom prst="roundRect">
            <a:avLst>
              <a:gd name="adj" fmla="val 7258"/>
            </a:avLst>
          </a:prstGeom>
          <a:solidFill>
            <a:srgbClr val="FFFFFF"/>
          </a:solidFill>
          <a:ln w="9525">
            <a:solidFill>
              <a:srgbClr val="E4BEBA"/>
            </a:solidFill>
            <a:prstDash val="solid"/>
          </a:ln>
        </p:spPr>
      </p:sp>
      <p:sp>
        <p:nvSpPr>
          <p:cNvPr id="26" name="Text 24"/>
          <p:cNvSpPr txBox="1"/>
          <p:nvPr/>
        </p:nvSpPr>
        <p:spPr>
          <a:xfrm>
            <a:off x="9153144" y="3017520"/>
            <a:ext cx="219456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Login</a:t>
            </a:r>
            <a:endParaRPr lang="en-US" sz="1400" dirty="0"/>
          </a:p>
        </p:txBody>
      </p:sp>
      <p:sp>
        <p:nvSpPr>
          <p:cNvPr id="27" name="Text 25"/>
          <p:cNvSpPr txBox="1"/>
          <p:nvPr/>
        </p:nvSpPr>
        <p:spPr>
          <a:xfrm>
            <a:off x="9153144" y="3328416"/>
            <a:ext cx="2212848" cy="585216"/>
          </a:xfrm>
          <a:prstGeom prst="rect">
            <a:avLst/>
          </a:prstGeom>
          <a:noFill/>
          <a:ln/>
        </p:spPr>
        <p:txBody>
          <a:bodyPr wrap="square" lIns="0" tIns="0" rIns="0" bIns="0" rtlCol="0" anchor="t"/>
          <a:lstStyle/>
          <a:p>
            <a:pPr indent="0" marL="0">
              <a:lnSpc>
                <a:spcPts val="1350"/>
              </a:lnSpc>
              <a:buNone/>
            </a:pPr>
            <a:r>
              <a:rPr lang="en-US" sz="1050" dirty="0">
                <a:solidFill>
                  <a:srgbClr val="6B6360"/>
                </a:solidFill>
                <a:latin typeface="Calibri" pitchFamily="34" charset="0"/>
                <a:ea typeface="Calibri" pitchFamily="34" charset="-122"/>
                <a:cs typeface="Calibri" pitchFamily="34" charset="-120"/>
              </a:rPr>
              <a:t>Session restore and role-based redirect</a:t>
            </a:r>
            <a:endParaRPr lang="en-US" sz="1050" dirty="0"/>
          </a:p>
        </p:txBody>
      </p:sp>
      <p:sp>
        <p:nvSpPr>
          <p:cNvPr id="28" name="Shape 26"/>
          <p:cNvSpPr/>
          <p:nvPr/>
        </p:nvSpPr>
        <p:spPr>
          <a:xfrm>
            <a:off x="566928" y="4315968"/>
            <a:ext cx="11055096" cy="1572768"/>
          </a:xfrm>
          <a:prstGeom prst="roundRect">
            <a:avLst>
              <a:gd name="adj" fmla="val 4651"/>
            </a:avLst>
          </a:prstGeom>
          <a:solidFill>
            <a:srgbClr val="FCF6F5"/>
          </a:solidFill>
          <a:ln w="9525">
            <a:solidFill>
              <a:srgbClr val="E4BEBA"/>
            </a:solidFill>
            <a:prstDash val="solid"/>
          </a:ln>
        </p:spPr>
      </p:sp>
      <p:sp>
        <p:nvSpPr>
          <p:cNvPr id="29" name="Text 27"/>
          <p:cNvSpPr txBox="1"/>
          <p:nvPr/>
        </p:nvSpPr>
        <p:spPr>
          <a:xfrm>
            <a:off x="896112" y="4517136"/>
            <a:ext cx="10332720" cy="292608"/>
          </a:xfrm>
          <a:prstGeom prst="rect">
            <a:avLst/>
          </a:prstGeom>
          <a:noFill/>
          <a:ln/>
        </p:spPr>
        <p:txBody>
          <a:bodyPr wrap="square" lIns="0" tIns="0" rIns="0" bIns="0" rtlCol="0" anchor="ctr"/>
          <a:lstStyle/>
          <a:p>
            <a:pPr indent="0" marL="0">
              <a:buNone/>
            </a:pPr>
            <a:r>
              <a:rPr lang="en-US" sz="1450" b="1" dirty="0">
                <a:solidFill>
                  <a:srgbClr val="1A1C1C"/>
                </a:solidFill>
                <a:latin typeface="Calibri" pitchFamily="34" charset="0"/>
                <a:ea typeface="Calibri" pitchFamily="34" charset="-122"/>
                <a:cs typeface="Calibri" pitchFamily="34" charset="-120"/>
              </a:rPr>
              <a:t>Route guarding reads the role from the database, not the browser</a:t>
            </a:r>
            <a:endParaRPr lang="en-US" sz="1450" dirty="0"/>
          </a:p>
        </p:txBody>
      </p:sp>
      <p:sp>
        <p:nvSpPr>
          <p:cNvPr id="30" name="Text 28"/>
          <p:cNvSpPr txBox="1"/>
          <p:nvPr/>
        </p:nvSpPr>
        <p:spPr>
          <a:xfrm>
            <a:off x="896112" y="4846320"/>
            <a:ext cx="10424160" cy="841248"/>
          </a:xfrm>
          <a:prstGeom prst="rect">
            <a:avLst/>
          </a:prstGeom>
          <a:noFill/>
          <a:ln/>
        </p:spPr>
        <p:txBody>
          <a:bodyPr wrap="square" lIns="0" tIns="0" rIns="0" bIns="0" rtlCol="0" anchor="t"/>
          <a:lstStyle/>
          <a:p>
            <a:pPr indent="0" marL="0">
              <a:lnSpc>
                <a:spcPts val="1700"/>
              </a:lnSpc>
              <a:buNone/>
            </a:pPr>
            <a:r>
              <a:rPr lang="en-US" sz="1250" dirty="0">
                <a:solidFill>
                  <a:srgbClr val="1A1C1C"/>
                </a:solidFill>
                <a:latin typeface="Calibri" pitchFamily="34" charset="0"/>
                <a:ea typeface="Calibri" pitchFamily="34" charset="-122"/>
                <a:cs typeface="Calibri" pitchFamily="34" charset="-120"/>
              </a:rPr>
              <a:t>On every session restore the dashboard re-reads the signed-in account's profile row and derives its role from that. Nothing about access is kept in localStorage, so a role cannot be edited in developer tools to unlock a page — and because the same role drives the Row Level Security policies, a forged route would still return no data.</a:t>
            </a:r>
            <a:endParaRPr lang="en-US" sz="1250" dirty="0"/>
          </a:p>
        </p:txBody>
      </p:sp>
      <p:sp>
        <p:nvSpPr>
          <p:cNvPr id="31" name="Text 29"/>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2" name="Text 30"/>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Role-Based Access Control</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Three roles, each bounded by what the database will return</a:t>
            </a:r>
            <a:endParaRPr lang="en-US" sz="1450" dirty="0"/>
          </a:p>
        </p:txBody>
      </p:sp>
      <p:sp>
        <p:nvSpPr>
          <p:cNvPr id="4" name="Shape 2"/>
          <p:cNvSpPr/>
          <p:nvPr/>
        </p:nvSpPr>
        <p:spPr>
          <a:xfrm>
            <a:off x="566928" y="1481328"/>
            <a:ext cx="3493008" cy="4315968"/>
          </a:xfrm>
          <a:prstGeom prst="roundRect">
            <a:avLst>
              <a:gd name="adj" fmla="val 2356"/>
            </a:avLst>
          </a:prstGeom>
          <a:solidFill>
            <a:srgbClr val="FFFFFF"/>
          </a:solidFill>
          <a:ln w="9525">
            <a:solidFill>
              <a:srgbClr val="E4BEBA"/>
            </a:solidFill>
            <a:prstDash val="solid"/>
          </a:ln>
        </p:spPr>
      </p:sp>
      <p:sp>
        <p:nvSpPr>
          <p:cNvPr id="5" name="Shape 3"/>
          <p:cNvSpPr/>
          <p:nvPr/>
        </p:nvSpPr>
        <p:spPr>
          <a:xfrm>
            <a:off x="841248" y="1737360"/>
            <a:ext cx="1463040" cy="347472"/>
          </a:xfrm>
          <a:prstGeom prst="roundRect">
            <a:avLst>
              <a:gd name="adj" fmla="val 15789"/>
            </a:avLst>
          </a:prstGeom>
          <a:solidFill>
            <a:srgbClr val="AF101A"/>
          </a:solidFill>
          <a:ln w="12700">
            <a:solidFill>
              <a:srgbClr val="AF101A"/>
            </a:solidFill>
            <a:prstDash val="solid"/>
          </a:ln>
        </p:spPr>
      </p:sp>
      <p:sp>
        <p:nvSpPr>
          <p:cNvPr id="6" name="Text 4"/>
          <p:cNvSpPr txBox="1"/>
          <p:nvPr/>
        </p:nvSpPr>
        <p:spPr>
          <a:xfrm>
            <a:off x="841248" y="1737360"/>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Mobile app only</a:t>
            </a:r>
            <a:endParaRPr lang="en-US" sz="1050" dirty="0"/>
          </a:p>
        </p:txBody>
      </p:sp>
      <p:sp>
        <p:nvSpPr>
          <p:cNvPr id="7" name="Text 5"/>
          <p:cNvSpPr txBox="1"/>
          <p:nvPr/>
        </p:nvSpPr>
        <p:spPr>
          <a:xfrm>
            <a:off x="841248" y="2231136"/>
            <a:ext cx="2962656" cy="420624"/>
          </a:xfrm>
          <a:prstGeom prst="rect">
            <a:avLst/>
          </a:prstGeom>
          <a:noFill/>
          <a:ln/>
        </p:spPr>
        <p:txBody>
          <a:bodyPr wrap="square" lIns="0" tIns="0" rIns="0" bIns="0" rtlCol="0" anchor="ctr"/>
          <a:lstStyle/>
          <a:p>
            <a:pPr indent="0" marL="0">
              <a:buNone/>
            </a:pPr>
            <a:r>
              <a:rPr lang="en-US" sz="2300" b="1" dirty="0">
                <a:solidFill>
                  <a:srgbClr val="1A1C1C"/>
                </a:solidFill>
                <a:latin typeface="Cambria" pitchFamily="34" charset="0"/>
                <a:ea typeface="Cambria" pitchFamily="34" charset="-122"/>
                <a:cs typeface="Cambria" pitchFamily="34" charset="-120"/>
              </a:rPr>
              <a:t>Student</a:t>
            </a:r>
            <a:endParaRPr lang="en-US" sz="2300" dirty="0"/>
          </a:p>
        </p:txBody>
      </p:sp>
      <p:sp>
        <p:nvSpPr>
          <p:cNvPr id="8" name="Text 6"/>
          <p:cNvSpPr txBox="1"/>
          <p:nvPr/>
        </p:nvSpPr>
        <p:spPr>
          <a:xfrm>
            <a:off x="841248" y="2743200"/>
            <a:ext cx="2980944" cy="1700784"/>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Files reports for their own room</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Sees only their own reports</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Bound to exactly one hall</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Cannot open the dashboard at all</a:t>
            </a:r>
            <a:endParaRPr lang="en-US" sz="1200" dirty="0"/>
          </a:p>
        </p:txBody>
      </p:sp>
      <p:sp>
        <p:nvSpPr>
          <p:cNvPr id="9" name="Shape 7"/>
          <p:cNvSpPr/>
          <p:nvPr/>
        </p:nvSpPr>
        <p:spPr>
          <a:xfrm>
            <a:off x="841248" y="4498848"/>
            <a:ext cx="2944368" cy="0"/>
          </a:xfrm>
          <a:prstGeom prst="line">
            <a:avLst/>
          </a:prstGeom>
          <a:noFill/>
          <a:ln w="12700">
            <a:solidFill>
              <a:srgbClr val="E4BEBA"/>
            </a:solidFill>
            <a:prstDash val="solid"/>
          </a:ln>
        </p:spPr>
      </p:sp>
      <p:sp>
        <p:nvSpPr>
          <p:cNvPr id="10" name="Text 8"/>
          <p:cNvSpPr txBox="1"/>
          <p:nvPr/>
        </p:nvSpPr>
        <p:spPr>
          <a:xfrm>
            <a:off x="841248" y="4626864"/>
            <a:ext cx="2980944" cy="1005840"/>
          </a:xfrm>
          <a:prstGeom prst="rect">
            <a:avLst/>
          </a:prstGeom>
          <a:noFill/>
          <a:ln/>
        </p:spPr>
        <p:txBody>
          <a:bodyPr wrap="square" lIns="0" tIns="0" rIns="0" bIns="0" rtlCol="0" anchor="t"/>
          <a:lstStyle/>
          <a:p>
            <a:pPr indent="0" marL="0">
              <a:lnSpc>
                <a:spcPts val="1450"/>
              </a:lnSpc>
              <a:buNone/>
            </a:pPr>
            <a:r>
              <a:rPr lang="en-US" sz="1100" i="1" dirty="0">
                <a:solidFill>
                  <a:srgbClr val="6B6360"/>
                </a:solidFill>
                <a:latin typeface="Calibri" pitchFamily="34" charset="0"/>
                <a:ea typeface="Calibri" pitchFamily="34" charset="-122"/>
                <a:cs typeface="Calibri" pitchFamily="34" charset="-120"/>
              </a:rPr>
              <a:t>Enforced by the write-once address on the profile, and by the database stamping every report with it.</a:t>
            </a:r>
            <a:endParaRPr lang="en-US" sz="1100" dirty="0"/>
          </a:p>
        </p:txBody>
      </p:sp>
      <p:sp>
        <p:nvSpPr>
          <p:cNvPr id="11" name="Shape 9"/>
          <p:cNvSpPr/>
          <p:nvPr/>
        </p:nvSpPr>
        <p:spPr>
          <a:xfrm>
            <a:off x="4279392" y="1481328"/>
            <a:ext cx="3493008" cy="4315968"/>
          </a:xfrm>
          <a:prstGeom prst="roundRect">
            <a:avLst>
              <a:gd name="adj" fmla="val 2356"/>
            </a:avLst>
          </a:prstGeom>
          <a:solidFill>
            <a:srgbClr val="FFFFFF"/>
          </a:solidFill>
          <a:ln w="9525">
            <a:solidFill>
              <a:srgbClr val="E4BEBA"/>
            </a:solidFill>
            <a:prstDash val="solid"/>
          </a:ln>
        </p:spPr>
      </p:sp>
      <p:sp>
        <p:nvSpPr>
          <p:cNvPr id="12" name="Shape 10"/>
          <p:cNvSpPr/>
          <p:nvPr/>
        </p:nvSpPr>
        <p:spPr>
          <a:xfrm>
            <a:off x="4553712" y="1737360"/>
            <a:ext cx="1463040" cy="347472"/>
          </a:xfrm>
          <a:prstGeom prst="roundRect">
            <a:avLst>
              <a:gd name="adj" fmla="val 15789"/>
            </a:avLst>
          </a:prstGeom>
          <a:solidFill>
            <a:srgbClr val="006994"/>
          </a:solidFill>
          <a:ln w="12700">
            <a:solidFill>
              <a:srgbClr val="006994"/>
            </a:solidFill>
            <a:prstDash val="solid"/>
          </a:ln>
        </p:spPr>
      </p:sp>
      <p:sp>
        <p:nvSpPr>
          <p:cNvPr id="13" name="Text 11"/>
          <p:cNvSpPr txBox="1"/>
          <p:nvPr/>
        </p:nvSpPr>
        <p:spPr>
          <a:xfrm>
            <a:off x="4553712" y="1737360"/>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One hall</a:t>
            </a:r>
            <a:endParaRPr lang="en-US" sz="1050" dirty="0"/>
          </a:p>
        </p:txBody>
      </p:sp>
      <p:sp>
        <p:nvSpPr>
          <p:cNvPr id="14" name="Text 12"/>
          <p:cNvSpPr txBox="1"/>
          <p:nvPr/>
        </p:nvSpPr>
        <p:spPr>
          <a:xfrm>
            <a:off x="4553712" y="2231136"/>
            <a:ext cx="2962656" cy="420624"/>
          </a:xfrm>
          <a:prstGeom prst="rect">
            <a:avLst/>
          </a:prstGeom>
          <a:noFill/>
          <a:ln/>
        </p:spPr>
        <p:txBody>
          <a:bodyPr wrap="square" lIns="0" tIns="0" rIns="0" bIns="0" rtlCol="0" anchor="ctr"/>
          <a:lstStyle/>
          <a:p>
            <a:pPr indent="0" marL="0">
              <a:buNone/>
            </a:pPr>
            <a:r>
              <a:rPr lang="en-US" sz="2300" b="1" dirty="0">
                <a:solidFill>
                  <a:srgbClr val="1A1C1C"/>
                </a:solidFill>
                <a:latin typeface="Cambria" pitchFamily="34" charset="0"/>
                <a:ea typeface="Cambria" pitchFamily="34" charset="-122"/>
                <a:cs typeface="Cambria" pitchFamily="34" charset="-120"/>
              </a:rPr>
              <a:t>Hall Admin</a:t>
            </a:r>
            <a:endParaRPr lang="en-US" sz="2300" dirty="0"/>
          </a:p>
        </p:txBody>
      </p:sp>
      <p:sp>
        <p:nvSpPr>
          <p:cNvPr id="15" name="Text 13"/>
          <p:cNvSpPr txBox="1"/>
          <p:nvPr/>
        </p:nvSpPr>
        <p:spPr>
          <a:xfrm>
            <a:off x="4553712" y="2743200"/>
            <a:ext cx="2980944" cy="1700784"/>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Sees only their own hall's reports</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Assigns and schedules repairs</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Publishes news for their hall</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Cannot reach another hall's data</a:t>
            </a:r>
            <a:endParaRPr lang="en-US" sz="1200" dirty="0"/>
          </a:p>
        </p:txBody>
      </p:sp>
      <p:sp>
        <p:nvSpPr>
          <p:cNvPr id="16" name="Shape 14"/>
          <p:cNvSpPr/>
          <p:nvPr/>
        </p:nvSpPr>
        <p:spPr>
          <a:xfrm>
            <a:off x="4553712" y="4498848"/>
            <a:ext cx="2944368" cy="0"/>
          </a:xfrm>
          <a:prstGeom prst="line">
            <a:avLst/>
          </a:prstGeom>
          <a:noFill/>
          <a:ln w="12700">
            <a:solidFill>
              <a:srgbClr val="E4BEBA"/>
            </a:solidFill>
            <a:prstDash val="solid"/>
          </a:ln>
        </p:spPr>
      </p:sp>
      <p:sp>
        <p:nvSpPr>
          <p:cNvPr id="17" name="Text 15"/>
          <p:cNvSpPr txBox="1"/>
          <p:nvPr/>
        </p:nvSpPr>
        <p:spPr>
          <a:xfrm>
            <a:off x="4553712" y="4626864"/>
            <a:ext cx="2980944" cy="1005840"/>
          </a:xfrm>
          <a:prstGeom prst="rect">
            <a:avLst/>
          </a:prstGeom>
          <a:noFill/>
          <a:ln/>
        </p:spPr>
        <p:txBody>
          <a:bodyPr wrap="square" lIns="0" tIns="0" rIns="0" bIns="0" rtlCol="0" anchor="t"/>
          <a:lstStyle/>
          <a:p>
            <a:pPr indent="0" marL="0">
              <a:lnSpc>
                <a:spcPts val="1450"/>
              </a:lnSpc>
              <a:buNone/>
            </a:pPr>
            <a:r>
              <a:rPr lang="en-US" sz="1100" i="1" dirty="0">
                <a:solidFill>
                  <a:srgbClr val="6B6360"/>
                </a:solidFill>
                <a:latin typeface="Calibri" pitchFamily="34" charset="0"/>
                <a:ea typeface="Calibri" pitchFamily="34" charset="-122"/>
                <a:cs typeface="Calibri" pitchFamily="34" charset="-120"/>
              </a:rPr>
              <a:t>Enforced by Row Level Security policies that filter reports and profiles by the admin's own hall.</a:t>
            </a:r>
            <a:endParaRPr lang="en-US" sz="1100" dirty="0"/>
          </a:p>
        </p:txBody>
      </p:sp>
      <p:sp>
        <p:nvSpPr>
          <p:cNvPr id="18" name="Shape 16"/>
          <p:cNvSpPr/>
          <p:nvPr/>
        </p:nvSpPr>
        <p:spPr>
          <a:xfrm>
            <a:off x="7991856" y="1481328"/>
            <a:ext cx="3493008" cy="4315968"/>
          </a:xfrm>
          <a:prstGeom prst="roundRect">
            <a:avLst>
              <a:gd name="adj" fmla="val 2356"/>
            </a:avLst>
          </a:prstGeom>
          <a:solidFill>
            <a:srgbClr val="FCF6F5"/>
          </a:solidFill>
          <a:ln w="9525">
            <a:solidFill>
              <a:srgbClr val="E4BEBA"/>
            </a:solidFill>
            <a:prstDash val="solid"/>
          </a:ln>
        </p:spPr>
      </p:sp>
      <p:sp>
        <p:nvSpPr>
          <p:cNvPr id="19" name="Shape 17"/>
          <p:cNvSpPr/>
          <p:nvPr/>
        </p:nvSpPr>
        <p:spPr>
          <a:xfrm>
            <a:off x="8266176" y="1737360"/>
            <a:ext cx="1463040" cy="347472"/>
          </a:xfrm>
          <a:prstGeom prst="roundRect">
            <a:avLst>
              <a:gd name="adj" fmla="val 15789"/>
            </a:avLst>
          </a:prstGeom>
          <a:solidFill>
            <a:srgbClr val="1B5E20"/>
          </a:solidFill>
          <a:ln w="12700">
            <a:solidFill>
              <a:srgbClr val="1B5E20"/>
            </a:solidFill>
            <a:prstDash val="solid"/>
          </a:ln>
        </p:spPr>
      </p:sp>
      <p:sp>
        <p:nvSpPr>
          <p:cNvPr id="20" name="Text 18"/>
          <p:cNvSpPr txBox="1"/>
          <p:nvPr/>
        </p:nvSpPr>
        <p:spPr>
          <a:xfrm>
            <a:off x="8266176" y="1737360"/>
            <a:ext cx="146304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All six halls</a:t>
            </a:r>
            <a:endParaRPr lang="en-US" sz="1050" dirty="0"/>
          </a:p>
        </p:txBody>
      </p:sp>
      <p:sp>
        <p:nvSpPr>
          <p:cNvPr id="21" name="Text 19"/>
          <p:cNvSpPr txBox="1"/>
          <p:nvPr/>
        </p:nvSpPr>
        <p:spPr>
          <a:xfrm>
            <a:off x="8266176" y="2231136"/>
            <a:ext cx="2962656" cy="420624"/>
          </a:xfrm>
          <a:prstGeom prst="rect">
            <a:avLst/>
          </a:prstGeom>
          <a:noFill/>
          <a:ln/>
        </p:spPr>
        <p:txBody>
          <a:bodyPr wrap="square" lIns="0" tIns="0" rIns="0" bIns="0" rtlCol="0" anchor="ctr"/>
          <a:lstStyle/>
          <a:p>
            <a:pPr indent="0" marL="0">
              <a:buNone/>
            </a:pPr>
            <a:r>
              <a:rPr lang="en-US" sz="2300" b="1" dirty="0">
                <a:solidFill>
                  <a:srgbClr val="1A1C1C"/>
                </a:solidFill>
                <a:latin typeface="Cambria" pitchFamily="34" charset="0"/>
                <a:ea typeface="Cambria" pitchFamily="34" charset="-122"/>
                <a:cs typeface="Cambria" pitchFamily="34" charset="-120"/>
              </a:rPr>
              <a:t>Super Admin</a:t>
            </a:r>
            <a:endParaRPr lang="en-US" sz="2300" dirty="0"/>
          </a:p>
        </p:txBody>
      </p:sp>
      <p:sp>
        <p:nvSpPr>
          <p:cNvPr id="22" name="Text 20"/>
          <p:cNvSpPr txBox="1"/>
          <p:nvPr/>
        </p:nvSpPr>
        <p:spPr>
          <a:xfrm>
            <a:off x="8266176" y="2743200"/>
            <a:ext cx="2980944" cy="1700784"/>
          </a:xfrm>
          <a:prstGeom prst="rect">
            <a:avLst/>
          </a:prstGeom>
          <a:noFill/>
          <a:ln/>
        </p:spPr>
        <p:txBody>
          <a:bodyPr wrap="square" lIns="0" tIns="0" rIns="0" bIns="0" rtlCol="0" anchor="t"/>
          <a:lstStyle/>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Full visibility across every hall</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Creates and removes hall admins</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Manages halls, floors and rooms</a:t>
            </a:r>
            <a:endParaRPr lang="en-US" sz="1200" dirty="0"/>
          </a:p>
          <a:p>
            <a:pPr marL="342900" indent="-342900">
              <a:lnSpc>
                <a:spcPts val="1600"/>
              </a:lnSpc>
              <a:spcAft>
                <a:spcPts val="700"/>
              </a:spcAft>
              <a:buSzPct val="100000"/>
              <a:buChar char="•"/>
            </a:pPr>
            <a:r>
              <a:rPr lang="en-US" sz="1200" dirty="0">
                <a:solidFill>
                  <a:srgbClr val="1A1C1C"/>
                </a:solidFill>
                <a:latin typeface="Calibri" pitchFamily="34" charset="0"/>
                <a:ea typeface="Calibri" pitchFamily="34" charset="-122"/>
                <a:cs typeface="Calibri" pitchFamily="34" charset="-120"/>
              </a:rPr>
              <a:t>Exactly one such account may exist</a:t>
            </a:r>
            <a:endParaRPr lang="en-US" sz="1200" dirty="0"/>
          </a:p>
        </p:txBody>
      </p:sp>
      <p:sp>
        <p:nvSpPr>
          <p:cNvPr id="23" name="Shape 21"/>
          <p:cNvSpPr/>
          <p:nvPr/>
        </p:nvSpPr>
        <p:spPr>
          <a:xfrm>
            <a:off x="8266176" y="4498848"/>
            <a:ext cx="2944368" cy="0"/>
          </a:xfrm>
          <a:prstGeom prst="line">
            <a:avLst/>
          </a:prstGeom>
          <a:noFill/>
          <a:ln w="12700">
            <a:solidFill>
              <a:srgbClr val="E4BEBA"/>
            </a:solidFill>
            <a:prstDash val="solid"/>
          </a:ln>
        </p:spPr>
      </p:sp>
      <p:sp>
        <p:nvSpPr>
          <p:cNvPr id="24" name="Text 22"/>
          <p:cNvSpPr txBox="1"/>
          <p:nvPr/>
        </p:nvSpPr>
        <p:spPr>
          <a:xfrm>
            <a:off x="8266176" y="4626864"/>
            <a:ext cx="2980944" cy="1005840"/>
          </a:xfrm>
          <a:prstGeom prst="rect">
            <a:avLst/>
          </a:prstGeom>
          <a:noFill/>
          <a:ln/>
        </p:spPr>
        <p:txBody>
          <a:bodyPr wrap="square" lIns="0" tIns="0" rIns="0" bIns="0" rtlCol="0" anchor="t"/>
          <a:lstStyle/>
          <a:p>
            <a:pPr indent="0" marL="0">
              <a:lnSpc>
                <a:spcPts val="1450"/>
              </a:lnSpc>
              <a:buNone/>
            </a:pPr>
            <a:r>
              <a:rPr lang="en-US" sz="1100" i="1" dirty="0">
                <a:solidFill>
                  <a:srgbClr val="6B6360"/>
                </a:solidFill>
                <a:latin typeface="Calibri" pitchFamily="34" charset="0"/>
                <a:ea typeface="Calibri" pitchFamily="34" charset="-122"/>
                <a:cs typeface="Calibri" pitchFamily="34" charset="-120"/>
              </a:rPr>
              <a:t>Enforced by a unique index that permits only one all-hall account to exist at any time.</a:t>
            </a:r>
            <a:endParaRPr lang="en-US" sz="1100" dirty="0"/>
          </a:p>
        </p:txBody>
      </p:sp>
      <p:sp>
        <p:nvSpPr>
          <p:cNvPr id="25" name="Text 23"/>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26" name="Text 24"/>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Data Model</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PostgreSQL 17 — the core relations behind both clients</a:t>
            </a:r>
            <a:endParaRPr lang="en-US" sz="1450" dirty="0"/>
          </a:p>
        </p:txBody>
      </p:sp>
      <p:sp>
        <p:nvSpPr>
          <p:cNvPr id="4" name="Shape 2"/>
          <p:cNvSpPr/>
          <p:nvPr/>
        </p:nvSpPr>
        <p:spPr>
          <a:xfrm>
            <a:off x="566928" y="1517904"/>
            <a:ext cx="5394960" cy="1115568"/>
          </a:xfrm>
          <a:prstGeom prst="roundRect">
            <a:avLst>
              <a:gd name="adj" fmla="val 7377"/>
            </a:avLst>
          </a:prstGeom>
          <a:solidFill>
            <a:srgbClr val="FFFFFF"/>
          </a:solidFill>
          <a:ln w="9525">
            <a:solidFill>
              <a:srgbClr val="E4BEBA"/>
            </a:solidFill>
            <a:prstDash val="solid"/>
          </a:ln>
        </p:spPr>
      </p:sp>
      <p:sp>
        <p:nvSpPr>
          <p:cNvPr id="5" name="Shape 3"/>
          <p:cNvSpPr/>
          <p:nvPr/>
        </p:nvSpPr>
        <p:spPr>
          <a:xfrm>
            <a:off x="786384" y="1865376"/>
            <a:ext cx="1463040" cy="402336"/>
          </a:xfrm>
          <a:prstGeom prst="roundRect">
            <a:avLst>
              <a:gd name="adj" fmla="val 13636"/>
            </a:avLst>
          </a:prstGeom>
          <a:solidFill>
            <a:srgbClr val="AF101A"/>
          </a:solidFill>
          <a:ln w="12700">
            <a:solidFill>
              <a:srgbClr val="AF101A"/>
            </a:solidFill>
            <a:prstDash val="solid"/>
          </a:ln>
        </p:spPr>
      </p:sp>
      <p:sp>
        <p:nvSpPr>
          <p:cNvPr id="6" name="Text 4"/>
          <p:cNvSpPr txBox="1"/>
          <p:nvPr/>
        </p:nvSpPr>
        <p:spPr>
          <a:xfrm>
            <a:off x="786384" y="1865376"/>
            <a:ext cx="14630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halls</a:t>
            </a:r>
            <a:endParaRPr lang="en-US" sz="1200" dirty="0"/>
          </a:p>
        </p:txBody>
      </p:sp>
      <p:sp>
        <p:nvSpPr>
          <p:cNvPr id="7" name="Text 5"/>
          <p:cNvSpPr txBox="1"/>
          <p:nvPr/>
        </p:nvSpPr>
        <p:spPr>
          <a:xfrm>
            <a:off x="2395728" y="1755648"/>
            <a:ext cx="3401568" cy="640080"/>
          </a:xfrm>
          <a:prstGeom prst="rect">
            <a:avLst/>
          </a:prstGeom>
          <a:noFill/>
          <a:ln/>
        </p:spPr>
        <p:txBody>
          <a:bodyPr wrap="square" lIns="0" tIns="0" rIns="0" bIns="0" rtlCol="0" anchor="ctr"/>
          <a:lstStyle/>
          <a:p>
            <a:pPr indent="0" marL="0">
              <a:lnSpc>
                <a:spcPts val="1500"/>
              </a:lnSpc>
              <a:buNone/>
            </a:pPr>
            <a:r>
              <a:rPr lang="en-US" sz="1150" dirty="0">
                <a:solidFill>
                  <a:srgbClr val="1A1C1C"/>
                </a:solidFill>
                <a:latin typeface="Calibri" pitchFamily="34" charset="0"/>
                <a:ea typeface="Calibri" pitchFamily="34" charset="-122"/>
                <a:cs typeface="Calibri" pitchFamily="34" charset="-120"/>
              </a:rPr>
              <a:t>Six residential halls, each with a floor and room count</a:t>
            </a:r>
            <a:endParaRPr lang="en-US" sz="1150" dirty="0"/>
          </a:p>
        </p:txBody>
      </p:sp>
      <p:sp>
        <p:nvSpPr>
          <p:cNvPr id="8" name="Shape 6"/>
          <p:cNvSpPr/>
          <p:nvPr/>
        </p:nvSpPr>
        <p:spPr>
          <a:xfrm>
            <a:off x="6181344" y="1517904"/>
            <a:ext cx="5394960" cy="1115568"/>
          </a:xfrm>
          <a:prstGeom prst="roundRect">
            <a:avLst>
              <a:gd name="adj" fmla="val 7377"/>
            </a:avLst>
          </a:prstGeom>
          <a:solidFill>
            <a:srgbClr val="FFFFFF"/>
          </a:solidFill>
          <a:ln w="9525">
            <a:solidFill>
              <a:srgbClr val="E4BEBA"/>
            </a:solidFill>
            <a:prstDash val="solid"/>
          </a:ln>
        </p:spPr>
      </p:sp>
      <p:sp>
        <p:nvSpPr>
          <p:cNvPr id="9" name="Shape 7"/>
          <p:cNvSpPr/>
          <p:nvPr/>
        </p:nvSpPr>
        <p:spPr>
          <a:xfrm>
            <a:off x="6400800" y="1865376"/>
            <a:ext cx="1463040" cy="402336"/>
          </a:xfrm>
          <a:prstGeom prst="roundRect">
            <a:avLst>
              <a:gd name="adj" fmla="val 13636"/>
            </a:avLst>
          </a:prstGeom>
          <a:solidFill>
            <a:srgbClr val="AF101A"/>
          </a:solidFill>
          <a:ln w="12700">
            <a:solidFill>
              <a:srgbClr val="AF101A"/>
            </a:solidFill>
            <a:prstDash val="solid"/>
          </a:ln>
        </p:spPr>
      </p:sp>
      <p:sp>
        <p:nvSpPr>
          <p:cNvPr id="10" name="Text 8"/>
          <p:cNvSpPr txBox="1"/>
          <p:nvPr/>
        </p:nvSpPr>
        <p:spPr>
          <a:xfrm>
            <a:off x="6400800" y="1865376"/>
            <a:ext cx="14630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profiles</a:t>
            </a:r>
            <a:endParaRPr lang="en-US" sz="1200" dirty="0"/>
          </a:p>
        </p:txBody>
      </p:sp>
      <p:sp>
        <p:nvSpPr>
          <p:cNvPr id="11" name="Text 9"/>
          <p:cNvSpPr txBox="1"/>
          <p:nvPr/>
        </p:nvSpPr>
        <p:spPr>
          <a:xfrm>
            <a:off x="8010144" y="1755648"/>
            <a:ext cx="3401568" cy="640080"/>
          </a:xfrm>
          <a:prstGeom prst="rect">
            <a:avLst/>
          </a:prstGeom>
          <a:noFill/>
          <a:ln/>
        </p:spPr>
        <p:txBody>
          <a:bodyPr wrap="square" lIns="0" tIns="0" rIns="0" bIns="0" rtlCol="0" anchor="ctr"/>
          <a:lstStyle/>
          <a:p>
            <a:pPr indent="0" marL="0">
              <a:lnSpc>
                <a:spcPts val="1500"/>
              </a:lnSpc>
              <a:buNone/>
            </a:pPr>
            <a:r>
              <a:rPr lang="en-US" sz="1150" dirty="0">
                <a:solidFill>
                  <a:srgbClr val="1A1C1C"/>
                </a:solidFill>
                <a:latin typeface="Calibri" pitchFamily="34" charset="0"/>
                <a:ea typeface="Calibri" pitchFamily="34" charset="-122"/>
                <a:cs typeface="Calibri" pitchFamily="34" charset="-120"/>
              </a:rPr>
              <a:t>One row per account: role, hall, floor, room, notification address</a:t>
            </a:r>
            <a:endParaRPr lang="en-US" sz="1150" dirty="0"/>
          </a:p>
        </p:txBody>
      </p:sp>
      <p:sp>
        <p:nvSpPr>
          <p:cNvPr id="12" name="Shape 10"/>
          <p:cNvSpPr/>
          <p:nvPr/>
        </p:nvSpPr>
        <p:spPr>
          <a:xfrm>
            <a:off x="566928" y="2816352"/>
            <a:ext cx="5394960" cy="1115568"/>
          </a:xfrm>
          <a:prstGeom prst="roundRect">
            <a:avLst>
              <a:gd name="adj" fmla="val 7377"/>
            </a:avLst>
          </a:prstGeom>
          <a:solidFill>
            <a:srgbClr val="FFFFFF"/>
          </a:solidFill>
          <a:ln w="9525">
            <a:solidFill>
              <a:srgbClr val="E4BEBA"/>
            </a:solidFill>
            <a:prstDash val="solid"/>
          </a:ln>
        </p:spPr>
      </p:sp>
      <p:sp>
        <p:nvSpPr>
          <p:cNvPr id="13" name="Shape 11"/>
          <p:cNvSpPr/>
          <p:nvPr/>
        </p:nvSpPr>
        <p:spPr>
          <a:xfrm>
            <a:off x="786384" y="3163824"/>
            <a:ext cx="1463040" cy="402336"/>
          </a:xfrm>
          <a:prstGeom prst="roundRect">
            <a:avLst>
              <a:gd name="adj" fmla="val 13636"/>
            </a:avLst>
          </a:prstGeom>
          <a:solidFill>
            <a:srgbClr val="006994"/>
          </a:solidFill>
          <a:ln w="12700">
            <a:solidFill>
              <a:srgbClr val="006994"/>
            </a:solidFill>
            <a:prstDash val="solid"/>
          </a:ln>
        </p:spPr>
      </p:sp>
      <p:sp>
        <p:nvSpPr>
          <p:cNvPr id="14" name="Text 12"/>
          <p:cNvSpPr txBox="1"/>
          <p:nvPr/>
        </p:nvSpPr>
        <p:spPr>
          <a:xfrm>
            <a:off x="786384" y="3163824"/>
            <a:ext cx="14630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reports</a:t>
            </a:r>
            <a:endParaRPr lang="en-US" sz="1200" dirty="0"/>
          </a:p>
        </p:txBody>
      </p:sp>
      <p:sp>
        <p:nvSpPr>
          <p:cNvPr id="15" name="Text 13"/>
          <p:cNvSpPr txBox="1"/>
          <p:nvPr/>
        </p:nvSpPr>
        <p:spPr>
          <a:xfrm>
            <a:off x="2395728" y="3054096"/>
            <a:ext cx="3401568" cy="640080"/>
          </a:xfrm>
          <a:prstGeom prst="rect">
            <a:avLst/>
          </a:prstGeom>
          <a:noFill/>
          <a:ln/>
        </p:spPr>
        <p:txBody>
          <a:bodyPr wrap="square" lIns="0" tIns="0" rIns="0" bIns="0" rtlCol="0" anchor="ctr"/>
          <a:lstStyle/>
          <a:p>
            <a:pPr indent="0" marL="0">
              <a:lnSpc>
                <a:spcPts val="1500"/>
              </a:lnSpc>
              <a:buNone/>
            </a:pPr>
            <a:r>
              <a:rPr lang="en-US" sz="1150" dirty="0">
                <a:solidFill>
                  <a:srgbClr val="1A1C1C"/>
                </a:solidFill>
                <a:latin typeface="Calibri" pitchFamily="34" charset="0"/>
                <a:ea typeface="Calibri" pitchFamily="34" charset="-122"/>
                <a:cs typeface="Calibri" pitchFamily="34" charset="-120"/>
              </a:rPr>
              <a:t>The maintenance request — trade, fault, priority, status, media, assignment</a:t>
            </a:r>
            <a:endParaRPr lang="en-US" sz="1150" dirty="0"/>
          </a:p>
        </p:txBody>
      </p:sp>
      <p:sp>
        <p:nvSpPr>
          <p:cNvPr id="16" name="Shape 14"/>
          <p:cNvSpPr/>
          <p:nvPr/>
        </p:nvSpPr>
        <p:spPr>
          <a:xfrm>
            <a:off x="6181344" y="2816352"/>
            <a:ext cx="5394960" cy="1115568"/>
          </a:xfrm>
          <a:prstGeom prst="roundRect">
            <a:avLst>
              <a:gd name="adj" fmla="val 7377"/>
            </a:avLst>
          </a:prstGeom>
          <a:solidFill>
            <a:srgbClr val="FFFFFF"/>
          </a:solidFill>
          <a:ln w="9525">
            <a:solidFill>
              <a:srgbClr val="E4BEBA"/>
            </a:solidFill>
            <a:prstDash val="solid"/>
          </a:ln>
        </p:spPr>
      </p:sp>
      <p:sp>
        <p:nvSpPr>
          <p:cNvPr id="17" name="Shape 15"/>
          <p:cNvSpPr/>
          <p:nvPr/>
        </p:nvSpPr>
        <p:spPr>
          <a:xfrm>
            <a:off x="6400800" y="3163824"/>
            <a:ext cx="1463040" cy="402336"/>
          </a:xfrm>
          <a:prstGeom prst="roundRect">
            <a:avLst>
              <a:gd name="adj" fmla="val 13636"/>
            </a:avLst>
          </a:prstGeom>
          <a:solidFill>
            <a:srgbClr val="006994"/>
          </a:solidFill>
          <a:ln w="12700">
            <a:solidFill>
              <a:srgbClr val="006994"/>
            </a:solidFill>
            <a:prstDash val="solid"/>
          </a:ln>
        </p:spPr>
      </p:sp>
      <p:sp>
        <p:nvSpPr>
          <p:cNvPr id="18" name="Text 16"/>
          <p:cNvSpPr txBox="1"/>
          <p:nvPr/>
        </p:nvSpPr>
        <p:spPr>
          <a:xfrm>
            <a:off x="6400800" y="3163824"/>
            <a:ext cx="14630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appointments</a:t>
            </a:r>
            <a:endParaRPr lang="en-US" sz="1200" dirty="0"/>
          </a:p>
        </p:txBody>
      </p:sp>
      <p:sp>
        <p:nvSpPr>
          <p:cNvPr id="19" name="Text 17"/>
          <p:cNvSpPr txBox="1"/>
          <p:nvPr/>
        </p:nvSpPr>
        <p:spPr>
          <a:xfrm>
            <a:off x="8010144" y="3054096"/>
            <a:ext cx="3401568" cy="640080"/>
          </a:xfrm>
          <a:prstGeom prst="rect">
            <a:avLst/>
          </a:prstGeom>
          <a:noFill/>
          <a:ln/>
        </p:spPr>
        <p:txBody>
          <a:bodyPr wrap="square" lIns="0" tIns="0" rIns="0" bIns="0" rtlCol="0" anchor="ctr"/>
          <a:lstStyle/>
          <a:p>
            <a:pPr indent="0" marL="0">
              <a:lnSpc>
                <a:spcPts val="1500"/>
              </a:lnSpc>
              <a:buNone/>
            </a:pPr>
            <a:r>
              <a:rPr lang="en-US" sz="1150" dirty="0">
                <a:solidFill>
                  <a:srgbClr val="1A1C1C"/>
                </a:solidFill>
                <a:latin typeface="Calibri" pitchFamily="34" charset="0"/>
                <a:ea typeface="Calibri" pitchFamily="34" charset="-122"/>
                <a:cs typeface="Calibri" pitchFamily="34" charset="-120"/>
              </a:rPr>
              <a:t>A booked repair slot linked to a report</a:t>
            </a:r>
            <a:endParaRPr lang="en-US" sz="1150" dirty="0"/>
          </a:p>
        </p:txBody>
      </p:sp>
      <p:sp>
        <p:nvSpPr>
          <p:cNvPr id="20" name="Shape 18"/>
          <p:cNvSpPr/>
          <p:nvPr/>
        </p:nvSpPr>
        <p:spPr>
          <a:xfrm>
            <a:off x="566928" y="4114800"/>
            <a:ext cx="5394960" cy="1115568"/>
          </a:xfrm>
          <a:prstGeom prst="roundRect">
            <a:avLst>
              <a:gd name="adj" fmla="val 7377"/>
            </a:avLst>
          </a:prstGeom>
          <a:solidFill>
            <a:srgbClr val="FFFFFF"/>
          </a:solidFill>
          <a:ln w="9525">
            <a:solidFill>
              <a:srgbClr val="E4BEBA"/>
            </a:solidFill>
            <a:prstDash val="solid"/>
          </a:ln>
        </p:spPr>
      </p:sp>
      <p:sp>
        <p:nvSpPr>
          <p:cNvPr id="21" name="Shape 19"/>
          <p:cNvSpPr/>
          <p:nvPr/>
        </p:nvSpPr>
        <p:spPr>
          <a:xfrm>
            <a:off x="786384" y="4462272"/>
            <a:ext cx="1463040" cy="402336"/>
          </a:xfrm>
          <a:prstGeom prst="roundRect">
            <a:avLst>
              <a:gd name="adj" fmla="val 13636"/>
            </a:avLst>
          </a:prstGeom>
          <a:solidFill>
            <a:srgbClr val="1B5E20"/>
          </a:solidFill>
          <a:ln w="12700">
            <a:solidFill>
              <a:srgbClr val="1B5E20"/>
            </a:solidFill>
            <a:prstDash val="solid"/>
          </a:ln>
        </p:spPr>
      </p:sp>
      <p:sp>
        <p:nvSpPr>
          <p:cNvPr id="22" name="Text 20"/>
          <p:cNvSpPr txBox="1"/>
          <p:nvPr/>
        </p:nvSpPr>
        <p:spPr>
          <a:xfrm>
            <a:off x="786384" y="4462272"/>
            <a:ext cx="14630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notifications</a:t>
            </a:r>
            <a:endParaRPr lang="en-US" sz="1200" dirty="0"/>
          </a:p>
        </p:txBody>
      </p:sp>
      <p:sp>
        <p:nvSpPr>
          <p:cNvPr id="23" name="Text 21"/>
          <p:cNvSpPr txBox="1"/>
          <p:nvPr/>
        </p:nvSpPr>
        <p:spPr>
          <a:xfrm>
            <a:off x="2395728" y="4352544"/>
            <a:ext cx="3401568" cy="640080"/>
          </a:xfrm>
          <a:prstGeom prst="rect">
            <a:avLst/>
          </a:prstGeom>
          <a:noFill/>
          <a:ln/>
        </p:spPr>
        <p:txBody>
          <a:bodyPr wrap="square" lIns="0" tIns="0" rIns="0" bIns="0" rtlCol="0" anchor="ctr"/>
          <a:lstStyle/>
          <a:p>
            <a:pPr indent="0" marL="0">
              <a:lnSpc>
                <a:spcPts val="1500"/>
              </a:lnSpc>
              <a:buNone/>
            </a:pPr>
            <a:r>
              <a:rPr lang="en-US" sz="1150" dirty="0">
                <a:solidFill>
                  <a:srgbClr val="1A1C1C"/>
                </a:solidFill>
                <a:latin typeface="Calibri" pitchFamily="34" charset="0"/>
                <a:ea typeface="Calibri" pitchFamily="34" charset="-122"/>
                <a:cs typeface="Calibri" pitchFamily="34" charset="-120"/>
              </a:rPr>
              <a:t>In-app alerts for the bell icon, one row per recipient</a:t>
            </a:r>
            <a:endParaRPr lang="en-US" sz="1150" dirty="0"/>
          </a:p>
        </p:txBody>
      </p:sp>
      <p:sp>
        <p:nvSpPr>
          <p:cNvPr id="24" name="Shape 22"/>
          <p:cNvSpPr/>
          <p:nvPr/>
        </p:nvSpPr>
        <p:spPr>
          <a:xfrm>
            <a:off x="6181344" y="4114800"/>
            <a:ext cx="5394960" cy="1115568"/>
          </a:xfrm>
          <a:prstGeom prst="roundRect">
            <a:avLst>
              <a:gd name="adj" fmla="val 7377"/>
            </a:avLst>
          </a:prstGeom>
          <a:solidFill>
            <a:srgbClr val="FFFFFF"/>
          </a:solidFill>
          <a:ln w="9525">
            <a:solidFill>
              <a:srgbClr val="E4BEBA"/>
            </a:solidFill>
            <a:prstDash val="solid"/>
          </a:ln>
        </p:spPr>
      </p:sp>
      <p:sp>
        <p:nvSpPr>
          <p:cNvPr id="25" name="Shape 23"/>
          <p:cNvSpPr/>
          <p:nvPr/>
        </p:nvSpPr>
        <p:spPr>
          <a:xfrm>
            <a:off x="6400800" y="4462272"/>
            <a:ext cx="1463040" cy="402336"/>
          </a:xfrm>
          <a:prstGeom prst="roundRect">
            <a:avLst>
              <a:gd name="adj" fmla="val 13636"/>
            </a:avLst>
          </a:prstGeom>
          <a:solidFill>
            <a:srgbClr val="1B5E20"/>
          </a:solidFill>
          <a:ln w="12700">
            <a:solidFill>
              <a:srgbClr val="1B5E20"/>
            </a:solidFill>
            <a:prstDash val="solid"/>
          </a:ln>
        </p:spPr>
      </p:sp>
      <p:sp>
        <p:nvSpPr>
          <p:cNvPr id="26" name="Text 24"/>
          <p:cNvSpPr txBox="1"/>
          <p:nvPr/>
        </p:nvSpPr>
        <p:spPr>
          <a:xfrm>
            <a:off x="6400800" y="4462272"/>
            <a:ext cx="146304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news</a:t>
            </a:r>
            <a:endParaRPr lang="en-US" sz="1200" dirty="0"/>
          </a:p>
        </p:txBody>
      </p:sp>
      <p:sp>
        <p:nvSpPr>
          <p:cNvPr id="27" name="Text 25"/>
          <p:cNvSpPr txBox="1"/>
          <p:nvPr/>
        </p:nvSpPr>
        <p:spPr>
          <a:xfrm>
            <a:off x="8010144" y="4352544"/>
            <a:ext cx="3401568" cy="640080"/>
          </a:xfrm>
          <a:prstGeom prst="rect">
            <a:avLst/>
          </a:prstGeom>
          <a:noFill/>
          <a:ln/>
        </p:spPr>
        <p:txBody>
          <a:bodyPr wrap="square" lIns="0" tIns="0" rIns="0" bIns="0" rtlCol="0" anchor="ctr"/>
          <a:lstStyle/>
          <a:p>
            <a:pPr indent="0" marL="0">
              <a:lnSpc>
                <a:spcPts val="1500"/>
              </a:lnSpc>
              <a:buNone/>
            </a:pPr>
            <a:r>
              <a:rPr lang="en-US" sz="1150" dirty="0">
                <a:solidFill>
                  <a:srgbClr val="1A1C1C"/>
                </a:solidFill>
                <a:latin typeface="Calibri" pitchFamily="34" charset="0"/>
                <a:ea typeface="Calibri" pitchFamily="34" charset="-122"/>
                <a:cs typeface="Calibri" pitchFamily="34" charset="-120"/>
              </a:rPr>
              <a:t>Hall-wide announcements published by admins</a:t>
            </a:r>
            <a:endParaRPr lang="en-US" sz="1150" dirty="0"/>
          </a:p>
        </p:txBody>
      </p:sp>
      <p:sp>
        <p:nvSpPr>
          <p:cNvPr id="28" name="Text 26"/>
          <p:cNvSpPr txBox="1"/>
          <p:nvPr/>
        </p:nvSpPr>
        <p:spPr>
          <a:xfrm>
            <a:off x="566928" y="5614416"/>
            <a:ext cx="11055096" cy="548640"/>
          </a:xfrm>
          <a:prstGeom prst="rect">
            <a:avLst/>
          </a:prstGeom>
          <a:noFill/>
          <a:ln/>
        </p:spPr>
        <p:txBody>
          <a:bodyPr wrap="square" lIns="0" tIns="0" rIns="0" bIns="0" rtlCol="0" anchor="t"/>
          <a:lstStyle/>
          <a:p>
            <a:pPr indent="0" marL="0">
              <a:lnSpc>
                <a:spcPts val="1900"/>
              </a:lnSpc>
              <a:buNone/>
            </a:pPr>
            <a:r>
              <a:rPr lang="en-US" sz="1300" i="1" dirty="0">
                <a:solidFill>
                  <a:srgbClr val="1A1C1C"/>
                </a:solidFill>
                <a:latin typeface="Calibri" pitchFamily="34" charset="0"/>
                <a:ea typeface="Calibri" pitchFamily="34" charset="-122"/>
                <a:cs typeface="Calibri" pitchFamily="34" charset="-120"/>
              </a:rPr>
              <a:t>A report's hall, floor and room are written by the database from the student's registered address and cannot be edited afterwards, so the record of where a fault occurred is fixed at the moment of filing.</a:t>
            </a:r>
            <a:endParaRPr lang="en-US" sz="1300" dirty="0"/>
          </a:p>
        </p:txBody>
      </p:sp>
      <p:sp>
        <p:nvSpPr>
          <p:cNvPr id="29" name="Text 27"/>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30" name="Text 28"/>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C1C"/>
        </a:solidFill>
      </p:bgPr>
    </p:bg>
    <p:spTree>
      <p:nvGrpSpPr>
        <p:cNvPr id="1" name=""/>
        <p:cNvGrpSpPr/>
        <p:nvPr/>
      </p:nvGrpSpPr>
      <p:grpSpPr>
        <a:xfrm>
          <a:off x="0" y="0"/>
          <a:ext cx="0" cy="0"/>
          <a:chOff x="0" y="0"/>
          <a:chExt cx="0" cy="0"/>
        </a:xfrm>
      </p:grpSpPr>
      <p:sp>
        <p:nvSpPr>
          <p:cNvPr id="2" name="Text 0"/>
          <p:cNvSpPr txBox="1"/>
          <p:nvPr/>
        </p:nvSpPr>
        <p:spPr>
          <a:xfrm>
            <a:off x="566928" y="457200"/>
            <a:ext cx="11055096" cy="566928"/>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Security Model</a:t>
            </a:r>
            <a:endParaRPr lang="en-US" sz="3400" dirty="0"/>
          </a:p>
        </p:txBody>
      </p:sp>
      <p:sp>
        <p:nvSpPr>
          <p:cNvPr id="3" name="Text 1"/>
          <p:cNvSpPr txBox="1"/>
          <p:nvPr/>
        </p:nvSpPr>
        <p:spPr>
          <a:xfrm>
            <a:off x="566928" y="1024128"/>
            <a:ext cx="11055096" cy="310896"/>
          </a:xfrm>
          <a:prstGeom prst="rect">
            <a:avLst/>
          </a:prstGeom>
          <a:noFill/>
          <a:ln/>
        </p:spPr>
        <p:txBody>
          <a:bodyPr wrap="square" lIns="0" tIns="0" rIns="0" bIns="0" rtlCol="0" anchor="ctr"/>
          <a:lstStyle/>
          <a:p>
            <a:pPr indent="0" marL="0">
              <a:buNone/>
            </a:pPr>
            <a:r>
              <a:rPr lang="en-US" sz="1450" dirty="0">
                <a:solidFill>
                  <a:srgbClr val="F5C518"/>
                </a:solidFill>
                <a:latin typeface="Calibri" pitchFamily="34" charset="0"/>
                <a:ea typeface="Calibri" pitchFamily="34" charset="-122"/>
                <a:cs typeface="Calibri" pitchFamily="34" charset="-120"/>
              </a:rPr>
              <a:t>Access rules live in the database, so they apply to the API and not merely to the screens</a:t>
            </a:r>
            <a:endParaRPr lang="en-US" sz="1450" dirty="0"/>
          </a:p>
        </p:txBody>
      </p:sp>
      <p:sp>
        <p:nvSpPr>
          <p:cNvPr id="4" name="Shape 2"/>
          <p:cNvSpPr/>
          <p:nvPr/>
        </p:nvSpPr>
        <p:spPr>
          <a:xfrm>
            <a:off x="566928" y="1627632"/>
            <a:ext cx="5394960" cy="1298448"/>
          </a:xfrm>
          <a:prstGeom prst="roundRect">
            <a:avLst>
              <a:gd name="adj" fmla="val 5634"/>
            </a:avLst>
          </a:prstGeom>
          <a:solidFill>
            <a:srgbClr val="26292A"/>
          </a:solidFill>
          <a:ln w="9525">
            <a:solidFill>
              <a:srgbClr val="3A3D3E"/>
            </a:solidFill>
            <a:prstDash val="solid"/>
          </a:ln>
        </p:spPr>
      </p:sp>
      <p:sp>
        <p:nvSpPr>
          <p:cNvPr id="5" name="Shape 3"/>
          <p:cNvSpPr/>
          <p:nvPr/>
        </p:nvSpPr>
        <p:spPr>
          <a:xfrm>
            <a:off x="804672" y="1865376"/>
            <a:ext cx="402336" cy="402336"/>
          </a:xfrm>
          <a:prstGeom prst="ellipse">
            <a:avLst/>
          </a:prstGeom>
          <a:solidFill>
            <a:srgbClr val="F5C518"/>
          </a:solidFill>
          <a:ln w="12700">
            <a:solidFill>
              <a:srgbClr val="F5C518"/>
            </a:solidFill>
            <a:prstDash val="solid"/>
          </a:ln>
        </p:spPr>
      </p:sp>
      <p:sp>
        <p:nvSpPr>
          <p:cNvPr id="6" name="Text 4"/>
          <p:cNvSpPr txBox="1"/>
          <p:nvPr/>
        </p:nvSpPr>
        <p:spPr>
          <a:xfrm>
            <a:off x="804672" y="1865376"/>
            <a:ext cx="402336" cy="402336"/>
          </a:xfrm>
          <a:prstGeom prst="rect">
            <a:avLst/>
          </a:prstGeom>
          <a:noFill/>
          <a:ln/>
        </p:spPr>
        <p:txBody>
          <a:bodyPr wrap="square" lIns="0" tIns="0" rIns="0" bIns="0" rtlCol="0" anchor="ctr"/>
          <a:lstStyle/>
          <a:p>
            <a:pPr algn="ctr" indent="0" marL="0">
              <a:buNone/>
            </a:pPr>
            <a:r>
              <a:rPr lang="en-US" sz="1400" b="1" dirty="0">
                <a:solidFill>
                  <a:srgbClr val="1A1C1C"/>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35024" y="1828800"/>
            <a:ext cx="43891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Row Level Security</a:t>
            </a:r>
            <a:endParaRPr lang="en-US" sz="1450" dirty="0"/>
          </a:p>
        </p:txBody>
      </p:sp>
      <p:sp>
        <p:nvSpPr>
          <p:cNvPr id="8" name="Text 6"/>
          <p:cNvSpPr txBox="1"/>
          <p:nvPr/>
        </p:nvSpPr>
        <p:spPr>
          <a:xfrm>
            <a:off x="1335024" y="2157984"/>
            <a:ext cx="4407408" cy="694944"/>
          </a:xfrm>
          <a:prstGeom prst="rect">
            <a:avLst/>
          </a:prstGeom>
          <a:noFill/>
          <a:ln/>
        </p:spPr>
        <p:txBody>
          <a:bodyPr wrap="square" lIns="0" tIns="0" rIns="0" bIns="0" rtlCol="0" anchor="t"/>
          <a:lstStyle/>
          <a:p>
            <a:pPr indent="0" marL="0">
              <a:lnSpc>
                <a:spcPts val="1500"/>
              </a:lnSpc>
              <a:buNone/>
            </a:pPr>
            <a:r>
              <a:rPr lang="en-US" sz="1150" dirty="0">
                <a:solidFill>
                  <a:srgbClr val="C9C2C0"/>
                </a:solidFill>
                <a:latin typeface="Calibri" pitchFamily="34" charset="0"/>
                <a:ea typeface="Calibri" pitchFamily="34" charset="-122"/>
                <a:cs typeface="Calibri" pitchFamily="34" charset="-120"/>
              </a:rPr>
              <a:t>Every query is filtered per row by the caller's role and hall. A hall admin querying the reports endpoint directly receives only their own hall's rows.</a:t>
            </a:r>
            <a:endParaRPr lang="en-US" sz="1150" dirty="0"/>
          </a:p>
        </p:txBody>
      </p:sp>
      <p:sp>
        <p:nvSpPr>
          <p:cNvPr id="9" name="Shape 7"/>
          <p:cNvSpPr/>
          <p:nvPr/>
        </p:nvSpPr>
        <p:spPr>
          <a:xfrm>
            <a:off x="6181344" y="1627632"/>
            <a:ext cx="5394960" cy="1298448"/>
          </a:xfrm>
          <a:prstGeom prst="roundRect">
            <a:avLst>
              <a:gd name="adj" fmla="val 5634"/>
            </a:avLst>
          </a:prstGeom>
          <a:solidFill>
            <a:srgbClr val="26292A"/>
          </a:solidFill>
          <a:ln w="9525">
            <a:solidFill>
              <a:srgbClr val="3A3D3E"/>
            </a:solidFill>
            <a:prstDash val="solid"/>
          </a:ln>
        </p:spPr>
      </p:sp>
      <p:sp>
        <p:nvSpPr>
          <p:cNvPr id="10" name="Shape 8"/>
          <p:cNvSpPr/>
          <p:nvPr/>
        </p:nvSpPr>
        <p:spPr>
          <a:xfrm>
            <a:off x="6419088" y="1865376"/>
            <a:ext cx="402336" cy="402336"/>
          </a:xfrm>
          <a:prstGeom prst="ellipse">
            <a:avLst/>
          </a:prstGeom>
          <a:solidFill>
            <a:srgbClr val="F5C518"/>
          </a:solidFill>
          <a:ln w="12700">
            <a:solidFill>
              <a:srgbClr val="F5C518"/>
            </a:solidFill>
            <a:prstDash val="solid"/>
          </a:ln>
        </p:spPr>
      </p:sp>
      <p:sp>
        <p:nvSpPr>
          <p:cNvPr id="11" name="Text 9"/>
          <p:cNvSpPr txBox="1"/>
          <p:nvPr/>
        </p:nvSpPr>
        <p:spPr>
          <a:xfrm>
            <a:off x="6419088" y="1865376"/>
            <a:ext cx="402336" cy="402336"/>
          </a:xfrm>
          <a:prstGeom prst="rect">
            <a:avLst/>
          </a:prstGeom>
          <a:noFill/>
          <a:ln/>
        </p:spPr>
        <p:txBody>
          <a:bodyPr wrap="square" lIns="0" tIns="0" rIns="0" bIns="0" rtlCol="0" anchor="ctr"/>
          <a:lstStyle/>
          <a:p>
            <a:pPr algn="ctr" indent="0" marL="0">
              <a:buNone/>
            </a:pPr>
            <a:r>
              <a:rPr lang="en-US" sz="1400" b="1" dirty="0">
                <a:solidFill>
                  <a:srgbClr val="1A1C1C"/>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949440" y="1828800"/>
            <a:ext cx="43891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One hall per account</a:t>
            </a:r>
            <a:endParaRPr lang="en-US" sz="1450" dirty="0"/>
          </a:p>
        </p:txBody>
      </p:sp>
      <p:sp>
        <p:nvSpPr>
          <p:cNvPr id="13" name="Text 11"/>
          <p:cNvSpPr txBox="1"/>
          <p:nvPr/>
        </p:nvSpPr>
        <p:spPr>
          <a:xfrm>
            <a:off x="6949440" y="2157984"/>
            <a:ext cx="4407408" cy="694944"/>
          </a:xfrm>
          <a:prstGeom prst="rect">
            <a:avLst/>
          </a:prstGeom>
          <a:noFill/>
          <a:ln/>
        </p:spPr>
        <p:txBody>
          <a:bodyPr wrap="square" lIns="0" tIns="0" rIns="0" bIns="0" rtlCol="0" anchor="t"/>
          <a:lstStyle/>
          <a:p>
            <a:pPr indent="0" marL="0">
              <a:lnSpc>
                <a:spcPts val="1500"/>
              </a:lnSpc>
              <a:buNone/>
            </a:pPr>
            <a:r>
              <a:rPr lang="en-US" sz="1150" dirty="0">
                <a:solidFill>
                  <a:srgbClr val="C9C2C0"/>
                </a:solidFill>
                <a:latin typeface="Calibri" pitchFamily="34" charset="0"/>
                <a:ea typeface="Calibri" pitchFamily="34" charset="-122"/>
                <a:cs typeface="Calibri" pitchFamily="34" charset="-120"/>
              </a:rPr>
              <a:t>Database constraints make a hall admin's hall mandatory, forbid a second all-hall account, and match admin emails case-insensitively so one person cannot hold two hall logins.</a:t>
            </a:r>
            <a:endParaRPr lang="en-US" sz="1150" dirty="0"/>
          </a:p>
        </p:txBody>
      </p:sp>
      <p:sp>
        <p:nvSpPr>
          <p:cNvPr id="14" name="Shape 12"/>
          <p:cNvSpPr/>
          <p:nvPr/>
        </p:nvSpPr>
        <p:spPr>
          <a:xfrm>
            <a:off x="566928" y="3108960"/>
            <a:ext cx="5394960" cy="1298448"/>
          </a:xfrm>
          <a:prstGeom prst="roundRect">
            <a:avLst>
              <a:gd name="adj" fmla="val 5634"/>
            </a:avLst>
          </a:prstGeom>
          <a:solidFill>
            <a:srgbClr val="26292A"/>
          </a:solidFill>
          <a:ln w="9525">
            <a:solidFill>
              <a:srgbClr val="3A3D3E"/>
            </a:solidFill>
            <a:prstDash val="solid"/>
          </a:ln>
        </p:spPr>
      </p:sp>
      <p:sp>
        <p:nvSpPr>
          <p:cNvPr id="15" name="Shape 13"/>
          <p:cNvSpPr/>
          <p:nvPr/>
        </p:nvSpPr>
        <p:spPr>
          <a:xfrm>
            <a:off x="804672" y="3346704"/>
            <a:ext cx="402336" cy="402336"/>
          </a:xfrm>
          <a:prstGeom prst="ellipse">
            <a:avLst/>
          </a:prstGeom>
          <a:solidFill>
            <a:srgbClr val="F5C518"/>
          </a:solidFill>
          <a:ln w="12700">
            <a:solidFill>
              <a:srgbClr val="F5C518"/>
            </a:solidFill>
            <a:prstDash val="solid"/>
          </a:ln>
        </p:spPr>
      </p:sp>
      <p:sp>
        <p:nvSpPr>
          <p:cNvPr id="16" name="Text 14"/>
          <p:cNvSpPr txBox="1"/>
          <p:nvPr/>
        </p:nvSpPr>
        <p:spPr>
          <a:xfrm>
            <a:off x="804672" y="3346704"/>
            <a:ext cx="402336" cy="402336"/>
          </a:xfrm>
          <a:prstGeom prst="rect">
            <a:avLst/>
          </a:prstGeom>
          <a:noFill/>
          <a:ln/>
        </p:spPr>
        <p:txBody>
          <a:bodyPr wrap="square" lIns="0" tIns="0" rIns="0" bIns="0" rtlCol="0" anchor="ctr"/>
          <a:lstStyle/>
          <a:p>
            <a:pPr algn="ctr" indent="0" marL="0">
              <a:buNone/>
            </a:pPr>
            <a:r>
              <a:rPr lang="en-US" sz="1400" b="1" dirty="0">
                <a:solidFill>
                  <a:srgbClr val="1A1C1C"/>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35024" y="3310128"/>
            <a:ext cx="43891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Write-once addresses</a:t>
            </a:r>
            <a:endParaRPr lang="en-US" sz="1450" dirty="0"/>
          </a:p>
        </p:txBody>
      </p:sp>
      <p:sp>
        <p:nvSpPr>
          <p:cNvPr id="18" name="Text 16"/>
          <p:cNvSpPr txBox="1"/>
          <p:nvPr/>
        </p:nvSpPr>
        <p:spPr>
          <a:xfrm>
            <a:off x="1335024" y="3639312"/>
            <a:ext cx="4407408" cy="694944"/>
          </a:xfrm>
          <a:prstGeom prst="rect">
            <a:avLst/>
          </a:prstGeom>
          <a:noFill/>
          <a:ln/>
        </p:spPr>
        <p:txBody>
          <a:bodyPr wrap="square" lIns="0" tIns="0" rIns="0" bIns="0" rtlCol="0" anchor="t"/>
          <a:lstStyle/>
          <a:p>
            <a:pPr indent="0" marL="0">
              <a:lnSpc>
                <a:spcPts val="1500"/>
              </a:lnSpc>
              <a:buNone/>
            </a:pPr>
            <a:r>
              <a:rPr lang="en-US" sz="1150" dirty="0">
                <a:solidFill>
                  <a:srgbClr val="C9C2C0"/>
                </a:solidFill>
                <a:latin typeface="Calibri" pitchFamily="34" charset="0"/>
                <a:ea typeface="Calibri" pitchFamily="34" charset="-122"/>
                <a:cs typeface="Calibri" pitchFamily="34" charset="-120"/>
              </a:rPr>
              <a:t>Triggers compare the old row to the new one — something a policy cannot do — and reject any attempt to change an account's role, hall, floor or room after it is set.</a:t>
            </a:r>
            <a:endParaRPr lang="en-US" sz="1150" dirty="0"/>
          </a:p>
        </p:txBody>
      </p:sp>
      <p:sp>
        <p:nvSpPr>
          <p:cNvPr id="19" name="Shape 17"/>
          <p:cNvSpPr/>
          <p:nvPr/>
        </p:nvSpPr>
        <p:spPr>
          <a:xfrm>
            <a:off x="6181344" y="3108960"/>
            <a:ext cx="5394960" cy="1298448"/>
          </a:xfrm>
          <a:prstGeom prst="roundRect">
            <a:avLst>
              <a:gd name="adj" fmla="val 5634"/>
            </a:avLst>
          </a:prstGeom>
          <a:solidFill>
            <a:srgbClr val="26292A"/>
          </a:solidFill>
          <a:ln w="9525">
            <a:solidFill>
              <a:srgbClr val="3A3D3E"/>
            </a:solidFill>
            <a:prstDash val="solid"/>
          </a:ln>
        </p:spPr>
      </p:sp>
      <p:sp>
        <p:nvSpPr>
          <p:cNvPr id="20" name="Shape 18"/>
          <p:cNvSpPr/>
          <p:nvPr/>
        </p:nvSpPr>
        <p:spPr>
          <a:xfrm>
            <a:off x="6419088" y="3346704"/>
            <a:ext cx="402336" cy="402336"/>
          </a:xfrm>
          <a:prstGeom prst="ellipse">
            <a:avLst/>
          </a:prstGeom>
          <a:solidFill>
            <a:srgbClr val="F5C518"/>
          </a:solidFill>
          <a:ln w="12700">
            <a:solidFill>
              <a:srgbClr val="F5C518"/>
            </a:solidFill>
            <a:prstDash val="solid"/>
          </a:ln>
        </p:spPr>
      </p:sp>
      <p:sp>
        <p:nvSpPr>
          <p:cNvPr id="21" name="Text 19"/>
          <p:cNvSpPr txBox="1"/>
          <p:nvPr/>
        </p:nvSpPr>
        <p:spPr>
          <a:xfrm>
            <a:off x="6419088" y="3346704"/>
            <a:ext cx="402336" cy="402336"/>
          </a:xfrm>
          <a:prstGeom prst="rect">
            <a:avLst/>
          </a:prstGeom>
          <a:noFill/>
          <a:ln/>
        </p:spPr>
        <p:txBody>
          <a:bodyPr wrap="square" lIns="0" tIns="0" rIns="0" bIns="0" rtlCol="0" anchor="ctr"/>
          <a:lstStyle/>
          <a:p>
            <a:pPr algn="ctr" indent="0" marL="0">
              <a:buNone/>
            </a:pPr>
            <a:r>
              <a:rPr lang="en-US" sz="1400" b="1" dirty="0">
                <a:solidFill>
                  <a:srgbClr val="1A1C1C"/>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6949440" y="3310128"/>
            <a:ext cx="438912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Server-side stamping</a:t>
            </a:r>
            <a:endParaRPr lang="en-US" sz="1450" dirty="0"/>
          </a:p>
        </p:txBody>
      </p:sp>
      <p:sp>
        <p:nvSpPr>
          <p:cNvPr id="23" name="Text 21"/>
          <p:cNvSpPr txBox="1"/>
          <p:nvPr/>
        </p:nvSpPr>
        <p:spPr>
          <a:xfrm>
            <a:off x="6949440" y="3639312"/>
            <a:ext cx="4407408" cy="694944"/>
          </a:xfrm>
          <a:prstGeom prst="rect">
            <a:avLst/>
          </a:prstGeom>
          <a:noFill/>
          <a:ln/>
        </p:spPr>
        <p:txBody>
          <a:bodyPr wrap="square" lIns="0" tIns="0" rIns="0" bIns="0" rtlCol="0" anchor="t"/>
          <a:lstStyle/>
          <a:p>
            <a:pPr indent="0" marL="0">
              <a:lnSpc>
                <a:spcPts val="1500"/>
              </a:lnSpc>
              <a:buNone/>
            </a:pPr>
            <a:r>
              <a:rPr lang="en-US" sz="1150" dirty="0">
                <a:solidFill>
                  <a:srgbClr val="C9C2C0"/>
                </a:solidFill>
                <a:latin typeface="Calibri" pitchFamily="34" charset="0"/>
                <a:ea typeface="Calibri" pitchFamily="34" charset="-122"/>
                <a:cs typeface="Calibri" pitchFamily="34" charset="-120"/>
              </a:rPr>
              <a:t>A report's location is written from the student's profile, so a tampered request body cannot file into another hall.</a:t>
            </a:r>
            <a:endParaRPr lang="en-US" sz="1150" dirty="0"/>
          </a:p>
        </p:txBody>
      </p:sp>
      <p:sp>
        <p:nvSpPr>
          <p:cNvPr id="24" name="Shape 22"/>
          <p:cNvSpPr/>
          <p:nvPr/>
        </p:nvSpPr>
        <p:spPr>
          <a:xfrm>
            <a:off x="566928" y="4681728"/>
            <a:ext cx="11055096" cy="1316736"/>
          </a:xfrm>
          <a:prstGeom prst="roundRect">
            <a:avLst>
              <a:gd name="adj" fmla="val 5556"/>
            </a:avLst>
          </a:prstGeom>
          <a:solidFill>
            <a:srgbClr val="AF101A"/>
          </a:solidFill>
          <a:ln w="12700">
            <a:solidFill>
              <a:srgbClr val="AF101A"/>
            </a:solidFill>
            <a:prstDash val="solid"/>
          </a:ln>
        </p:spPr>
      </p:sp>
      <p:sp>
        <p:nvSpPr>
          <p:cNvPr id="25" name="Text 23"/>
          <p:cNvSpPr txBox="1"/>
          <p:nvPr/>
        </p:nvSpPr>
        <p:spPr>
          <a:xfrm>
            <a:off x="896112" y="4864608"/>
            <a:ext cx="10332720" cy="292608"/>
          </a:xfrm>
          <a:prstGeom prst="rect">
            <a:avLst/>
          </a:prstGeom>
          <a:noFill/>
          <a:ln/>
        </p:spPr>
        <p:txBody>
          <a:bodyPr wrap="square" lIns="0" tIns="0" rIns="0" bIns="0" rtlCol="0" anchor="ctr"/>
          <a:lstStyle/>
          <a:p>
            <a:pPr indent="0" marL="0">
              <a:buNone/>
            </a:pPr>
            <a:r>
              <a:rPr lang="en-US" sz="1400" b="1" dirty="0">
                <a:solidFill>
                  <a:srgbClr val="F5C518"/>
                </a:solidFill>
                <a:latin typeface="Calibri" pitchFamily="34" charset="0"/>
                <a:ea typeface="Calibri" pitchFamily="34" charset="-122"/>
                <a:cs typeface="Calibri" pitchFamily="34" charset="-120"/>
              </a:rPr>
              <a:t>A finding worth reporting honestly</a:t>
            </a:r>
            <a:endParaRPr lang="en-US" sz="1400" dirty="0"/>
          </a:p>
        </p:txBody>
      </p:sp>
      <p:sp>
        <p:nvSpPr>
          <p:cNvPr id="26" name="Text 24"/>
          <p:cNvSpPr txBox="1"/>
          <p:nvPr/>
        </p:nvSpPr>
        <p:spPr>
          <a:xfrm>
            <a:off x="896112" y="5175504"/>
            <a:ext cx="10424160" cy="694944"/>
          </a:xfrm>
          <a:prstGeom prst="rect">
            <a:avLst/>
          </a:prstGeom>
          <a:noFill/>
          <a:ln/>
        </p:spPr>
        <p:txBody>
          <a:bodyPr wrap="square" lIns="0" tIns="0" rIns="0" bIns="0" rtlCol="0" anchor="t"/>
          <a:lstStyle/>
          <a:p>
            <a:pPr indent="0" marL="0">
              <a:lnSpc>
                <a:spcPts val="1700"/>
              </a:lnSpc>
              <a:buNone/>
            </a:pPr>
            <a:r>
              <a:rPr lang="en-US" sz="1250" dirty="0">
                <a:solidFill>
                  <a:srgbClr val="FFFFFF"/>
                </a:solidFill>
                <a:latin typeface="Calibri" pitchFamily="34" charset="0"/>
                <a:ea typeface="Calibri" pitchFamily="34" charset="-122"/>
                <a:cs typeface="Calibri" pitchFamily="34" charset="-120"/>
              </a:rPr>
              <a:t>A security audit of the deployed database found a password-reset function that was callable without signing in and had no permission check — any holder of the public API key could have set any account's password, including the super admin's. It has been fixed, and the audit is now part of the deployment procedure.</a:t>
            </a:r>
            <a:endParaRPr lang="en-US" sz="1250" dirty="0"/>
          </a:p>
        </p:txBody>
      </p:sp>
      <p:sp>
        <p:nvSpPr>
          <p:cNvPr id="27" name="Text 25"/>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6E6866"/>
                </a:solidFill>
                <a:latin typeface="Calibri" pitchFamily="34" charset="0"/>
                <a:ea typeface="Calibri" pitchFamily="34" charset="-122"/>
                <a:cs typeface="Calibri" pitchFamily="34" charset="-120"/>
              </a:rPr>
              <a:t>SnapFix · KNUST Hall Maintenance System</a:t>
            </a:r>
            <a:endParaRPr lang="en-US" sz="950" dirty="0"/>
          </a:p>
        </p:txBody>
      </p:sp>
      <p:sp>
        <p:nvSpPr>
          <p:cNvPr id="28" name="Text 26"/>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6E6866"/>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Automatic Dispatch Alerts</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Nobody has to sit refreshing the dashboard</a:t>
            </a:r>
            <a:endParaRPr lang="en-US" sz="1450" dirty="0"/>
          </a:p>
        </p:txBody>
      </p:sp>
      <p:sp>
        <p:nvSpPr>
          <p:cNvPr id="4" name="Shape 2"/>
          <p:cNvSpPr/>
          <p:nvPr/>
        </p:nvSpPr>
        <p:spPr>
          <a:xfrm>
            <a:off x="566928" y="1700784"/>
            <a:ext cx="2029968" cy="2139696"/>
          </a:xfrm>
          <a:prstGeom prst="roundRect">
            <a:avLst>
              <a:gd name="adj" fmla="val 3604"/>
            </a:avLst>
          </a:prstGeom>
          <a:solidFill>
            <a:srgbClr val="FCF6F5"/>
          </a:solidFill>
          <a:ln w="9525">
            <a:solidFill>
              <a:srgbClr val="E4BEBA"/>
            </a:solidFill>
            <a:prstDash val="solid"/>
          </a:ln>
        </p:spPr>
      </p:sp>
      <p:sp>
        <p:nvSpPr>
          <p:cNvPr id="5" name="Shape 3"/>
          <p:cNvSpPr/>
          <p:nvPr/>
        </p:nvSpPr>
        <p:spPr>
          <a:xfrm>
            <a:off x="1353312" y="1920240"/>
            <a:ext cx="457200" cy="457200"/>
          </a:xfrm>
          <a:prstGeom prst="ellipse">
            <a:avLst/>
          </a:prstGeom>
          <a:solidFill>
            <a:srgbClr val="AF101A"/>
          </a:solidFill>
          <a:ln w="12700">
            <a:solidFill>
              <a:srgbClr val="AF101A"/>
            </a:solidFill>
            <a:prstDash val="solid"/>
          </a:ln>
        </p:spPr>
      </p:sp>
      <p:sp>
        <p:nvSpPr>
          <p:cNvPr id="6" name="Text 4"/>
          <p:cNvSpPr txBox="1"/>
          <p:nvPr/>
        </p:nvSpPr>
        <p:spPr>
          <a:xfrm>
            <a:off x="1353312"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94944" y="2523744"/>
            <a:ext cx="1773936" cy="512064"/>
          </a:xfrm>
          <a:prstGeom prst="rect">
            <a:avLst/>
          </a:prstGeom>
          <a:noFill/>
          <a:ln/>
        </p:spPr>
        <p:txBody>
          <a:bodyPr wrap="square" lIns="0" tIns="0" rIns="0" bIns="0" rtlCol="0" anchor="ctr"/>
          <a:lstStyle/>
          <a:p>
            <a:pPr algn="ctr" indent="0" marL="0">
              <a:lnSpc>
                <a:spcPts val="1700"/>
              </a:lnSpc>
              <a:buNone/>
            </a:pPr>
            <a:r>
              <a:rPr lang="en-US" sz="1300" b="1" dirty="0">
                <a:solidFill>
                  <a:srgbClr val="1A1C1C"/>
                </a:solidFill>
                <a:latin typeface="Calibri" pitchFamily="34" charset="0"/>
                <a:ea typeface="Calibri" pitchFamily="34" charset="-122"/>
                <a:cs typeface="Calibri" pitchFamily="34" charset="-120"/>
              </a:rPr>
              <a:t>Student submits</a:t>
            </a:r>
            <a:endParaRPr lang="en-US" sz="1300" dirty="0"/>
          </a:p>
        </p:txBody>
      </p:sp>
      <p:sp>
        <p:nvSpPr>
          <p:cNvPr id="8" name="Text 6"/>
          <p:cNvSpPr txBox="1"/>
          <p:nvPr/>
        </p:nvSpPr>
        <p:spPr>
          <a:xfrm>
            <a:off x="694944" y="3017520"/>
            <a:ext cx="1783080" cy="749808"/>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A row is inserted into reports</a:t>
            </a:r>
            <a:endParaRPr lang="en-US" sz="1050" dirty="0"/>
          </a:p>
        </p:txBody>
      </p:sp>
      <p:sp>
        <p:nvSpPr>
          <p:cNvPr id="9" name="Shape 7"/>
          <p:cNvSpPr/>
          <p:nvPr/>
        </p:nvSpPr>
        <p:spPr>
          <a:xfrm>
            <a:off x="2624328" y="2724912"/>
            <a:ext cx="146304" cy="182880"/>
          </a:xfrm>
          <a:prstGeom prst="rightArrow">
            <a:avLst/>
          </a:prstGeom>
          <a:solidFill>
            <a:srgbClr val="E4BEBA"/>
          </a:solidFill>
          <a:ln w="12700">
            <a:solidFill>
              <a:srgbClr val="E4BEBA"/>
            </a:solidFill>
            <a:prstDash val="solid"/>
          </a:ln>
        </p:spPr>
      </p:sp>
      <p:sp>
        <p:nvSpPr>
          <p:cNvPr id="10" name="Shape 8"/>
          <p:cNvSpPr/>
          <p:nvPr/>
        </p:nvSpPr>
        <p:spPr>
          <a:xfrm>
            <a:off x="2798064" y="1700784"/>
            <a:ext cx="2029968" cy="2139696"/>
          </a:xfrm>
          <a:prstGeom prst="roundRect">
            <a:avLst>
              <a:gd name="adj" fmla="val 3604"/>
            </a:avLst>
          </a:prstGeom>
          <a:solidFill>
            <a:srgbClr val="FFFFFF"/>
          </a:solidFill>
          <a:ln w="9525">
            <a:solidFill>
              <a:srgbClr val="E4BEBA"/>
            </a:solidFill>
            <a:prstDash val="solid"/>
          </a:ln>
        </p:spPr>
      </p:sp>
      <p:sp>
        <p:nvSpPr>
          <p:cNvPr id="11" name="Shape 9"/>
          <p:cNvSpPr/>
          <p:nvPr/>
        </p:nvSpPr>
        <p:spPr>
          <a:xfrm>
            <a:off x="3584448" y="1920240"/>
            <a:ext cx="457200" cy="457200"/>
          </a:xfrm>
          <a:prstGeom prst="ellipse">
            <a:avLst/>
          </a:prstGeom>
          <a:solidFill>
            <a:srgbClr val="1A1C1C"/>
          </a:solidFill>
          <a:ln w="12700">
            <a:solidFill>
              <a:srgbClr val="1A1C1C"/>
            </a:solidFill>
            <a:prstDash val="solid"/>
          </a:ln>
        </p:spPr>
      </p:sp>
      <p:sp>
        <p:nvSpPr>
          <p:cNvPr id="12" name="Text 10"/>
          <p:cNvSpPr txBox="1"/>
          <p:nvPr/>
        </p:nvSpPr>
        <p:spPr>
          <a:xfrm>
            <a:off x="3584448"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926080" y="2523744"/>
            <a:ext cx="1773936" cy="512064"/>
          </a:xfrm>
          <a:prstGeom prst="rect">
            <a:avLst/>
          </a:prstGeom>
          <a:noFill/>
          <a:ln/>
        </p:spPr>
        <p:txBody>
          <a:bodyPr wrap="square" lIns="0" tIns="0" rIns="0" bIns="0" rtlCol="0" anchor="ctr"/>
          <a:lstStyle/>
          <a:p>
            <a:pPr algn="ctr" indent="0" marL="0">
              <a:lnSpc>
                <a:spcPts val="1700"/>
              </a:lnSpc>
              <a:buNone/>
            </a:pPr>
            <a:r>
              <a:rPr lang="en-US" sz="1300" b="1" dirty="0">
                <a:solidFill>
                  <a:srgbClr val="1A1C1C"/>
                </a:solidFill>
                <a:latin typeface="Calibri" pitchFamily="34" charset="0"/>
                <a:ea typeface="Calibri" pitchFamily="34" charset="-122"/>
                <a:cs typeface="Calibri" pitchFamily="34" charset="-120"/>
              </a:rPr>
              <a:t>Trigger fires</a:t>
            </a:r>
            <a:endParaRPr lang="en-US" sz="1300" dirty="0"/>
          </a:p>
        </p:txBody>
      </p:sp>
      <p:sp>
        <p:nvSpPr>
          <p:cNvPr id="14" name="Text 12"/>
          <p:cNvSpPr txBox="1"/>
          <p:nvPr/>
        </p:nvSpPr>
        <p:spPr>
          <a:xfrm>
            <a:off x="2926080" y="3017520"/>
            <a:ext cx="1783080" cy="749808"/>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Inside the same transaction</a:t>
            </a:r>
            <a:endParaRPr lang="en-US" sz="1050" dirty="0"/>
          </a:p>
        </p:txBody>
      </p:sp>
      <p:sp>
        <p:nvSpPr>
          <p:cNvPr id="15" name="Shape 13"/>
          <p:cNvSpPr/>
          <p:nvPr/>
        </p:nvSpPr>
        <p:spPr>
          <a:xfrm>
            <a:off x="4855464" y="2724912"/>
            <a:ext cx="146304" cy="182880"/>
          </a:xfrm>
          <a:prstGeom prst="rightArrow">
            <a:avLst/>
          </a:prstGeom>
          <a:solidFill>
            <a:srgbClr val="E4BEBA"/>
          </a:solidFill>
          <a:ln w="12700">
            <a:solidFill>
              <a:srgbClr val="E4BEBA"/>
            </a:solidFill>
            <a:prstDash val="solid"/>
          </a:ln>
        </p:spPr>
      </p:sp>
      <p:sp>
        <p:nvSpPr>
          <p:cNvPr id="16" name="Shape 14"/>
          <p:cNvSpPr/>
          <p:nvPr/>
        </p:nvSpPr>
        <p:spPr>
          <a:xfrm>
            <a:off x="5029200" y="1700784"/>
            <a:ext cx="2029968" cy="2139696"/>
          </a:xfrm>
          <a:prstGeom prst="roundRect">
            <a:avLst>
              <a:gd name="adj" fmla="val 3604"/>
            </a:avLst>
          </a:prstGeom>
          <a:solidFill>
            <a:srgbClr val="FFFFFF"/>
          </a:solidFill>
          <a:ln w="9525">
            <a:solidFill>
              <a:srgbClr val="E4BEBA"/>
            </a:solidFill>
            <a:prstDash val="solid"/>
          </a:ln>
        </p:spPr>
      </p:sp>
      <p:sp>
        <p:nvSpPr>
          <p:cNvPr id="17" name="Shape 15"/>
          <p:cNvSpPr/>
          <p:nvPr/>
        </p:nvSpPr>
        <p:spPr>
          <a:xfrm>
            <a:off x="5815584" y="1920240"/>
            <a:ext cx="457200" cy="457200"/>
          </a:xfrm>
          <a:prstGeom prst="ellipse">
            <a:avLst/>
          </a:prstGeom>
          <a:solidFill>
            <a:srgbClr val="006994"/>
          </a:solidFill>
          <a:ln w="12700">
            <a:solidFill>
              <a:srgbClr val="006994"/>
            </a:solidFill>
            <a:prstDash val="solid"/>
          </a:ln>
        </p:spPr>
      </p:sp>
      <p:sp>
        <p:nvSpPr>
          <p:cNvPr id="18" name="Text 16"/>
          <p:cNvSpPr txBox="1"/>
          <p:nvPr/>
        </p:nvSpPr>
        <p:spPr>
          <a:xfrm>
            <a:off x="5815584"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5157216" y="2523744"/>
            <a:ext cx="1773936" cy="512064"/>
          </a:xfrm>
          <a:prstGeom prst="rect">
            <a:avLst/>
          </a:prstGeom>
          <a:noFill/>
          <a:ln/>
        </p:spPr>
        <p:txBody>
          <a:bodyPr wrap="square" lIns="0" tIns="0" rIns="0" bIns="0" rtlCol="0" anchor="ctr"/>
          <a:lstStyle/>
          <a:p>
            <a:pPr algn="ctr" indent="0" marL="0">
              <a:lnSpc>
                <a:spcPts val="1700"/>
              </a:lnSpc>
              <a:buNone/>
            </a:pPr>
            <a:r>
              <a:rPr lang="en-US" sz="1300" b="1" dirty="0">
                <a:solidFill>
                  <a:srgbClr val="1A1C1C"/>
                </a:solidFill>
                <a:latin typeface="Calibri" pitchFamily="34" charset="0"/>
                <a:ea typeface="Calibri" pitchFamily="34" charset="-122"/>
                <a:cs typeface="Calibri" pitchFamily="34" charset="-120"/>
              </a:rPr>
              <a:t>Alerts written</a:t>
            </a:r>
            <a:endParaRPr lang="en-US" sz="1300" dirty="0"/>
          </a:p>
        </p:txBody>
      </p:sp>
      <p:sp>
        <p:nvSpPr>
          <p:cNvPr id="20" name="Text 18"/>
          <p:cNvSpPr txBox="1"/>
          <p:nvPr/>
        </p:nvSpPr>
        <p:spPr>
          <a:xfrm>
            <a:off x="5157216" y="3017520"/>
            <a:ext cx="1783080" cy="749808"/>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In-app rows for hall admin + super admin</a:t>
            </a:r>
            <a:endParaRPr lang="en-US" sz="1050" dirty="0"/>
          </a:p>
        </p:txBody>
      </p:sp>
      <p:sp>
        <p:nvSpPr>
          <p:cNvPr id="21" name="Shape 19"/>
          <p:cNvSpPr/>
          <p:nvPr/>
        </p:nvSpPr>
        <p:spPr>
          <a:xfrm>
            <a:off x="7086600" y="2724912"/>
            <a:ext cx="146304" cy="182880"/>
          </a:xfrm>
          <a:prstGeom prst="rightArrow">
            <a:avLst/>
          </a:prstGeom>
          <a:solidFill>
            <a:srgbClr val="E4BEBA"/>
          </a:solidFill>
          <a:ln w="12700">
            <a:solidFill>
              <a:srgbClr val="E4BEBA"/>
            </a:solidFill>
            <a:prstDash val="solid"/>
          </a:ln>
        </p:spPr>
      </p:sp>
      <p:sp>
        <p:nvSpPr>
          <p:cNvPr id="22" name="Shape 20"/>
          <p:cNvSpPr/>
          <p:nvPr/>
        </p:nvSpPr>
        <p:spPr>
          <a:xfrm>
            <a:off x="7260336" y="1700784"/>
            <a:ext cx="2029968" cy="2139696"/>
          </a:xfrm>
          <a:prstGeom prst="roundRect">
            <a:avLst>
              <a:gd name="adj" fmla="val 3604"/>
            </a:avLst>
          </a:prstGeom>
          <a:solidFill>
            <a:srgbClr val="FFFFFF"/>
          </a:solidFill>
          <a:ln w="9525">
            <a:solidFill>
              <a:srgbClr val="E4BEBA"/>
            </a:solidFill>
            <a:prstDash val="solid"/>
          </a:ln>
        </p:spPr>
      </p:sp>
      <p:sp>
        <p:nvSpPr>
          <p:cNvPr id="23" name="Shape 21"/>
          <p:cNvSpPr/>
          <p:nvPr/>
        </p:nvSpPr>
        <p:spPr>
          <a:xfrm>
            <a:off x="8046720" y="1920240"/>
            <a:ext cx="457200" cy="457200"/>
          </a:xfrm>
          <a:prstGeom prst="ellipse">
            <a:avLst/>
          </a:prstGeom>
          <a:solidFill>
            <a:srgbClr val="006994"/>
          </a:solidFill>
          <a:ln w="12700">
            <a:solidFill>
              <a:srgbClr val="006994"/>
            </a:solidFill>
            <a:prstDash val="solid"/>
          </a:ln>
        </p:spPr>
      </p:sp>
      <p:sp>
        <p:nvSpPr>
          <p:cNvPr id="24" name="Text 22"/>
          <p:cNvSpPr txBox="1"/>
          <p:nvPr/>
        </p:nvSpPr>
        <p:spPr>
          <a:xfrm>
            <a:off x="8046720"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7388352" y="2523744"/>
            <a:ext cx="1773936" cy="512064"/>
          </a:xfrm>
          <a:prstGeom prst="rect">
            <a:avLst/>
          </a:prstGeom>
          <a:noFill/>
          <a:ln/>
        </p:spPr>
        <p:txBody>
          <a:bodyPr wrap="square" lIns="0" tIns="0" rIns="0" bIns="0" rtlCol="0" anchor="ctr"/>
          <a:lstStyle/>
          <a:p>
            <a:pPr algn="ctr" indent="0" marL="0">
              <a:lnSpc>
                <a:spcPts val="1700"/>
              </a:lnSpc>
              <a:buNone/>
            </a:pPr>
            <a:r>
              <a:rPr lang="en-US" sz="1300" b="1" dirty="0">
                <a:solidFill>
                  <a:srgbClr val="1A1C1C"/>
                </a:solidFill>
                <a:latin typeface="Calibri" pitchFamily="34" charset="0"/>
                <a:ea typeface="Calibri" pitchFamily="34" charset="-122"/>
                <a:cs typeface="Calibri" pitchFamily="34" charset="-120"/>
              </a:rPr>
              <a:t>Function called</a:t>
            </a:r>
            <a:endParaRPr lang="en-US" sz="1300" dirty="0"/>
          </a:p>
        </p:txBody>
      </p:sp>
      <p:sp>
        <p:nvSpPr>
          <p:cNvPr id="26" name="Text 24"/>
          <p:cNvSpPr txBox="1"/>
          <p:nvPr/>
        </p:nvSpPr>
        <p:spPr>
          <a:xfrm>
            <a:off x="7388352" y="3017520"/>
            <a:ext cx="1783080" cy="749808"/>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pg_net posts asynchronously to an Edge Function</a:t>
            </a:r>
            <a:endParaRPr lang="en-US" sz="1050" dirty="0"/>
          </a:p>
        </p:txBody>
      </p:sp>
      <p:sp>
        <p:nvSpPr>
          <p:cNvPr id="27" name="Shape 25"/>
          <p:cNvSpPr/>
          <p:nvPr/>
        </p:nvSpPr>
        <p:spPr>
          <a:xfrm>
            <a:off x="9317736" y="2724912"/>
            <a:ext cx="146304" cy="182880"/>
          </a:xfrm>
          <a:prstGeom prst="rightArrow">
            <a:avLst/>
          </a:prstGeom>
          <a:solidFill>
            <a:srgbClr val="E4BEBA"/>
          </a:solidFill>
          <a:ln w="12700">
            <a:solidFill>
              <a:srgbClr val="E4BEBA"/>
            </a:solidFill>
            <a:prstDash val="solid"/>
          </a:ln>
        </p:spPr>
      </p:sp>
      <p:sp>
        <p:nvSpPr>
          <p:cNvPr id="28" name="Shape 26"/>
          <p:cNvSpPr/>
          <p:nvPr/>
        </p:nvSpPr>
        <p:spPr>
          <a:xfrm>
            <a:off x="9491472" y="1700784"/>
            <a:ext cx="2029968" cy="2139696"/>
          </a:xfrm>
          <a:prstGeom prst="roundRect">
            <a:avLst>
              <a:gd name="adj" fmla="val 3604"/>
            </a:avLst>
          </a:prstGeom>
          <a:solidFill>
            <a:srgbClr val="FFFFFF"/>
          </a:solidFill>
          <a:ln w="9525">
            <a:solidFill>
              <a:srgbClr val="E4BEBA"/>
            </a:solidFill>
            <a:prstDash val="solid"/>
          </a:ln>
        </p:spPr>
      </p:sp>
      <p:sp>
        <p:nvSpPr>
          <p:cNvPr id="29" name="Shape 27"/>
          <p:cNvSpPr/>
          <p:nvPr/>
        </p:nvSpPr>
        <p:spPr>
          <a:xfrm>
            <a:off x="10277856" y="1920240"/>
            <a:ext cx="457200" cy="457200"/>
          </a:xfrm>
          <a:prstGeom prst="ellipse">
            <a:avLst/>
          </a:prstGeom>
          <a:solidFill>
            <a:srgbClr val="1B5E20"/>
          </a:solidFill>
          <a:ln w="12700">
            <a:solidFill>
              <a:srgbClr val="1B5E20"/>
            </a:solidFill>
            <a:prstDash val="solid"/>
          </a:ln>
        </p:spPr>
      </p:sp>
      <p:sp>
        <p:nvSpPr>
          <p:cNvPr id="30" name="Text 28"/>
          <p:cNvSpPr txBox="1"/>
          <p:nvPr/>
        </p:nvSpPr>
        <p:spPr>
          <a:xfrm>
            <a:off x="10277856" y="1920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9619488" y="2523744"/>
            <a:ext cx="1773936" cy="512064"/>
          </a:xfrm>
          <a:prstGeom prst="rect">
            <a:avLst/>
          </a:prstGeom>
          <a:noFill/>
          <a:ln/>
        </p:spPr>
        <p:txBody>
          <a:bodyPr wrap="square" lIns="0" tIns="0" rIns="0" bIns="0" rtlCol="0" anchor="ctr"/>
          <a:lstStyle/>
          <a:p>
            <a:pPr algn="ctr" indent="0" marL="0">
              <a:lnSpc>
                <a:spcPts val="1700"/>
              </a:lnSpc>
              <a:buNone/>
            </a:pPr>
            <a:r>
              <a:rPr lang="en-US" sz="1300" b="1" dirty="0">
                <a:solidFill>
                  <a:srgbClr val="1A1C1C"/>
                </a:solidFill>
                <a:latin typeface="Calibri" pitchFamily="34" charset="0"/>
                <a:ea typeface="Calibri" pitchFamily="34" charset="-122"/>
                <a:cs typeface="Calibri" pitchFamily="34" charset="-120"/>
              </a:rPr>
              <a:t>Email delivered</a:t>
            </a:r>
            <a:endParaRPr lang="en-US" sz="1300" dirty="0"/>
          </a:p>
        </p:txBody>
      </p:sp>
      <p:sp>
        <p:nvSpPr>
          <p:cNvPr id="32" name="Text 30"/>
          <p:cNvSpPr txBox="1"/>
          <p:nvPr/>
        </p:nvSpPr>
        <p:spPr>
          <a:xfrm>
            <a:off x="9619488" y="3017520"/>
            <a:ext cx="1783080" cy="749808"/>
          </a:xfrm>
          <a:prstGeom prst="rect">
            <a:avLst/>
          </a:prstGeom>
          <a:noFill/>
          <a:ln/>
        </p:spPr>
        <p:txBody>
          <a:bodyPr wrap="square" lIns="0" tIns="0" rIns="0" bIns="0" rtlCol="0" anchor="t"/>
          <a:lstStyle/>
          <a:p>
            <a:pPr algn="ctr" indent="0" marL="0">
              <a:lnSpc>
                <a:spcPts val="1400"/>
              </a:lnSpc>
              <a:buNone/>
            </a:pPr>
            <a:r>
              <a:rPr lang="en-US" sz="1050" dirty="0">
                <a:solidFill>
                  <a:srgbClr val="6B6360"/>
                </a:solidFill>
                <a:latin typeface="Calibri" pitchFamily="34" charset="0"/>
                <a:ea typeface="Calibri" pitchFamily="34" charset="-122"/>
                <a:cs typeface="Calibri" pitchFamily="34" charset="-120"/>
              </a:rPr>
              <a:t>Formatted card with reference, fault, room, priority</a:t>
            </a:r>
            <a:endParaRPr lang="en-US" sz="1050" dirty="0"/>
          </a:p>
        </p:txBody>
      </p:sp>
      <p:sp>
        <p:nvSpPr>
          <p:cNvPr id="33" name="Shape 31"/>
          <p:cNvSpPr/>
          <p:nvPr/>
        </p:nvSpPr>
        <p:spPr>
          <a:xfrm>
            <a:off x="566928" y="4133088"/>
            <a:ext cx="5394960" cy="1773936"/>
          </a:xfrm>
          <a:prstGeom prst="roundRect">
            <a:avLst>
              <a:gd name="adj" fmla="val 4639"/>
            </a:avLst>
          </a:prstGeom>
          <a:solidFill>
            <a:srgbClr val="FCF6F5"/>
          </a:solidFill>
          <a:ln w="9525">
            <a:solidFill>
              <a:srgbClr val="E4BEBA"/>
            </a:solidFill>
            <a:prstDash val="solid"/>
          </a:ln>
        </p:spPr>
      </p:sp>
      <p:sp>
        <p:nvSpPr>
          <p:cNvPr id="34" name="Text 32"/>
          <p:cNvSpPr txBox="1"/>
          <p:nvPr/>
        </p:nvSpPr>
        <p:spPr>
          <a:xfrm>
            <a:off x="859536" y="4334256"/>
            <a:ext cx="4846320" cy="274320"/>
          </a:xfrm>
          <a:prstGeom prst="rect">
            <a:avLst/>
          </a:prstGeom>
          <a:noFill/>
          <a:ln/>
        </p:spPr>
        <p:txBody>
          <a:bodyPr wrap="square" lIns="0" tIns="0" rIns="0" bIns="0" rtlCol="0" anchor="ctr"/>
          <a:lstStyle/>
          <a:p>
            <a:pPr indent="0" marL="0">
              <a:buNone/>
            </a:pPr>
            <a:r>
              <a:rPr lang="en-US" sz="1400" b="1" dirty="0">
                <a:solidFill>
                  <a:srgbClr val="AF101A"/>
                </a:solidFill>
                <a:latin typeface="Calibri" pitchFamily="34" charset="0"/>
                <a:ea typeface="Calibri" pitchFamily="34" charset="-122"/>
                <a:cs typeface="Calibri" pitchFamily="34" charset="-120"/>
              </a:rPr>
              <a:t>Why the trigger, and not the app</a:t>
            </a:r>
            <a:endParaRPr lang="en-US" sz="1400" dirty="0"/>
          </a:p>
        </p:txBody>
      </p:sp>
      <p:sp>
        <p:nvSpPr>
          <p:cNvPr id="35" name="Text 33"/>
          <p:cNvSpPr txBox="1"/>
          <p:nvPr/>
        </p:nvSpPr>
        <p:spPr>
          <a:xfrm>
            <a:off x="859536" y="4645152"/>
            <a:ext cx="4864608" cy="1005840"/>
          </a:xfrm>
          <a:prstGeom prst="rect">
            <a:avLst/>
          </a:prstGeom>
          <a:noFill/>
          <a:ln/>
        </p:spPr>
        <p:txBody>
          <a:bodyPr wrap="square" lIns="0" tIns="0" rIns="0" bIns="0" rtlCol="0" anchor="t"/>
          <a:lstStyle/>
          <a:p>
            <a:pPr indent="0" marL="0">
              <a:lnSpc>
                <a:spcPts val="1600"/>
              </a:lnSpc>
              <a:buNone/>
            </a:pPr>
            <a:r>
              <a:rPr lang="en-US" sz="1200" dirty="0">
                <a:solidFill>
                  <a:srgbClr val="1A1C1C"/>
                </a:solidFill>
                <a:latin typeface="Calibri" pitchFamily="34" charset="0"/>
                <a:ea typeface="Calibri" pitchFamily="34" charset="-122"/>
                <a:cs typeface="Calibri" pitchFamily="34" charset="-120"/>
              </a:rPr>
              <a:t>Firing from the database means the alert happens however the row arrives — mobile app, dashboard, or an import — and never depends on the student's connection surviving the submit.</a:t>
            </a:r>
            <a:endParaRPr lang="en-US" sz="1200" dirty="0"/>
          </a:p>
        </p:txBody>
      </p:sp>
      <p:sp>
        <p:nvSpPr>
          <p:cNvPr id="36" name="Shape 34"/>
          <p:cNvSpPr/>
          <p:nvPr/>
        </p:nvSpPr>
        <p:spPr>
          <a:xfrm>
            <a:off x="6181344" y="4133088"/>
            <a:ext cx="5440680" cy="1773936"/>
          </a:xfrm>
          <a:prstGeom prst="roundRect">
            <a:avLst>
              <a:gd name="adj" fmla="val 4639"/>
            </a:avLst>
          </a:prstGeom>
          <a:solidFill>
            <a:srgbClr val="FFFFFF"/>
          </a:solidFill>
          <a:ln w="9525">
            <a:solidFill>
              <a:srgbClr val="E4BEBA"/>
            </a:solidFill>
            <a:prstDash val="solid"/>
          </a:ln>
        </p:spPr>
      </p:sp>
      <p:sp>
        <p:nvSpPr>
          <p:cNvPr id="37" name="Text 35"/>
          <p:cNvSpPr txBox="1"/>
          <p:nvPr/>
        </p:nvSpPr>
        <p:spPr>
          <a:xfrm>
            <a:off x="6473952" y="4334256"/>
            <a:ext cx="4846320" cy="274320"/>
          </a:xfrm>
          <a:prstGeom prst="rect">
            <a:avLst/>
          </a:prstGeom>
          <a:noFill/>
          <a:ln/>
        </p:spPr>
        <p:txBody>
          <a:bodyPr wrap="square" lIns="0" tIns="0" rIns="0" bIns="0" rtlCol="0" anchor="ctr"/>
          <a:lstStyle/>
          <a:p>
            <a:pPr indent="0" marL="0">
              <a:buNone/>
            </a:pPr>
            <a:r>
              <a:rPr lang="en-US" sz="1400" b="1" dirty="0">
                <a:solidFill>
                  <a:srgbClr val="006994"/>
                </a:solidFill>
                <a:latin typeface="Calibri" pitchFamily="34" charset="0"/>
                <a:ea typeface="Calibri" pitchFamily="34" charset="-122"/>
                <a:cs typeface="Calibri" pitchFamily="34" charset="-120"/>
              </a:rPr>
              <a:t>Failure cannot cost a student their report</a:t>
            </a:r>
            <a:endParaRPr lang="en-US" sz="1400" dirty="0"/>
          </a:p>
        </p:txBody>
      </p:sp>
      <p:sp>
        <p:nvSpPr>
          <p:cNvPr id="38" name="Text 36"/>
          <p:cNvSpPr txBox="1"/>
          <p:nvPr/>
        </p:nvSpPr>
        <p:spPr>
          <a:xfrm>
            <a:off x="6473952" y="4645152"/>
            <a:ext cx="4901184" cy="1005840"/>
          </a:xfrm>
          <a:prstGeom prst="rect">
            <a:avLst/>
          </a:prstGeom>
          <a:noFill/>
          <a:ln/>
        </p:spPr>
        <p:txBody>
          <a:bodyPr wrap="square" lIns="0" tIns="0" rIns="0" bIns="0" rtlCol="0" anchor="t"/>
          <a:lstStyle/>
          <a:p>
            <a:pPr indent="0" marL="0">
              <a:lnSpc>
                <a:spcPts val="1600"/>
              </a:lnSpc>
              <a:buNone/>
            </a:pPr>
            <a:r>
              <a:rPr lang="en-US" sz="1200" dirty="0">
                <a:solidFill>
                  <a:srgbClr val="1A1C1C"/>
                </a:solidFill>
                <a:latin typeface="Calibri" pitchFamily="34" charset="0"/>
                <a:ea typeface="Calibri" pitchFamily="34" charset="-122"/>
                <a:cs typeface="Calibri" pitchFamily="34" charset="-120"/>
              </a:rPr>
              <a:t>The outbound call is asynchronous and wrapped so that a slow or failing mail provider can never delay or roll back the submission. Delivery outcomes are recorded and can be inspected after the fact.</a:t>
            </a:r>
            <a:endParaRPr lang="en-US" sz="1200" dirty="0"/>
          </a:p>
        </p:txBody>
      </p:sp>
      <p:sp>
        <p:nvSpPr>
          <p:cNvPr id="39" name="Text 37"/>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40" name="Text 38"/>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Verification and Testing</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Functional tests on device, and adversarial tests against the database</a:t>
            </a:r>
            <a:endParaRPr lang="en-US" sz="1450" dirty="0"/>
          </a:p>
        </p:txBody>
      </p:sp>
      <p:sp>
        <p:nvSpPr>
          <p:cNvPr id="4" name="Shape 2"/>
          <p:cNvSpPr/>
          <p:nvPr/>
        </p:nvSpPr>
        <p:spPr>
          <a:xfrm>
            <a:off x="566928" y="1517904"/>
            <a:ext cx="11055096" cy="402336"/>
          </a:xfrm>
          <a:prstGeom prst="rect">
            <a:avLst/>
          </a:prstGeom>
          <a:solidFill>
            <a:srgbClr val="1A1C1C"/>
          </a:solidFill>
          <a:ln/>
        </p:spPr>
      </p:sp>
      <p:sp>
        <p:nvSpPr>
          <p:cNvPr id="5" name="Text 3"/>
          <p:cNvSpPr txBox="1"/>
          <p:nvPr/>
        </p:nvSpPr>
        <p:spPr>
          <a:xfrm>
            <a:off x="676656" y="1517904"/>
            <a:ext cx="731520" cy="402336"/>
          </a:xfrm>
          <a:prstGeom prst="rect">
            <a:avLst/>
          </a:prstGeom>
          <a:noFill/>
          <a:ln/>
        </p:spPr>
        <p:txBody>
          <a:bodyPr wrap="square" lIns="0" tIns="0" rIns="0" bIns="0" rtlCol="0" anchor="ctr"/>
          <a:lstStyle/>
          <a:p>
            <a:pPr indent="0" marL="0">
              <a:buNone/>
            </a:pPr>
            <a:r>
              <a:rPr lang="en-US" sz="1150" b="1" dirty="0">
                <a:solidFill>
                  <a:srgbClr val="F5C518"/>
                </a:solidFill>
                <a:latin typeface="Calibri" pitchFamily="34" charset="0"/>
                <a:ea typeface="Calibri" pitchFamily="34" charset="-122"/>
                <a:cs typeface="Calibri" pitchFamily="34" charset="-120"/>
              </a:rPr>
              <a:t>ID</a:t>
            </a:r>
            <a:endParaRPr lang="en-US" sz="1150" dirty="0"/>
          </a:p>
        </p:txBody>
      </p:sp>
      <p:sp>
        <p:nvSpPr>
          <p:cNvPr id="6" name="Text 4"/>
          <p:cNvSpPr txBox="1"/>
          <p:nvPr/>
        </p:nvSpPr>
        <p:spPr>
          <a:xfrm>
            <a:off x="1645920" y="1517904"/>
            <a:ext cx="950976" cy="402336"/>
          </a:xfrm>
          <a:prstGeom prst="rect">
            <a:avLst/>
          </a:prstGeom>
          <a:noFill/>
          <a:ln/>
        </p:spPr>
        <p:txBody>
          <a:bodyPr wrap="square" lIns="0" tIns="0" rIns="0" bIns="0" rtlCol="0" anchor="ctr"/>
          <a:lstStyle/>
          <a:p>
            <a:pPr indent="0" marL="0">
              <a:buNone/>
            </a:pPr>
            <a:r>
              <a:rPr lang="en-US" sz="1150" b="1" dirty="0">
                <a:solidFill>
                  <a:srgbClr val="F5C518"/>
                </a:solidFill>
                <a:latin typeface="Calibri" pitchFamily="34" charset="0"/>
                <a:ea typeface="Calibri" pitchFamily="34" charset="-122"/>
                <a:cs typeface="Calibri" pitchFamily="34" charset="-120"/>
              </a:rPr>
              <a:t>Layer</a:t>
            </a:r>
            <a:endParaRPr lang="en-US" sz="1150" dirty="0"/>
          </a:p>
        </p:txBody>
      </p:sp>
      <p:sp>
        <p:nvSpPr>
          <p:cNvPr id="7" name="Text 5"/>
          <p:cNvSpPr txBox="1"/>
          <p:nvPr/>
        </p:nvSpPr>
        <p:spPr>
          <a:xfrm>
            <a:off x="2834640" y="1517904"/>
            <a:ext cx="3547872" cy="402336"/>
          </a:xfrm>
          <a:prstGeom prst="rect">
            <a:avLst/>
          </a:prstGeom>
          <a:noFill/>
          <a:ln/>
        </p:spPr>
        <p:txBody>
          <a:bodyPr wrap="square" lIns="0" tIns="0" rIns="0" bIns="0" rtlCol="0" anchor="ctr"/>
          <a:lstStyle/>
          <a:p>
            <a:pPr indent="0" marL="0">
              <a:buNone/>
            </a:pPr>
            <a:r>
              <a:rPr lang="en-US" sz="1150" b="1" dirty="0">
                <a:solidFill>
                  <a:srgbClr val="F5C518"/>
                </a:solidFill>
                <a:latin typeface="Calibri" pitchFamily="34" charset="0"/>
                <a:ea typeface="Calibri" pitchFamily="34" charset="-122"/>
                <a:cs typeface="Calibri" pitchFamily="34" charset="-120"/>
              </a:rPr>
              <a:t>Scenario</a:t>
            </a:r>
            <a:endParaRPr lang="en-US" sz="1150" dirty="0"/>
          </a:p>
        </p:txBody>
      </p:sp>
      <p:sp>
        <p:nvSpPr>
          <p:cNvPr id="8" name="Text 6"/>
          <p:cNvSpPr txBox="1"/>
          <p:nvPr/>
        </p:nvSpPr>
        <p:spPr>
          <a:xfrm>
            <a:off x="6620256" y="1517904"/>
            <a:ext cx="3877056" cy="402336"/>
          </a:xfrm>
          <a:prstGeom prst="rect">
            <a:avLst/>
          </a:prstGeom>
          <a:noFill/>
          <a:ln/>
        </p:spPr>
        <p:txBody>
          <a:bodyPr wrap="square" lIns="0" tIns="0" rIns="0" bIns="0" rtlCol="0" anchor="ctr"/>
          <a:lstStyle/>
          <a:p>
            <a:pPr indent="0" marL="0">
              <a:buNone/>
            </a:pPr>
            <a:r>
              <a:rPr lang="en-US" sz="1150" b="1" dirty="0">
                <a:solidFill>
                  <a:srgbClr val="F5C518"/>
                </a:solidFill>
                <a:latin typeface="Calibri" pitchFamily="34" charset="0"/>
                <a:ea typeface="Calibri" pitchFamily="34" charset="-122"/>
                <a:cs typeface="Calibri" pitchFamily="34" charset="-120"/>
              </a:rPr>
              <a:t>Expected outcome</a:t>
            </a:r>
            <a:endParaRPr lang="en-US" sz="1150" dirty="0"/>
          </a:p>
        </p:txBody>
      </p:sp>
      <p:sp>
        <p:nvSpPr>
          <p:cNvPr id="9" name="Text 7"/>
          <p:cNvSpPr txBox="1"/>
          <p:nvPr/>
        </p:nvSpPr>
        <p:spPr>
          <a:xfrm>
            <a:off x="10735056" y="1517904"/>
            <a:ext cx="813816" cy="402336"/>
          </a:xfrm>
          <a:prstGeom prst="rect">
            <a:avLst/>
          </a:prstGeom>
          <a:noFill/>
          <a:ln/>
        </p:spPr>
        <p:txBody>
          <a:bodyPr wrap="square" lIns="0" tIns="0" rIns="0" bIns="0" rtlCol="0" anchor="ctr"/>
          <a:lstStyle/>
          <a:p>
            <a:pPr indent="0" marL="0">
              <a:buNone/>
            </a:pPr>
            <a:r>
              <a:rPr lang="en-US" sz="1150" b="1" dirty="0">
                <a:solidFill>
                  <a:srgbClr val="F5C518"/>
                </a:solidFill>
                <a:latin typeface="Calibri" pitchFamily="34" charset="0"/>
                <a:ea typeface="Calibri" pitchFamily="34" charset="-122"/>
                <a:cs typeface="Calibri" pitchFamily="34" charset="-120"/>
              </a:rPr>
              <a:t>Result</a:t>
            </a:r>
            <a:endParaRPr lang="en-US" sz="1150" dirty="0"/>
          </a:p>
        </p:txBody>
      </p:sp>
      <p:sp>
        <p:nvSpPr>
          <p:cNvPr id="10" name="Shape 8"/>
          <p:cNvSpPr/>
          <p:nvPr/>
        </p:nvSpPr>
        <p:spPr>
          <a:xfrm>
            <a:off x="566928" y="1920240"/>
            <a:ext cx="11055096" cy="566928"/>
          </a:xfrm>
          <a:prstGeom prst="rect">
            <a:avLst/>
          </a:prstGeom>
          <a:solidFill>
            <a:srgbClr val="FCF6F5"/>
          </a:solidFill>
          <a:ln w="6350">
            <a:solidFill>
              <a:srgbClr val="E4BEBA"/>
            </a:solidFill>
            <a:prstDash val="solid"/>
          </a:ln>
        </p:spPr>
      </p:sp>
      <p:sp>
        <p:nvSpPr>
          <p:cNvPr id="11" name="Text 9"/>
          <p:cNvSpPr txBox="1"/>
          <p:nvPr/>
        </p:nvSpPr>
        <p:spPr>
          <a:xfrm>
            <a:off x="676656" y="1920240"/>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TC-01</a:t>
            </a:r>
            <a:endParaRPr lang="en-US" sz="1150" dirty="0"/>
          </a:p>
        </p:txBody>
      </p:sp>
      <p:sp>
        <p:nvSpPr>
          <p:cNvPr id="12" name="Text 10"/>
          <p:cNvSpPr txBox="1"/>
          <p:nvPr/>
        </p:nvSpPr>
        <p:spPr>
          <a:xfrm>
            <a:off x="1645920" y="1920240"/>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Mobile</a:t>
            </a:r>
            <a:endParaRPr lang="en-US" sz="1150" dirty="0"/>
          </a:p>
        </p:txBody>
      </p:sp>
      <p:sp>
        <p:nvSpPr>
          <p:cNvPr id="13" name="Text 11"/>
          <p:cNvSpPr txBox="1"/>
          <p:nvPr/>
        </p:nvSpPr>
        <p:spPr>
          <a:xfrm>
            <a:off x="2834640" y="1920240"/>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Launch camera from the upload step</a:t>
            </a:r>
            <a:endParaRPr lang="en-US" sz="1150" dirty="0"/>
          </a:p>
        </p:txBody>
      </p:sp>
      <p:sp>
        <p:nvSpPr>
          <p:cNvPr id="14" name="Text 12"/>
          <p:cNvSpPr txBox="1"/>
          <p:nvPr/>
        </p:nvSpPr>
        <p:spPr>
          <a:xfrm>
            <a:off x="6620256" y="1920240"/>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Native camera opens, image URI returned</a:t>
            </a:r>
            <a:endParaRPr lang="en-US" sz="1150" dirty="0"/>
          </a:p>
        </p:txBody>
      </p:sp>
      <p:sp>
        <p:nvSpPr>
          <p:cNvPr id="15" name="Text 13"/>
          <p:cNvSpPr txBox="1"/>
          <p:nvPr/>
        </p:nvSpPr>
        <p:spPr>
          <a:xfrm>
            <a:off x="10735056" y="1920240"/>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16" name="Shape 14"/>
          <p:cNvSpPr/>
          <p:nvPr/>
        </p:nvSpPr>
        <p:spPr>
          <a:xfrm>
            <a:off x="566928" y="2487168"/>
            <a:ext cx="11055096" cy="566928"/>
          </a:xfrm>
          <a:prstGeom prst="rect">
            <a:avLst/>
          </a:prstGeom>
          <a:solidFill>
            <a:srgbClr val="FFFFFF"/>
          </a:solidFill>
          <a:ln w="6350">
            <a:solidFill>
              <a:srgbClr val="E4BEBA"/>
            </a:solidFill>
            <a:prstDash val="solid"/>
          </a:ln>
        </p:spPr>
      </p:sp>
      <p:sp>
        <p:nvSpPr>
          <p:cNvPr id="17" name="Text 15"/>
          <p:cNvSpPr txBox="1"/>
          <p:nvPr/>
        </p:nvSpPr>
        <p:spPr>
          <a:xfrm>
            <a:off x="676656" y="2487168"/>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TC-02</a:t>
            </a:r>
            <a:endParaRPr lang="en-US" sz="1150" dirty="0"/>
          </a:p>
        </p:txBody>
      </p:sp>
      <p:sp>
        <p:nvSpPr>
          <p:cNvPr id="18" name="Text 16"/>
          <p:cNvSpPr txBox="1"/>
          <p:nvPr/>
        </p:nvSpPr>
        <p:spPr>
          <a:xfrm>
            <a:off x="1645920" y="2487168"/>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Mobile</a:t>
            </a:r>
            <a:endParaRPr lang="en-US" sz="1150" dirty="0"/>
          </a:p>
        </p:txBody>
      </p:sp>
      <p:sp>
        <p:nvSpPr>
          <p:cNvPr id="19" name="Text 17"/>
          <p:cNvSpPr txBox="1"/>
          <p:nvPr/>
        </p:nvSpPr>
        <p:spPr>
          <a:xfrm>
            <a:off x="2834640" y="2487168"/>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Attempt a fourth photo</a:t>
            </a:r>
            <a:endParaRPr lang="en-US" sz="1150" dirty="0"/>
          </a:p>
        </p:txBody>
      </p:sp>
      <p:sp>
        <p:nvSpPr>
          <p:cNvPr id="20" name="Text 18"/>
          <p:cNvSpPr txBox="1"/>
          <p:nvPr/>
        </p:nvSpPr>
        <p:spPr>
          <a:xfrm>
            <a:off x="6620256" y="2487168"/>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Upload blocked, limit warning shown</a:t>
            </a:r>
            <a:endParaRPr lang="en-US" sz="1150" dirty="0"/>
          </a:p>
        </p:txBody>
      </p:sp>
      <p:sp>
        <p:nvSpPr>
          <p:cNvPr id="21" name="Text 19"/>
          <p:cNvSpPr txBox="1"/>
          <p:nvPr/>
        </p:nvSpPr>
        <p:spPr>
          <a:xfrm>
            <a:off x="10735056" y="2487168"/>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22" name="Shape 20"/>
          <p:cNvSpPr/>
          <p:nvPr/>
        </p:nvSpPr>
        <p:spPr>
          <a:xfrm>
            <a:off x="566928" y="3054096"/>
            <a:ext cx="11055096" cy="566928"/>
          </a:xfrm>
          <a:prstGeom prst="rect">
            <a:avLst/>
          </a:prstGeom>
          <a:solidFill>
            <a:srgbClr val="FCF6F5"/>
          </a:solidFill>
          <a:ln w="6350">
            <a:solidFill>
              <a:srgbClr val="E4BEBA"/>
            </a:solidFill>
            <a:prstDash val="solid"/>
          </a:ln>
        </p:spPr>
      </p:sp>
      <p:sp>
        <p:nvSpPr>
          <p:cNvPr id="23" name="Text 21"/>
          <p:cNvSpPr txBox="1"/>
          <p:nvPr/>
        </p:nvSpPr>
        <p:spPr>
          <a:xfrm>
            <a:off x="676656" y="3054096"/>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TC-03</a:t>
            </a:r>
            <a:endParaRPr lang="en-US" sz="1150" dirty="0"/>
          </a:p>
        </p:txBody>
      </p:sp>
      <p:sp>
        <p:nvSpPr>
          <p:cNvPr id="24" name="Text 22"/>
          <p:cNvSpPr txBox="1"/>
          <p:nvPr/>
        </p:nvSpPr>
        <p:spPr>
          <a:xfrm>
            <a:off x="1645920" y="3054096"/>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Web</a:t>
            </a:r>
            <a:endParaRPr lang="en-US" sz="1150" dirty="0"/>
          </a:p>
        </p:txBody>
      </p:sp>
      <p:sp>
        <p:nvSpPr>
          <p:cNvPr id="25" name="Text 23"/>
          <p:cNvSpPr txBox="1"/>
          <p:nvPr/>
        </p:nvSpPr>
        <p:spPr>
          <a:xfrm>
            <a:off x="2834640" y="3054096"/>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Restore session and guard routes</a:t>
            </a:r>
            <a:endParaRPr lang="en-US" sz="1150" dirty="0"/>
          </a:p>
        </p:txBody>
      </p:sp>
      <p:sp>
        <p:nvSpPr>
          <p:cNvPr id="26" name="Text 24"/>
          <p:cNvSpPr txBox="1"/>
          <p:nvPr/>
        </p:nvSpPr>
        <p:spPr>
          <a:xfrm>
            <a:off x="6620256" y="3054096"/>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Role read from database, unauthorised route redirected</a:t>
            </a:r>
            <a:endParaRPr lang="en-US" sz="1150" dirty="0"/>
          </a:p>
        </p:txBody>
      </p:sp>
      <p:sp>
        <p:nvSpPr>
          <p:cNvPr id="27" name="Text 25"/>
          <p:cNvSpPr txBox="1"/>
          <p:nvPr/>
        </p:nvSpPr>
        <p:spPr>
          <a:xfrm>
            <a:off x="10735056" y="3054096"/>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28" name="Shape 26"/>
          <p:cNvSpPr/>
          <p:nvPr/>
        </p:nvSpPr>
        <p:spPr>
          <a:xfrm>
            <a:off x="566928" y="3621024"/>
            <a:ext cx="11055096" cy="566928"/>
          </a:xfrm>
          <a:prstGeom prst="rect">
            <a:avLst/>
          </a:prstGeom>
          <a:solidFill>
            <a:srgbClr val="FFFFFF"/>
          </a:solidFill>
          <a:ln w="6350">
            <a:solidFill>
              <a:srgbClr val="E4BEBA"/>
            </a:solidFill>
            <a:prstDash val="solid"/>
          </a:ln>
        </p:spPr>
      </p:sp>
      <p:sp>
        <p:nvSpPr>
          <p:cNvPr id="29" name="Text 27"/>
          <p:cNvSpPr txBox="1"/>
          <p:nvPr/>
        </p:nvSpPr>
        <p:spPr>
          <a:xfrm>
            <a:off x="676656" y="3621024"/>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TC-04</a:t>
            </a:r>
            <a:endParaRPr lang="en-US" sz="1150" dirty="0"/>
          </a:p>
        </p:txBody>
      </p:sp>
      <p:sp>
        <p:nvSpPr>
          <p:cNvPr id="30" name="Text 28"/>
          <p:cNvSpPr txBox="1"/>
          <p:nvPr/>
        </p:nvSpPr>
        <p:spPr>
          <a:xfrm>
            <a:off x="1645920" y="3621024"/>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Database</a:t>
            </a:r>
            <a:endParaRPr lang="en-US" sz="1150" dirty="0"/>
          </a:p>
        </p:txBody>
      </p:sp>
      <p:sp>
        <p:nvSpPr>
          <p:cNvPr id="31" name="Text 29"/>
          <p:cNvSpPr txBox="1"/>
          <p:nvPr/>
        </p:nvSpPr>
        <p:spPr>
          <a:xfrm>
            <a:off x="2834640" y="3621024"/>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Hall admin queries the reports endpoint</a:t>
            </a:r>
            <a:endParaRPr lang="en-US" sz="1150" dirty="0"/>
          </a:p>
        </p:txBody>
      </p:sp>
      <p:sp>
        <p:nvSpPr>
          <p:cNvPr id="32" name="Text 30"/>
          <p:cNvSpPr txBox="1"/>
          <p:nvPr/>
        </p:nvSpPr>
        <p:spPr>
          <a:xfrm>
            <a:off x="6620256" y="3621024"/>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Only their own hall's rows returned</a:t>
            </a:r>
            <a:endParaRPr lang="en-US" sz="1150" dirty="0"/>
          </a:p>
        </p:txBody>
      </p:sp>
      <p:sp>
        <p:nvSpPr>
          <p:cNvPr id="33" name="Text 31"/>
          <p:cNvSpPr txBox="1"/>
          <p:nvPr/>
        </p:nvSpPr>
        <p:spPr>
          <a:xfrm>
            <a:off x="10735056" y="3621024"/>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34" name="Shape 32"/>
          <p:cNvSpPr/>
          <p:nvPr/>
        </p:nvSpPr>
        <p:spPr>
          <a:xfrm>
            <a:off x="566928" y="4187952"/>
            <a:ext cx="11055096" cy="566928"/>
          </a:xfrm>
          <a:prstGeom prst="rect">
            <a:avLst/>
          </a:prstGeom>
          <a:solidFill>
            <a:srgbClr val="FCF6F5"/>
          </a:solidFill>
          <a:ln w="6350">
            <a:solidFill>
              <a:srgbClr val="E4BEBA"/>
            </a:solidFill>
            <a:prstDash val="solid"/>
          </a:ln>
        </p:spPr>
      </p:sp>
      <p:sp>
        <p:nvSpPr>
          <p:cNvPr id="35" name="Text 33"/>
          <p:cNvSpPr txBox="1"/>
          <p:nvPr/>
        </p:nvSpPr>
        <p:spPr>
          <a:xfrm>
            <a:off x="676656" y="4187952"/>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TC-05</a:t>
            </a:r>
            <a:endParaRPr lang="en-US" sz="1150" dirty="0"/>
          </a:p>
        </p:txBody>
      </p:sp>
      <p:sp>
        <p:nvSpPr>
          <p:cNvPr id="36" name="Text 34"/>
          <p:cNvSpPr txBox="1"/>
          <p:nvPr/>
        </p:nvSpPr>
        <p:spPr>
          <a:xfrm>
            <a:off x="1645920" y="4187952"/>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Database</a:t>
            </a:r>
            <a:endParaRPr lang="en-US" sz="1150" dirty="0"/>
          </a:p>
        </p:txBody>
      </p:sp>
      <p:sp>
        <p:nvSpPr>
          <p:cNvPr id="37" name="Text 35"/>
          <p:cNvSpPr txBox="1"/>
          <p:nvPr/>
        </p:nvSpPr>
        <p:spPr>
          <a:xfrm>
            <a:off x="2834640" y="4187952"/>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Student edits own role or hall</a:t>
            </a:r>
            <a:endParaRPr lang="en-US" sz="1150" dirty="0"/>
          </a:p>
        </p:txBody>
      </p:sp>
      <p:sp>
        <p:nvSpPr>
          <p:cNvPr id="38" name="Text 36"/>
          <p:cNvSpPr txBox="1"/>
          <p:nvPr/>
        </p:nvSpPr>
        <p:spPr>
          <a:xfrm>
            <a:off x="6620256" y="4187952"/>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Rejected by trigger</a:t>
            </a:r>
            <a:endParaRPr lang="en-US" sz="1150" dirty="0"/>
          </a:p>
        </p:txBody>
      </p:sp>
      <p:sp>
        <p:nvSpPr>
          <p:cNvPr id="39" name="Text 37"/>
          <p:cNvSpPr txBox="1"/>
          <p:nvPr/>
        </p:nvSpPr>
        <p:spPr>
          <a:xfrm>
            <a:off x="10735056" y="4187952"/>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40" name="Shape 38"/>
          <p:cNvSpPr/>
          <p:nvPr/>
        </p:nvSpPr>
        <p:spPr>
          <a:xfrm>
            <a:off x="566928" y="4754880"/>
            <a:ext cx="11055096" cy="566928"/>
          </a:xfrm>
          <a:prstGeom prst="rect">
            <a:avLst/>
          </a:prstGeom>
          <a:solidFill>
            <a:srgbClr val="FFFFFF"/>
          </a:solidFill>
          <a:ln w="6350">
            <a:solidFill>
              <a:srgbClr val="E4BEBA"/>
            </a:solidFill>
            <a:prstDash val="solid"/>
          </a:ln>
        </p:spPr>
      </p:sp>
      <p:sp>
        <p:nvSpPr>
          <p:cNvPr id="41" name="Text 39"/>
          <p:cNvSpPr txBox="1"/>
          <p:nvPr/>
        </p:nvSpPr>
        <p:spPr>
          <a:xfrm>
            <a:off x="676656" y="4754880"/>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TC-06</a:t>
            </a:r>
            <a:endParaRPr lang="en-US" sz="1150" dirty="0"/>
          </a:p>
        </p:txBody>
      </p:sp>
      <p:sp>
        <p:nvSpPr>
          <p:cNvPr id="42" name="Text 40"/>
          <p:cNvSpPr txBox="1"/>
          <p:nvPr/>
        </p:nvSpPr>
        <p:spPr>
          <a:xfrm>
            <a:off x="1645920" y="4754880"/>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Database</a:t>
            </a:r>
            <a:endParaRPr lang="en-US" sz="1150" dirty="0"/>
          </a:p>
        </p:txBody>
      </p:sp>
      <p:sp>
        <p:nvSpPr>
          <p:cNvPr id="43" name="Text 41"/>
          <p:cNvSpPr txBox="1"/>
          <p:nvPr/>
        </p:nvSpPr>
        <p:spPr>
          <a:xfrm>
            <a:off x="2834640" y="4754880"/>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Report filed claiming another hall</a:t>
            </a:r>
            <a:endParaRPr lang="en-US" sz="1150" dirty="0"/>
          </a:p>
        </p:txBody>
      </p:sp>
      <p:sp>
        <p:nvSpPr>
          <p:cNvPr id="44" name="Text 42"/>
          <p:cNvSpPr txBox="1"/>
          <p:nvPr/>
        </p:nvSpPr>
        <p:spPr>
          <a:xfrm>
            <a:off x="6620256" y="4754880"/>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Rewritten to the student's registered address</a:t>
            </a:r>
            <a:endParaRPr lang="en-US" sz="1150" dirty="0"/>
          </a:p>
        </p:txBody>
      </p:sp>
      <p:sp>
        <p:nvSpPr>
          <p:cNvPr id="45" name="Text 43"/>
          <p:cNvSpPr txBox="1"/>
          <p:nvPr/>
        </p:nvSpPr>
        <p:spPr>
          <a:xfrm>
            <a:off x="10735056" y="4754880"/>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46" name="Shape 44"/>
          <p:cNvSpPr/>
          <p:nvPr/>
        </p:nvSpPr>
        <p:spPr>
          <a:xfrm>
            <a:off x="566928" y="5321808"/>
            <a:ext cx="11055096" cy="566928"/>
          </a:xfrm>
          <a:prstGeom prst="rect">
            <a:avLst/>
          </a:prstGeom>
          <a:solidFill>
            <a:srgbClr val="FCF6F5"/>
          </a:solidFill>
          <a:ln w="6350">
            <a:solidFill>
              <a:srgbClr val="E4BEBA"/>
            </a:solidFill>
            <a:prstDash val="solid"/>
          </a:ln>
        </p:spPr>
      </p:sp>
      <p:sp>
        <p:nvSpPr>
          <p:cNvPr id="47" name="Text 45"/>
          <p:cNvSpPr txBox="1"/>
          <p:nvPr/>
        </p:nvSpPr>
        <p:spPr>
          <a:xfrm>
            <a:off x="676656" y="5321808"/>
            <a:ext cx="731520" cy="566928"/>
          </a:xfrm>
          <a:prstGeom prst="rect">
            <a:avLst/>
          </a:prstGeom>
          <a:noFill/>
          <a:ln/>
        </p:spPr>
        <p:txBody>
          <a:bodyPr wrap="square" lIns="0" tIns="0" rIns="0" bIns="0" rtlCol="0" anchor="ctr"/>
          <a:lstStyle/>
          <a:p>
            <a:pPr indent="0" marL="0">
              <a:lnSpc>
                <a:spcPts val="1400"/>
              </a:lnSpc>
              <a:buNone/>
            </a:pPr>
            <a:r>
              <a:rPr lang="en-US" sz="1150" b="1" dirty="0">
                <a:solidFill>
                  <a:srgbClr val="AF101A"/>
                </a:solidFill>
                <a:latin typeface="Calibri" pitchFamily="34" charset="0"/>
                <a:ea typeface="Calibri" pitchFamily="34" charset="-122"/>
                <a:cs typeface="Calibri" pitchFamily="34" charset="-120"/>
              </a:rPr>
              <a:t>TC-07</a:t>
            </a:r>
            <a:endParaRPr lang="en-US" sz="1150" dirty="0"/>
          </a:p>
        </p:txBody>
      </p:sp>
      <p:sp>
        <p:nvSpPr>
          <p:cNvPr id="48" name="Text 46"/>
          <p:cNvSpPr txBox="1"/>
          <p:nvPr/>
        </p:nvSpPr>
        <p:spPr>
          <a:xfrm>
            <a:off x="1645920" y="5321808"/>
            <a:ext cx="95097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Pipeline</a:t>
            </a:r>
            <a:endParaRPr lang="en-US" sz="1150" dirty="0"/>
          </a:p>
        </p:txBody>
      </p:sp>
      <p:sp>
        <p:nvSpPr>
          <p:cNvPr id="49" name="Text 47"/>
          <p:cNvSpPr txBox="1"/>
          <p:nvPr/>
        </p:nvSpPr>
        <p:spPr>
          <a:xfrm>
            <a:off x="2834640" y="5321808"/>
            <a:ext cx="3547872"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Submit a report end to end</a:t>
            </a:r>
            <a:endParaRPr lang="en-US" sz="1150" dirty="0"/>
          </a:p>
        </p:txBody>
      </p:sp>
      <p:sp>
        <p:nvSpPr>
          <p:cNvPr id="50" name="Text 48"/>
          <p:cNvSpPr txBox="1"/>
          <p:nvPr/>
        </p:nvSpPr>
        <p:spPr>
          <a:xfrm>
            <a:off x="6620256" y="5321808"/>
            <a:ext cx="3877056" cy="566928"/>
          </a:xfrm>
          <a:prstGeom prst="rect">
            <a:avLst/>
          </a:prstGeom>
          <a:noFill/>
          <a:ln/>
        </p:spPr>
        <p:txBody>
          <a:bodyPr wrap="square" lIns="0" tIns="0" rIns="0" bIns="0" rtlCol="0" anchor="ctr"/>
          <a:lstStyle/>
          <a:p>
            <a:pPr indent="0" marL="0">
              <a:lnSpc>
                <a:spcPts val="1400"/>
              </a:lnSpc>
              <a:buNone/>
            </a:pPr>
            <a:r>
              <a:rPr lang="en-US" sz="1150" dirty="0">
                <a:solidFill>
                  <a:srgbClr val="1A1C1C"/>
                </a:solidFill>
                <a:latin typeface="Calibri" pitchFamily="34" charset="0"/>
                <a:ea typeface="Calibri" pitchFamily="34" charset="-122"/>
                <a:cs typeface="Calibri" pitchFamily="34" charset="-120"/>
              </a:rPr>
              <a:t>Alert rows written, email delivered, id logged</a:t>
            </a:r>
            <a:endParaRPr lang="en-US" sz="1150" dirty="0"/>
          </a:p>
        </p:txBody>
      </p:sp>
      <p:sp>
        <p:nvSpPr>
          <p:cNvPr id="51" name="Text 49"/>
          <p:cNvSpPr txBox="1"/>
          <p:nvPr/>
        </p:nvSpPr>
        <p:spPr>
          <a:xfrm>
            <a:off x="10735056" y="5321808"/>
            <a:ext cx="813816" cy="566928"/>
          </a:xfrm>
          <a:prstGeom prst="rect">
            <a:avLst/>
          </a:prstGeom>
          <a:noFill/>
          <a:ln/>
        </p:spPr>
        <p:txBody>
          <a:bodyPr wrap="square" lIns="0" tIns="0" rIns="0" bIns="0" rtlCol="0" anchor="ctr"/>
          <a:lstStyle/>
          <a:p>
            <a:pPr indent="0" marL="0">
              <a:lnSpc>
                <a:spcPts val="1400"/>
              </a:lnSpc>
              <a:buNone/>
            </a:pPr>
            <a:r>
              <a:rPr lang="en-US" sz="1150" b="1" dirty="0">
                <a:solidFill>
                  <a:srgbClr val="1B5E20"/>
                </a:solidFill>
                <a:latin typeface="Calibri" pitchFamily="34" charset="0"/>
                <a:ea typeface="Calibri" pitchFamily="34" charset="-122"/>
                <a:cs typeface="Calibri" pitchFamily="34" charset="-120"/>
              </a:rPr>
              <a:t>Passed</a:t>
            </a:r>
            <a:endParaRPr lang="en-US" sz="1150" dirty="0"/>
          </a:p>
        </p:txBody>
      </p:sp>
      <p:sp>
        <p:nvSpPr>
          <p:cNvPr id="52" name="Text 50"/>
          <p:cNvSpPr txBox="1"/>
          <p:nvPr/>
        </p:nvSpPr>
        <p:spPr>
          <a:xfrm>
            <a:off x="566928" y="5943600"/>
            <a:ext cx="11055096" cy="384048"/>
          </a:xfrm>
          <a:prstGeom prst="rect">
            <a:avLst/>
          </a:prstGeom>
          <a:noFill/>
          <a:ln/>
        </p:spPr>
        <p:txBody>
          <a:bodyPr wrap="square" lIns="0" tIns="0" rIns="0" bIns="0" rtlCol="0" anchor="ctr"/>
          <a:lstStyle/>
          <a:p>
            <a:pPr indent="0" marL="0">
              <a:buNone/>
            </a:pPr>
            <a:r>
              <a:rPr lang="en-US" sz="1200" i="1" dirty="0">
                <a:solidFill>
                  <a:srgbClr val="6B6360"/>
                </a:solidFill>
                <a:latin typeface="Calibri" pitchFamily="34" charset="0"/>
                <a:ea typeface="Calibri" pitchFamily="34" charset="-122"/>
                <a:cs typeface="Calibri" pitchFamily="34" charset="-120"/>
              </a:rPr>
              <a:t>Tests TC-04 to TC-06 were run by issuing queries as each role directly against the database, bypassing both clients — the interface cannot be trusted to prove its own boundaries.</a:t>
            </a:r>
            <a:endParaRPr lang="en-US" sz="1200" dirty="0"/>
          </a:p>
        </p:txBody>
      </p:sp>
      <p:sp>
        <p:nvSpPr>
          <p:cNvPr id="53" name="Text 51"/>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54" name="Text 52"/>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Findings</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What the built system demonstrates</a:t>
            </a:r>
            <a:endParaRPr lang="en-US" sz="1450" dirty="0"/>
          </a:p>
        </p:txBody>
      </p:sp>
      <p:sp>
        <p:nvSpPr>
          <p:cNvPr id="4" name="Shape 2"/>
          <p:cNvSpPr/>
          <p:nvPr/>
        </p:nvSpPr>
        <p:spPr>
          <a:xfrm>
            <a:off x="566928" y="1517904"/>
            <a:ext cx="3493008" cy="2286000"/>
          </a:xfrm>
          <a:prstGeom prst="roundRect">
            <a:avLst>
              <a:gd name="adj" fmla="val 3600"/>
            </a:avLst>
          </a:prstGeom>
          <a:solidFill>
            <a:srgbClr val="FCF6F5"/>
          </a:solidFill>
          <a:ln w="9525">
            <a:solidFill>
              <a:srgbClr val="E4BEBA"/>
            </a:solidFill>
            <a:prstDash val="solid"/>
          </a:ln>
        </p:spPr>
      </p:sp>
      <p:sp>
        <p:nvSpPr>
          <p:cNvPr id="5" name="Text 3"/>
          <p:cNvSpPr txBox="1"/>
          <p:nvPr/>
        </p:nvSpPr>
        <p:spPr>
          <a:xfrm>
            <a:off x="841248" y="1700784"/>
            <a:ext cx="2962656" cy="841248"/>
          </a:xfrm>
          <a:prstGeom prst="rect">
            <a:avLst/>
          </a:prstGeom>
          <a:noFill/>
          <a:ln/>
        </p:spPr>
        <p:txBody>
          <a:bodyPr wrap="square" lIns="0" tIns="0" rIns="0" bIns="0" rtlCol="0" anchor="ctr"/>
          <a:lstStyle/>
          <a:p>
            <a:pPr indent="0" marL="0">
              <a:buNone/>
            </a:pPr>
            <a:r>
              <a:rPr lang="en-US" sz="4600" b="1" dirty="0">
                <a:solidFill>
                  <a:srgbClr val="AF101A"/>
                </a:solidFill>
                <a:latin typeface="Cambria" pitchFamily="34" charset="0"/>
                <a:ea typeface="Cambria" pitchFamily="34" charset="-122"/>
                <a:cs typeface="Cambria" pitchFamily="34" charset="-120"/>
              </a:rPr>
              <a:t>100%</a:t>
            </a:r>
            <a:endParaRPr lang="en-US" sz="4600" dirty="0"/>
          </a:p>
        </p:txBody>
      </p:sp>
      <p:sp>
        <p:nvSpPr>
          <p:cNvPr id="6" name="Text 4"/>
          <p:cNvSpPr txBox="1"/>
          <p:nvPr/>
        </p:nvSpPr>
        <p:spPr>
          <a:xfrm>
            <a:off x="841248" y="2523744"/>
            <a:ext cx="2962656" cy="274320"/>
          </a:xfrm>
          <a:prstGeom prst="rect">
            <a:avLst/>
          </a:prstGeom>
          <a:noFill/>
          <a:ln/>
        </p:spPr>
        <p:txBody>
          <a:bodyPr wrap="square" lIns="0" tIns="0" rIns="0" bIns="0" rtlCol="0" anchor="ctr"/>
          <a:lstStyle/>
          <a:p>
            <a:pPr indent="0" marL="0">
              <a:buNone/>
            </a:pPr>
            <a:r>
              <a:rPr lang="en-US" sz="1300" b="1" dirty="0">
                <a:solidFill>
                  <a:srgbClr val="1A1C1C"/>
                </a:solidFill>
                <a:latin typeface="Calibri" pitchFamily="34" charset="0"/>
                <a:ea typeface="Calibri" pitchFamily="34" charset="-122"/>
                <a:cs typeface="Calibri" pitchFamily="34" charset="-120"/>
              </a:rPr>
              <a:t>paperless</a:t>
            </a:r>
            <a:endParaRPr lang="en-US" sz="1300" dirty="0"/>
          </a:p>
        </p:txBody>
      </p:sp>
      <p:sp>
        <p:nvSpPr>
          <p:cNvPr id="7" name="Text 5"/>
          <p:cNvSpPr txBox="1"/>
          <p:nvPr/>
        </p:nvSpPr>
        <p:spPr>
          <a:xfrm>
            <a:off x="841248" y="2852928"/>
            <a:ext cx="2980944" cy="859536"/>
          </a:xfrm>
          <a:prstGeom prst="rect">
            <a:avLst/>
          </a:prstGeom>
          <a:noFill/>
          <a:ln/>
        </p:spPr>
        <p:txBody>
          <a:bodyPr wrap="square" lIns="0" tIns="0" rIns="0" bIns="0" rtlCol="0" anchor="t"/>
          <a:lstStyle/>
          <a:p>
            <a:pPr indent="0" marL="0">
              <a:lnSpc>
                <a:spcPts val="1400"/>
              </a:lnSpc>
              <a:buNone/>
            </a:pPr>
            <a:r>
              <a:rPr lang="en-US" sz="1100" dirty="0">
                <a:solidFill>
                  <a:srgbClr val="6B6360"/>
                </a:solidFill>
                <a:latin typeface="Calibri" pitchFamily="34" charset="0"/>
                <a:ea typeface="Calibri" pitchFamily="34" charset="-122"/>
                <a:cs typeface="Calibri" pitchFamily="34" charset="-120"/>
              </a:rPr>
              <a:t>Reports are created digitally and carry a reference number from the instant of submission — no transcription step, nothing to lose.</a:t>
            </a:r>
            <a:endParaRPr lang="en-US" sz="1100" dirty="0"/>
          </a:p>
        </p:txBody>
      </p:sp>
      <p:sp>
        <p:nvSpPr>
          <p:cNvPr id="8" name="Shape 6"/>
          <p:cNvSpPr/>
          <p:nvPr/>
        </p:nvSpPr>
        <p:spPr>
          <a:xfrm>
            <a:off x="4279392" y="1517904"/>
            <a:ext cx="3493008" cy="2286000"/>
          </a:xfrm>
          <a:prstGeom prst="roundRect">
            <a:avLst>
              <a:gd name="adj" fmla="val 3600"/>
            </a:avLst>
          </a:prstGeom>
          <a:solidFill>
            <a:srgbClr val="FFFFFF"/>
          </a:solidFill>
          <a:ln w="9525">
            <a:solidFill>
              <a:srgbClr val="E4BEBA"/>
            </a:solidFill>
            <a:prstDash val="solid"/>
          </a:ln>
        </p:spPr>
      </p:sp>
      <p:sp>
        <p:nvSpPr>
          <p:cNvPr id="9" name="Text 7"/>
          <p:cNvSpPr txBox="1"/>
          <p:nvPr/>
        </p:nvSpPr>
        <p:spPr>
          <a:xfrm>
            <a:off x="4553712" y="1700784"/>
            <a:ext cx="2962656" cy="841248"/>
          </a:xfrm>
          <a:prstGeom prst="rect">
            <a:avLst/>
          </a:prstGeom>
          <a:noFill/>
          <a:ln/>
        </p:spPr>
        <p:txBody>
          <a:bodyPr wrap="square" lIns="0" tIns="0" rIns="0" bIns="0" rtlCol="0" anchor="ctr"/>
          <a:lstStyle/>
          <a:p>
            <a:pPr indent="0" marL="0">
              <a:buNone/>
            </a:pPr>
            <a:r>
              <a:rPr lang="en-US" sz="4600" b="1" dirty="0">
                <a:solidFill>
                  <a:srgbClr val="AF101A"/>
                </a:solidFill>
                <a:latin typeface="Cambria" pitchFamily="34" charset="0"/>
                <a:ea typeface="Cambria" pitchFamily="34" charset="-122"/>
                <a:cs typeface="Cambria" pitchFamily="34" charset="-120"/>
              </a:rPr>
              <a:t>6</a:t>
            </a:r>
            <a:endParaRPr lang="en-US" sz="4600" dirty="0"/>
          </a:p>
        </p:txBody>
      </p:sp>
      <p:sp>
        <p:nvSpPr>
          <p:cNvPr id="10" name="Text 8"/>
          <p:cNvSpPr txBox="1"/>
          <p:nvPr/>
        </p:nvSpPr>
        <p:spPr>
          <a:xfrm>
            <a:off x="4553712" y="2523744"/>
            <a:ext cx="2962656" cy="274320"/>
          </a:xfrm>
          <a:prstGeom prst="rect">
            <a:avLst/>
          </a:prstGeom>
          <a:noFill/>
          <a:ln/>
        </p:spPr>
        <p:txBody>
          <a:bodyPr wrap="square" lIns="0" tIns="0" rIns="0" bIns="0" rtlCol="0" anchor="ctr"/>
          <a:lstStyle/>
          <a:p>
            <a:pPr indent="0" marL="0">
              <a:buNone/>
            </a:pPr>
            <a:r>
              <a:rPr lang="en-US" sz="1300" b="1" dirty="0">
                <a:solidFill>
                  <a:srgbClr val="1A1C1C"/>
                </a:solidFill>
                <a:latin typeface="Calibri" pitchFamily="34" charset="0"/>
                <a:ea typeface="Calibri" pitchFamily="34" charset="-122"/>
                <a:cs typeface="Calibri" pitchFamily="34" charset="-120"/>
              </a:rPr>
              <a:t>halls isolated</a:t>
            </a:r>
            <a:endParaRPr lang="en-US" sz="1300" dirty="0"/>
          </a:p>
        </p:txBody>
      </p:sp>
      <p:sp>
        <p:nvSpPr>
          <p:cNvPr id="11" name="Text 9"/>
          <p:cNvSpPr txBox="1"/>
          <p:nvPr/>
        </p:nvSpPr>
        <p:spPr>
          <a:xfrm>
            <a:off x="4553712" y="2852928"/>
            <a:ext cx="2980944" cy="859536"/>
          </a:xfrm>
          <a:prstGeom prst="rect">
            <a:avLst/>
          </a:prstGeom>
          <a:noFill/>
          <a:ln/>
        </p:spPr>
        <p:txBody>
          <a:bodyPr wrap="square" lIns="0" tIns="0" rIns="0" bIns="0" rtlCol="0" anchor="t"/>
          <a:lstStyle/>
          <a:p>
            <a:pPr indent="0" marL="0">
              <a:lnSpc>
                <a:spcPts val="1400"/>
              </a:lnSpc>
              <a:buNone/>
            </a:pPr>
            <a:r>
              <a:rPr lang="en-US" sz="1100" dirty="0">
                <a:solidFill>
                  <a:srgbClr val="6B6360"/>
                </a:solidFill>
                <a:latin typeface="Calibri" pitchFamily="34" charset="0"/>
                <a:ea typeface="Calibri" pitchFamily="34" charset="-122"/>
                <a:cs typeface="Calibri" pitchFamily="34" charset="-120"/>
              </a:rPr>
              <a:t>Each hall admin is confined to their own hall by the database itself, not by which menu items the interface renders.</a:t>
            </a:r>
            <a:endParaRPr lang="en-US" sz="1100" dirty="0"/>
          </a:p>
        </p:txBody>
      </p:sp>
      <p:sp>
        <p:nvSpPr>
          <p:cNvPr id="12" name="Shape 10"/>
          <p:cNvSpPr/>
          <p:nvPr/>
        </p:nvSpPr>
        <p:spPr>
          <a:xfrm>
            <a:off x="7991856" y="1517904"/>
            <a:ext cx="3493008" cy="2286000"/>
          </a:xfrm>
          <a:prstGeom prst="roundRect">
            <a:avLst>
              <a:gd name="adj" fmla="val 3600"/>
            </a:avLst>
          </a:prstGeom>
          <a:solidFill>
            <a:srgbClr val="FFFFFF"/>
          </a:solidFill>
          <a:ln w="9525">
            <a:solidFill>
              <a:srgbClr val="E4BEBA"/>
            </a:solidFill>
            <a:prstDash val="solid"/>
          </a:ln>
        </p:spPr>
      </p:sp>
      <p:sp>
        <p:nvSpPr>
          <p:cNvPr id="13" name="Text 11"/>
          <p:cNvSpPr txBox="1"/>
          <p:nvPr/>
        </p:nvSpPr>
        <p:spPr>
          <a:xfrm>
            <a:off x="8266176" y="1700784"/>
            <a:ext cx="2962656" cy="841248"/>
          </a:xfrm>
          <a:prstGeom prst="rect">
            <a:avLst/>
          </a:prstGeom>
          <a:noFill/>
          <a:ln/>
        </p:spPr>
        <p:txBody>
          <a:bodyPr wrap="square" lIns="0" tIns="0" rIns="0" bIns="0" rtlCol="0" anchor="ctr"/>
          <a:lstStyle/>
          <a:p>
            <a:pPr indent="0" marL="0">
              <a:buNone/>
            </a:pPr>
            <a:r>
              <a:rPr lang="en-US" sz="4600" b="1" dirty="0">
                <a:solidFill>
                  <a:srgbClr val="AF101A"/>
                </a:solidFill>
                <a:latin typeface="Cambria" pitchFamily="34" charset="0"/>
                <a:ea typeface="Cambria" pitchFamily="34" charset="-122"/>
                <a:cs typeface="Cambria" pitchFamily="34" charset="-120"/>
              </a:rPr>
              <a:t>2</a:t>
            </a:r>
            <a:endParaRPr lang="en-US" sz="4600" dirty="0"/>
          </a:p>
        </p:txBody>
      </p:sp>
      <p:sp>
        <p:nvSpPr>
          <p:cNvPr id="14" name="Text 12"/>
          <p:cNvSpPr txBox="1"/>
          <p:nvPr/>
        </p:nvSpPr>
        <p:spPr>
          <a:xfrm>
            <a:off x="8266176" y="2523744"/>
            <a:ext cx="2962656" cy="274320"/>
          </a:xfrm>
          <a:prstGeom prst="rect">
            <a:avLst/>
          </a:prstGeom>
          <a:noFill/>
          <a:ln/>
        </p:spPr>
        <p:txBody>
          <a:bodyPr wrap="square" lIns="0" tIns="0" rIns="0" bIns="0" rtlCol="0" anchor="ctr"/>
          <a:lstStyle/>
          <a:p>
            <a:pPr indent="0" marL="0">
              <a:buNone/>
            </a:pPr>
            <a:r>
              <a:rPr lang="en-US" sz="1300" b="1" dirty="0">
                <a:solidFill>
                  <a:srgbClr val="1A1C1C"/>
                </a:solidFill>
                <a:latin typeface="Calibri" pitchFamily="34" charset="0"/>
                <a:ea typeface="Calibri" pitchFamily="34" charset="-122"/>
                <a:cs typeface="Calibri" pitchFamily="34" charset="-120"/>
              </a:rPr>
              <a:t>clients, 1 rulebook</a:t>
            </a:r>
            <a:endParaRPr lang="en-US" sz="1300" dirty="0"/>
          </a:p>
        </p:txBody>
      </p:sp>
      <p:sp>
        <p:nvSpPr>
          <p:cNvPr id="15" name="Text 13"/>
          <p:cNvSpPr txBox="1"/>
          <p:nvPr/>
        </p:nvSpPr>
        <p:spPr>
          <a:xfrm>
            <a:off x="8266176" y="2852928"/>
            <a:ext cx="2980944" cy="859536"/>
          </a:xfrm>
          <a:prstGeom prst="rect">
            <a:avLst/>
          </a:prstGeom>
          <a:noFill/>
          <a:ln/>
        </p:spPr>
        <p:txBody>
          <a:bodyPr wrap="square" lIns="0" tIns="0" rIns="0" bIns="0" rtlCol="0" anchor="t"/>
          <a:lstStyle/>
          <a:p>
            <a:pPr indent="0" marL="0">
              <a:lnSpc>
                <a:spcPts val="1400"/>
              </a:lnSpc>
              <a:buNone/>
            </a:pPr>
            <a:r>
              <a:rPr lang="en-US" sz="1100" dirty="0">
                <a:solidFill>
                  <a:srgbClr val="6B6360"/>
                </a:solidFill>
                <a:latin typeface="Calibri" pitchFamily="34" charset="0"/>
                <a:ea typeface="Calibri" pitchFamily="34" charset="-122"/>
                <a:cs typeface="Calibri" pitchFamily="34" charset="-120"/>
              </a:rPr>
              <a:t>Mobile and web enforce the same access rules because the rules live below both of them, in PostgreSQL.</a:t>
            </a:r>
            <a:endParaRPr lang="en-US" sz="1100" dirty="0"/>
          </a:p>
        </p:txBody>
      </p:sp>
      <p:sp>
        <p:nvSpPr>
          <p:cNvPr id="16" name="Shape 14"/>
          <p:cNvSpPr/>
          <p:nvPr/>
        </p:nvSpPr>
        <p:spPr>
          <a:xfrm>
            <a:off x="621792" y="4187952"/>
            <a:ext cx="146304" cy="146304"/>
          </a:xfrm>
          <a:prstGeom prst="ellipse">
            <a:avLst/>
          </a:prstGeom>
          <a:solidFill>
            <a:srgbClr val="F5C518"/>
          </a:solidFill>
          <a:ln w="12700">
            <a:solidFill>
              <a:srgbClr val="F5C518"/>
            </a:solidFill>
            <a:prstDash val="solid"/>
          </a:ln>
        </p:spPr>
      </p:sp>
      <p:sp>
        <p:nvSpPr>
          <p:cNvPr id="17" name="Text 15"/>
          <p:cNvSpPr txBox="1"/>
          <p:nvPr/>
        </p:nvSpPr>
        <p:spPr>
          <a:xfrm>
            <a:off x="950976" y="4041648"/>
            <a:ext cx="3657600" cy="457200"/>
          </a:xfrm>
          <a:prstGeom prst="rect">
            <a:avLst/>
          </a:prstGeom>
          <a:noFill/>
          <a:ln/>
        </p:spPr>
        <p:txBody>
          <a:bodyPr wrap="square" lIns="0" tIns="0" rIns="0" bIns="0" rtlCol="0" anchor="ctr"/>
          <a:lstStyle/>
          <a:p>
            <a:pPr indent="0" marL="0">
              <a:lnSpc>
                <a:spcPts val="1600"/>
              </a:lnSpc>
              <a:buNone/>
            </a:pPr>
            <a:r>
              <a:rPr lang="en-US" sz="1300" b="1" dirty="0">
                <a:solidFill>
                  <a:srgbClr val="1A1C1C"/>
                </a:solidFill>
                <a:latin typeface="Calibri" pitchFamily="34" charset="0"/>
                <a:ea typeface="Calibri" pitchFamily="34" charset="-122"/>
                <a:cs typeface="Calibri" pitchFamily="34" charset="-120"/>
              </a:rPr>
              <a:t>Visual evidence changes the repair</a:t>
            </a:r>
            <a:endParaRPr lang="en-US" sz="1300" dirty="0"/>
          </a:p>
        </p:txBody>
      </p:sp>
      <p:sp>
        <p:nvSpPr>
          <p:cNvPr id="18" name="Text 16"/>
          <p:cNvSpPr txBox="1"/>
          <p:nvPr/>
        </p:nvSpPr>
        <p:spPr>
          <a:xfrm>
            <a:off x="4681728" y="4041648"/>
            <a:ext cx="6858000" cy="566928"/>
          </a:xfrm>
          <a:prstGeom prst="rect">
            <a:avLst/>
          </a:prstGeom>
          <a:noFill/>
          <a:ln/>
        </p:spPr>
        <p:txBody>
          <a:bodyPr wrap="square" lIns="0" tIns="0" rIns="0" bIns="0" rtlCol="0" anchor="t"/>
          <a:lstStyle/>
          <a:p>
            <a:pPr indent="0" marL="0">
              <a:lnSpc>
                <a:spcPts val="1600"/>
              </a:lnSpc>
              <a:buNone/>
            </a:pPr>
            <a:r>
              <a:rPr lang="en-US" sz="1200" dirty="0">
                <a:solidFill>
                  <a:srgbClr val="6B6360"/>
                </a:solidFill>
                <a:latin typeface="Calibri" pitchFamily="34" charset="0"/>
                <a:ea typeface="Calibri" pitchFamily="34" charset="-122"/>
                <a:cs typeface="Calibri" pitchFamily="34" charset="-120"/>
              </a:rPr>
              <a:t>A photo attached at reporting time lets a technician arrive with the right part, removing the diagnostic first visit.</a:t>
            </a:r>
            <a:endParaRPr lang="en-US" sz="1200" dirty="0"/>
          </a:p>
        </p:txBody>
      </p:sp>
      <p:sp>
        <p:nvSpPr>
          <p:cNvPr id="19" name="Shape 17"/>
          <p:cNvSpPr/>
          <p:nvPr/>
        </p:nvSpPr>
        <p:spPr>
          <a:xfrm>
            <a:off x="621792" y="4901184"/>
            <a:ext cx="146304" cy="146304"/>
          </a:xfrm>
          <a:prstGeom prst="ellipse">
            <a:avLst/>
          </a:prstGeom>
          <a:solidFill>
            <a:srgbClr val="F5C518"/>
          </a:solidFill>
          <a:ln w="12700">
            <a:solidFill>
              <a:srgbClr val="F5C518"/>
            </a:solidFill>
            <a:prstDash val="solid"/>
          </a:ln>
        </p:spPr>
      </p:sp>
      <p:sp>
        <p:nvSpPr>
          <p:cNvPr id="20" name="Text 18"/>
          <p:cNvSpPr txBox="1"/>
          <p:nvPr/>
        </p:nvSpPr>
        <p:spPr>
          <a:xfrm>
            <a:off x="950976" y="4754880"/>
            <a:ext cx="3657600" cy="457200"/>
          </a:xfrm>
          <a:prstGeom prst="rect">
            <a:avLst/>
          </a:prstGeom>
          <a:noFill/>
          <a:ln/>
        </p:spPr>
        <p:txBody>
          <a:bodyPr wrap="square" lIns="0" tIns="0" rIns="0" bIns="0" rtlCol="0" anchor="ctr"/>
          <a:lstStyle/>
          <a:p>
            <a:pPr indent="0" marL="0">
              <a:lnSpc>
                <a:spcPts val="1600"/>
              </a:lnSpc>
              <a:buNone/>
            </a:pPr>
            <a:r>
              <a:rPr lang="en-US" sz="1300" b="1" dirty="0">
                <a:solidFill>
                  <a:srgbClr val="1A1C1C"/>
                </a:solidFill>
                <a:latin typeface="Calibri" pitchFamily="34" charset="0"/>
                <a:ea typeface="Calibri" pitchFamily="34" charset="-122"/>
                <a:cs typeface="Calibri" pitchFamily="34" charset="-120"/>
              </a:rPr>
              <a:t>Interfaces are not boundaries</a:t>
            </a:r>
            <a:endParaRPr lang="en-US" sz="1300" dirty="0"/>
          </a:p>
        </p:txBody>
      </p:sp>
      <p:sp>
        <p:nvSpPr>
          <p:cNvPr id="21" name="Text 19"/>
          <p:cNvSpPr txBox="1"/>
          <p:nvPr/>
        </p:nvSpPr>
        <p:spPr>
          <a:xfrm>
            <a:off x="4681728" y="4754880"/>
            <a:ext cx="6858000" cy="566928"/>
          </a:xfrm>
          <a:prstGeom prst="rect">
            <a:avLst/>
          </a:prstGeom>
          <a:noFill/>
          <a:ln/>
        </p:spPr>
        <p:txBody>
          <a:bodyPr wrap="square" lIns="0" tIns="0" rIns="0" bIns="0" rtlCol="0" anchor="t"/>
          <a:lstStyle/>
          <a:p>
            <a:pPr indent="0" marL="0">
              <a:lnSpc>
                <a:spcPts val="1600"/>
              </a:lnSpc>
              <a:buNone/>
            </a:pPr>
            <a:r>
              <a:rPr lang="en-US" sz="1200" dirty="0">
                <a:solidFill>
                  <a:srgbClr val="6B6360"/>
                </a:solidFill>
                <a:latin typeface="Calibri" pitchFamily="34" charset="0"/>
                <a:ea typeface="Calibri" pitchFamily="34" charset="-122"/>
                <a:cs typeface="Calibri" pitchFamily="34" charset="-120"/>
              </a:rPr>
              <a:t>Hiding a page is not access control. Every rule that matters had to be moved into the database before it was real.</a:t>
            </a:r>
            <a:endParaRPr lang="en-US" sz="1200" dirty="0"/>
          </a:p>
        </p:txBody>
      </p:sp>
      <p:sp>
        <p:nvSpPr>
          <p:cNvPr id="22" name="Shape 20"/>
          <p:cNvSpPr/>
          <p:nvPr/>
        </p:nvSpPr>
        <p:spPr>
          <a:xfrm>
            <a:off x="621792" y="5614416"/>
            <a:ext cx="146304" cy="146304"/>
          </a:xfrm>
          <a:prstGeom prst="ellipse">
            <a:avLst/>
          </a:prstGeom>
          <a:solidFill>
            <a:srgbClr val="F5C518"/>
          </a:solidFill>
          <a:ln w="12700">
            <a:solidFill>
              <a:srgbClr val="F5C518"/>
            </a:solidFill>
            <a:prstDash val="solid"/>
          </a:ln>
        </p:spPr>
      </p:sp>
      <p:sp>
        <p:nvSpPr>
          <p:cNvPr id="23" name="Text 21"/>
          <p:cNvSpPr txBox="1"/>
          <p:nvPr/>
        </p:nvSpPr>
        <p:spPr>
          <a:xfrm>
            <a:off x="950976" y="5468112"/>
            <a:ext cx="3657600" cy="457200"/>
          </a:xfrm>
          <a:prstGeom prst="rect">
            <a:avLst/>
          </a:prstGeom>
          <a:noFill/>
          <a:ln/>
        </p:spPr>
        <p:txBody>
          <a:bodyPr wrap="square" lIns="0" tIns="0" rIns="0" bIns="0" rtlCol="0" anchor="ctr"/>
          <a:lstStyle/>
          <a:p>
            <a:pPr indent="0" marL="0">
              <a:lnSpc>
                <a:spcPts val="1600"/>
              </a:lnSpc>
              <a:buNone/>
            </a:pPr>
            <a:r>
              <a:rPr lang="en-US" sz="1300" b="1" dirty="0">
                <a:solidFill>
                  <a:srgbClr val="1A1C1C"/>
                </a:solidFill>
                <a:latin typeface="Calibri" pitchFamily="34" charset="0"/>
                <a:ea typeface="Calibri" pitchFamily="34" charset="-122"/>
                <a:cs typeface="Calibri" pitchFamily="34" charset="-120"/>
              </a:rPr>
              <a:t>Audit what is deployed, not what was written</a:t>
            </a:r>
            <a:endParaRPr lang="en-US" sz="1300" dirty="0"/>
          </a:p>
        </p:txBody>
      </p:sp>
      <p:sp>
        <p:nvSpPr>
          <p:cNvPr id="24" name="Text 22"/>
          <p:cNvSpPr txBox="1"/>
          <p:nvPr/>
        </p:nvSpPr>
        <p:spPr>
          <a:xfrm>
            <a:off x="4681728" y="5468112"/>
            <a:ext cx="6858000" cy="566928"/>
          </a:xfrm>
          <a:prstGeom prst="rect">
            <a:avLst/>
          </a:prstGeom>
          <a:noFill/>
          <a:ln/>
        </p:spPr>
        <p:txBody>
          <a:bodyPr wrap="square" lIns="0" tIns="0" rIns="0" bIns="0" rtlCol="0" anchor="t"/>
          <a:lstStyle/>
          <a:p>
            <a:pPr indent="0" marL="0">
              <a:lnSpc>
                <a:spcPts val="1600"/>
              </a:lnSpc>
              <a:buNone/>
            </a:pPr>
            <a:r>
              <a:rPr lang="en-US" sz="1200" dirty="0">
                <a:solidFill>
                  <a:srgbClr val="6B6360"/>
                </a:solidFill>
                <a:latin typeface="Calibri" pitchFamily="34" charset="0"/>
                <a:ea typeface="Calibri" pitchFamily="34" charset="-122"/>
                <a:cs typeface="Calibri" pitchFamily="34" charset="-120"/>
              </a:rPr>
              <a:t>The most serious flaw found was in a helper function nobody had reviewed since it was added.</a:t>
            </a:r>
            <a:endParaRPr lang="en-US" sz="1200" dirty="0"/>
          </a:p>
        </p:txBody>
      </p:sp>
      <p:sp>
        <p:nvSpPr>
          <p:cNvPr id="25" name="Text 23"/>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26" name="Text 24"/>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5096" cy="566928"/>
          </a:xfrm>
          <a:prstGeom prst="rect">
            <a:avLst/>
          </a:prstGeom>
          <a:noFill/>
          <a:ln/>
        </p:spPr>
        <p:txBody>
          <a:bodyPr wrap="square" lIns="0" tIns="0" rIns="0" bIns="0" rtlCol="0" anchor="ctr"/>
          <a:lstStyle/>
          <a:p>
            <a:pPr indent="0" marL="0">
              <a:buNone/>
            </a:pPr>
            <a:r>
              <a:rPr lang="en-US" sz="3400" b="1" dirty="0">
                <a:solidFill>
                  <a:srgbClr val="1A1C1C"/>
                </a:solidFill>
                <a:latin typeface="Cambria" pitchFamily="34" charset="0"/>
                <a:ea typeface="Cambria" pitchFamily="34" charset="-122"/>
                <a:cs typeface="Cambria" pitchFamily="34" charset="-120"/>
              </a:rPr>
              <a:t>Limitations and Future Work</a:t>
            </a:r>
            <a:endParaRPr lang="en-US" sz="3400" dirty="0"/>
          </a:p>
        </p:txBody>
      </p:sp>
      <p:sp>
        <p:nvSpPr>
          <p:cNvPr id="3" name="Text 1"/>
          <p:cNvSpPr txBox="1"/>
          <p:nvPr/>
        </p:nvSpPr>
        <p:spPr>
          <a:xfrm>
            <a:off x="566928" y="969264"/>
            <a:ext cx="10689336" cy="329184"/>
          </a:xfrm>
          <a:prstGeom prst="rect">
            <a:avLst/>
          </a:prstGeom>
          <a:noFill/>
          <a:ln/>
        </p:spPr>
        <p:txBody>
          <a:bodyPr wrap="square" lIns="0" tIns="0" rIns="0" bIns="0" rtlCol="0" anchor="ctr"/>
          <a:lstStyle/>
          <a:p>
            <a:pPr indent="0" marL="0">
              <a:buNone/>
            </a:pPr>
            <a:r>
              <a:rPr lang="en-US" sz="1450" dirty="0">
                <a:solidFill>
                  <a:srgbClr val="6B6360"/>
                </a:solidFill>
                <a:latin typeface="Calibri" pitchFamily="34" charset="0"/>
                <a:ea typeface="Calibri" pitchFamily="34" charset="-122"/>
                <a:cs typeface="Calibri" pitchFamily="34" charset="-120"/>
              </a:rPr>
              <a:t>Stated plainly — each item is known, located and scoped</a:t>
            </a:r>
            <a:endParaRPr lang="en-US" sz="1450" dirty="0"/>
          </a:p>
        </p:txBody>
      </p:sp>
      <p:sp>
        <p:nvSpPr>
          <p:cNvPr id="4" name="Shape 2"/>
          <p:cNvSpPr/>
          <p:nvPr/>
        </p:nvSpPr>
        <p:spPr>
          <a:xfrm>
            <a:off x="566928" y="1517904"/>
            <a:ext cx="5394960" cy="3785616"/>
          </a:xfrm>
          <a:prstGeom prst="roundRect">
            <a:avLst>
              <a:gd name="adj" fmla="val 2174"/>
            </a:avLst>
          </a:prstGeom>
          <a:solidFill>
            <a:srgbClr val="FCF6F5"/>
          </a:solidFill>
          <a:ln w="9525">
            <a:solidFill>
              <a:srgbClr val="E4BEBA"/>
            </a:solidFill>
            <a:prstDash val="solid"/>
          </a:ln>
        </p:spPr>
      </p:sp>
      <p:sp>
        <p:nvSpPr>
          <p:cNvPr id="5" name="Text 3"/>
          <p:cNvSpPr txBox="1"/>
          <p:nvPr/>
        </p:nvSpPr>
        <p:spPr>
          <a:xfrm>
            <a:off x="877824" y="1755648"/>
            <a:ext cx="4754880" cy="365760"/>
          </a:xfrm>
          <a:prstGeom prst="rect">
            <a:avLst/>
          </a:prstGeom>
          <a:noFill/>
          <a:ln/>
        </p:spPr>
        <p:txBody>
          <a:bodyPr wrap="square" lIns="0" tIns="0" rIns="0" bIns="0" rtlCol="0" anchor="ctr"/>
          <a:lstStyle/>
          <a:p>
            <a:pPr indent="0" marL="0">
              <a:buNone/>
            </a:pPr>
            <a:r>
              <a:rPr lang="en-US" sz="2000" b="1" dirty="0">
                <a:solidFill>
                  <a:srgbClr val="AF101A"/>
                </a:solidFill>
                <a:latin typeface="Cambria" pitchFamily="34" charset="0"/>
                <a:ea typeface="Cambria" pitchFamily="34" charset="-122"/>
                <a:cs typeface="Cambria" pitchFamily="34" charset="-120"/>
              </a:rPr>
              <a:t>Current limitations</a:t>
            </a:r>
            <a:endParaRPr lang="en-US" sz="2000" dirty="0"/>
          </a:p>
        </p:txBody>
      </p:sp>
      <p:sp>
        <p:nvSpPr>
          <p:cNvPr id="6" name="Text 4"/>
          <p:cNvSpPr txBox="1"/>
          <p:nvPr/>
        </p:nvSpPr>
        <p:spPr>
          <a:xfrm>
            <a:off x="877824" y="2231136"/>
            <a:ext cx="4791456" cy="3291840"/>
          </a:xfrm>
          <a:prstGeom prst="rect">
            <a:avLst/>
          </a:prstGeom>
          <a:noFill/>
          <a:ln/>
        </p:spPr>
        <p:txBody>
          <a:bodyPr wrap="square" lIns="0" tIns="0" rIns="0" bIns="0" rtlCol="0" anchor="t"/>
          <a:lstStyle/>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Push notifications are not yet delivering — the build is missing its EAS project identifier, so no device token is ever registered.</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Technician accounts are designed but not implemented; dispatch currently ends at the hall admin.</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Student–technician chat exists as a screen without a live message backend.</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Large video attachments are uploaded uncompressed.</a:t>
            </a:r>
            <a:endParaRPr lang="en-US" sz="1250" dirty="0"/>
          </a:p>
        </p:txBody>
      </p:sp>
      <p:sp>
        <p:nvSpPr>
          <p:cNvPr id="7" name="Shape 5"/>
          <p:cNvSpPr/>
          <p:nvPr/>
        </p:nvSpPr>
        <p:spPr>
          <a:xfrm>
            <a:off x="6181344" y="1517904"/>
            <a:ext cx="5440680" cy="3785616"/>
          </a:xfrm>
          <a:prstGeom prst="roundRect">
            <a:avLst>
              <a:gd name="adj" fmla="val 2174"/>
            </a:avLst>
          </a:prstGeom>
          <a:solidFill>
            <a:srgbClr val="FFFFFF"/>
          </a:solidFill>
          <a:ln w="9525">
            <a:solidFill>
              <a:srgbClr val="E4BEBA"/>
            </a:solidFill>
            <a:prstDash val="solid"/>
          </a:ln>
        </p:spPr>
      </p:sp>
      <p:sp>
        <p:nvSpPr>
          <p:cNvPr id="8" name="Text 6"/>
          <p:cNvSpPr txBox="1"/>
          <p:nvPr/>
        </p:nvSpPr>
        <p:spPr>
          <a:xfrm>
            <a:off x="6492240" y="1755648"/>
            <a:ext cx="4754880" cy="365760"/>
          </a:xfrm>
          <a:prstGeom prst="rect">
            <a:avLst/>
          </a:prstGeom>
          <a:noFill/>
          <a:ln/>
        </p:spPr>
        <p:txBody>
          <a:bodyPr wrap="square" lIns="0" tIns="0" rIns="0" bIns="0" rtlCol="0" anchor="ctr"/>
          <a:lstStyle/>
          <a:p>
            <a:pPr indent="0" marL="0">
              <a:buNone/>
            </a:pPr>
            <a:r>
              <a:rPr lang="en-US" sz="2000" b="1" dirty="0">
                <a:solidFill>
                  <a:srgbClr val="006994"/>
                </a:solidFill>
                <a:latin typeface="Cambria" pitchFamily="34" charset="0"/>
                <a:ea typeface="Cambria" pitchFamily="34" charset="-122"/>
                <a:cs typeface="Cambria" pitchFamily="34" charset="-120"/>
              </a:rPr>
              <a:t>Planned work</a:t>
            </a:r>
            <a:endParaRPr lang="en-US" sz="2000" dirty="0"/>
          </a:p>
        </p:txBody>
      </p:sp>
      <p:sp>
        <p:nvSpPr>
          <p:cNvPr id="9" name="Text 7"/>
          <p:cNvSpPr txBox="1"/>
          <p:nvPr/>
        </p:nvSpPr>
        <p:spPr>
          <a:xfrm>
            <a:off x="6492240" y="2231136"/>
            <a:ext cx="4846320" cy="3291840"/>
          </a:xfrm>
          <a:prstGeom prst="rect">
            <a:avLst/>
          </a:prstGeom>
          <a:noFill/>
          <a:ln/>
        </p:spPr>
        <p:txBody>
          <a:bodyPr wrap="square" lIns="0" tIns="0" rIns="0" bIns="0" rtlCol="0" anchor="t"/>
          <a:lstStyle/>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Complete push delivery and add a digest option so busy halls receive one summary rather than an alert per report.</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Build the technician portal — work calendar, repair notes, completion sign-off.</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Offline draft queueing so a report written without signal submits itself when the connection returns.</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On-device media compression before upload.</a:t>
            </a:r>
            <a:endParaRPr lang="en-US" sz="1250" dirty="0"/>
          </a:p>
          <a:p>
            <a:pPr marL="342900" indent="-342900">
              <a:lnSpc>
                <a:spcPts val="1700"/>
              </a:lnSpc>
              <a:spcAft>
                <a:spcPts val="1100"/>
              </a:spcAft>
              <a:buSzPct val="100000"/>
              <a:buChar char="•"/>
            </a:pPr>
            <a:r>
              <a:rPr lang="en-US" sz="1250" dirty="0">
                <a:solidFill>
                  <a:srgbClr val="1A1C1C"/>
                </a:solidFill>
                <a:latin typeface="Calibri" pitchFamily="34" charset="0"/>
                <a:ea typeface="Calibri" pitchFamily="34" charset="-122"/>
                <a:cs typeface="Calibri" pitchFamily="34" charset="-120"/>
              </a:rPr>
              <a:t>Preventive maintenance from recurring fault patterns per block and floor.</a:t>
            </a:r>
            <a:endParaRPr lang="en-US" sz="1250" dirty="0"/>
          </a:p>
        </p:txBody>
      </p:sp>
      <p:sp>
        <p:nvSpPr>
          <p:cNvPr id="10" name="Text 8"/>
          <p:cNvSpPr txBox="1"/>
          <p:nvPr/>
        </p:nvSpPr>
        <p:spPr>
          <a:xfrm>
            <a:off x="566928" y="6400800"/>
            <a:ext cx="5943600" cy="274320"/>
          </a:xfrm>
          <a:prstGeom prst="rect">
            <a:avLst/>
          </a:prstGeom>
          <a:noFill/>
          <a:ln/>
        </p:spPr>
        <p:txBody>
          <a:bodyPr wrap="square" lIns="0" tIns="0" rIns="0" bIns="0" rtlCol="0" anchor="ctr"/>
          <a:lstStyle/>
          <a:p>
            <a:pPr indent="0" marL="0">
              <a:buNone/>
            </a:pPr>
            <a:r>
              <a:rPr lang="en-US" sz="950" dirty="0">
                <a:solidFill>
                  <a:srgbClr val="A59D9B"/>
                </a:solidFill>
                <a:latin typeface="Calibri" pitchFamily="34" charset="0"/>
                <a:ea typeface="Calibri" pitchFamily="34" charset="-122"/>
                <a:cs typeface="Calibri" pitchFamily="34" charset="-120"/>
              </a:rPr>
              <a:t>SnapFix · KNUST Hall Maintenance System</a:t>
            </a:r>
            <a:endParaRPr lang="en-US" sz="950" dirty="0"/>
          </a:p>
        </p:txBody>
      </p:sp>
      <p:sp>
        <p:nvSpPr>
          <p:cNvPr id="11" name="Text 9"/>
          <p:cNvSpPr txBox="1"/>
          <p:nvPr/>
        </p:nvSpPr>
        <p:spPr>
          <a:xfrm>
            <a:off x="10981944" y="6400800"/>
            <a:ext cx="640080" cy="274320"/>
          </a:xfrm>
          <a:prstGeom prst="rect">
            <a:avLst/>
          </a:prstGeom>
          <a:noFill/>
          <a:ln/>
        </p:spPr>
        <p:txBody>
          <a:bodyPr wrap="square" lIns="0" tIns="0" rIns="0" bIns="0" rtlCol="0" anchor="ctr"/>
          <a:lstStyle/>
          <a:p>
            <a:pPr algn="r" indent="0" marL="0">
              <a:buNone/>
            </a:pPr>
            <a:r>
              <a:rPr lang="en-US" sz="950" dirty="0">
                <a:solidFill>
                  <a:srgbClr val="A59D9B"/>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C1C"/>
        </a:solidFill>
      </p:bgPr>
    </p:bg>
    <p:spTree>
      <p:nvGrpSpPr>
        <p:cNvPr id="1" name=""/>
        <p:cNvGrpSpPr/>
        <p:nvPr/>
      </p:nvGrpSpPr>
      <p:grpSpPr>
        <a:xfrm>
          <a:off x="0" y="0"/>
          <a:ext cx="0" cy="0"/>
          <a:chOff x="0" y="0"/>
          <a:chExt cx="0" cy="0"/>
        </a:xfrm>
      </p:grpSpPr>
      <p:sp>
        <p:nvSpPr>
          <p:cNvPr id="2" name="Text 0"/>
          <p:cNvSpPr txBox="1"/>
          <p:nvPr/>
        </p:nvSpPr>
        <p:spPr>
          <a:xfrm>
            <a:off x="566928" y="1371600"/>
            <a:ext cx="11055096"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Conclusion</a:t>
            </a:r>
            <a:endParaRPr lang="en-US" sz="4400" dirty="0"/>
          </a:p>
        </p:txBody>
      </p:sp>
      <p:sp>
        <p:nvSpPr>
          <p:cNvPr id="3" name="Text 1"/>
          <p:cNvSpPr txBox="1"/>
          <p:nvPr/>
        </p:nvSpPr>
        <p:spPr>
          <a:xfrm>
            <a:off x="566928" y="2286000"/>
            <a:ext cx="10607040" cy="1371600"/>
          </a:xfrm>
          <a:prstGeom prst="rect">
            <a:avLst/>
          </a:prstGeom>
          <a:noFill/>
          <a:ln/>
        </p:spPr>
        <p:txBody>
          <a:bodyPr wrap="square" lIns="0" tIns="0" rIns="0" bIns="0" rtlCol="0" anchor="t"/>
          <a:lstStyle/>
          <a:p>
            <a:pPr indent="0" marL="0">
              <a:lnSpc>
                <a:spcPts val="2700"/>
              </a:lnSpc>
              <a:buNone/>
            </a:pPr>
            <a:r>
              <a:rPr lang="en-US" sz="1700" dirty="0">
                <a:solidFill>
                  <a:srgbClr val="D8D2D0"/>
                </a:solidFill>
                <a:latin typeface="Calibri" pitchFamily="34" charset="0"/>
                <a:ea typeface="Calibri" pitchFamily="34" charset="-122"/>
                <a:cs typeface="Calibri" pitchFamily="34" charset="-120"/>
              </a:rPr>
              <a:t>SnapFix replaces the porter's lodge logbook with a working two-client platform over a shared PostgreSQL backend. A student reports a fault from their room with photographic evidence in under a minute; the responsible hall admin is alerted automatically; and the boundary between one hall and the next is enforced by the database rather than by the interface.</a:t>
            </a:r>
            <a:endParaRPr lang="en-US" sz="1700" dirty="0"/>
          </a:p>
        </p:txBody>
      </p:sp>
      <p:sp>
        <p:nvSpPr>
          <p:cNvPr id="4" name="Shape 2"/>
          <p:cNvSpPr/>
          <p:nvPr/>
        </p:nvSpPr>
        <p:spPr>
          <a:xfrm>
            <a:off x="566928" y="3977640"/>
            <a:ext cx="3493008" cy="1371600"/>
          </a:xfrm>
          <a:prstGeom prst="roundRect">
            <a:avLst>
              <a:gd name="adj" fmla="val 5333"/>
            </a:avLst>
          </a:prstGeom>
          <a:solidFill>
            <a:srgbClr val="26292A"/>
          </a:solidFill>
          <a:ln w="9525">
            <a:solidFill>
              <a:srgbClr val="3A3D3E"/>
            </a:solidFill>
            <a:prstDash val="solid"/>
          </a:ln>
        </p:spPr>
      </p:sp>
      <p:sp>
        <p:nvSpPr>
          <p:cNvPr id="5" name="Text 3"/>
          <p:cNvSpPr txBox="1"/>
          <p:nvPr/>
        </p:nvSpPr>
        <p:spPr>
          <a:xfrm>
            <a:off x="841248" y="4169664"/>
            <a:ext cx="2926080" cy="310896"/>
          </a:xfrm>
          <a:prstGeom prst="rect">
            <a:avLst/>
          </a:prstGeom>
          <a:noFill/>
          <a:ln/>
        </p:spPr>
        <p:txBody>
          <a:bodyPr wrap="square" lIns="0" tIns="0" rIns="0" bIns="0" rtlCol="0" anchor="ctr"/>
          <a:lstStyle/>
          <a:p>
            <a:pPr indent="0" marL="0">
              <a:buNone/>
            </a:pPr>
            <a:r>
              <a:rPr lang="en-US" sz="1300" b="1" spc="150" kern="0" dirty="0">
                <a:solidFill>
                  <a:srgbClr val="F5C518"/>
                </a:solidFill>
                <a:latin typeface="Calibri" pitchFamily="34" charset="0"/>
                <a:ea typeface="Calibri" pitchFamily="34" charset="-122"/>
                <a:cs typeface="Calibri" pitchFamily="34" charset="-120"/>
              </a:rPr>
              <a:t>Built</a:t>
            </a:r>
            <a:endParaRPr lang="en-US" sz="1300" dirty="0"/>
          </a:p>
        </p:txBody>
      </p:sp>
      <p:sp>
        <p:nvSpPr>
          <p:cNvPr id="6" name="Text 4"/>
          <p:cNvSpPr txBox="1"/>
          <p:nvPr/>
        </p:nvSpPr>
        <p:spPr>
          <a:xfrm>
            <a:off x="841248" y="4517136"/>
            <a:ext cx="2980944" cy="694944"/>
          </a:xfrm>
          <a:prstGeom prst="rect">
            <a:avLst/>
          </a:prstGeom>
          <a:noFill/>
          <a:ln/>
        </p:spPr>
        <p:txBody>
          <a:bodyPr wrap="square" lIns="0" tIns="0" rIns="0" bIns="0" rtlCol="0" anchor="t"/>
          <a:lstStyle/>
          <a:p>
            <a:pPr indent="0" marL="0">
              <a:lnSpc>
                <a:spcPts val="1600"/>
              </a:lnSpc>
              <a:buNone/>
            </a:pPr>
            <a:r>
              <a:rPr lang="en-US" sz="1200" dirty="0">
                <a:solidFill>
                  <a:srgbClr val="C9C2C0"/>
                </a:solidFill>
                <a:latin typeface="Calibri" pitchFamily="34" charset="0"/>
                <a:ea typeface="Calibri" pitchFamily="34" charset="-122"/>
                <a:cs typeface="Calibri" pitchFamily="34" charset="-120"/>
              </a:rPr>
              <a:t>Mobile client, admin dashboard, database, notification pipeline</a:t>
            </a:r>
            <a:endParaRPr lang="en-US" sz="1200" dirty="0"/>
          </a:p>
        </p:txBody>
      </p:sp>
      <p:sp>
        <p:nvSpPr>
          <p:cNvPr id="7" name="Shape 5"/>
          <p:cNvSpPr/>
          <p:nvPr/>
        </p:nvSpPr>
        <p:spPr>
          <a:xfrm>
            <a:off x="4279392" y="3977640"/>
            <a:ext cx="3493008" cy="1371600"/>
          </a:xfrm>
          <a:prstGeom prst="roundRect">
            <a:avLst>
              <a:gd name="adj" fmla="val 5333"/>
            </a:avLst>
          </a:prstGeom>
          <a:solidFill>
            <a:srgbClr val="26292A"/>
          </a:solidFill>
          <a:ln w="9525">
            <a:solidFill>
              <a:srgbClr val="3A3D3E"/>
            </a:solidFill>
            <a:prstDash val="solid"/>
          </a:ln>
        </p:spPr>
      </p:sp>
      <p:sp>
        <p:nvSpPr>
          <p:cNvPr id="8" name="Text 6"/>
          <p:cNvSpPr txBox="1"/>
          <p:nvPr/>
        </p:nvSpPr>
        <p:spPr>
          <a:xfrm>
            <a:off x="4553712" y="4169664"/>
            <a:ext cx="2926080" cy="310896"/>
          </a:xfrm>
          <a:prstGeom prst="rect">
            <a:avLst/>
          </a:prstGeom>
          <a:noFill/>
          <a:ln/>
        </p:spPr>
        <p:txBody>
          <a:bodyPr wrap="square" lIns="0" tIns="0" rIns="0" bIns="0" rtlCol="0" anchor="ctr"/>
          <a:lstStyle/>
          <a:p>
            <a:pPr indent="0" marL="0">
              <a:buNone/>
            </a:pPr>
            <a:r>
              <a:rPr lang="en-US" sz="1300" b="1" spc="150" kern="0" dirty="0">
                <a:solidFill>
                  <a:srgbClr val="F5C518"/>
                </a:solidFill>
                <a:latin typeface="Calibri" pitchFamily="34" charset="0"/>
                <a:ea typeface="Calibri" pitchFamily="34" charset="-122"/>
                <a:cs typeface="Calibri" pitchFamily="34" charset="-120"/>
              </a:rPr>
              <a:t>Verified</a:t>
            </a:r>
            <a:endParaRPr lang="en-US" sz="1300" dirty="0"/>
          </a:p>
        </p:txBody>
      </p:sp>
      <p:sp>
        <p:nvSpPr>
          <p:cNvPr id="9" name="Text 7"/>
          <p:cNvSpPr txBox="1"/>
          <p:nvPr/>
        </p:nvSpPr>
        <p:spPr>
          <a:xfrm>
            <a:off x="4553712" y="4517136"/>
            <a:ext cx="2980944" cy="694944"/>
          </a:xfrm>
          <a:prstGeom prst="rect">
            <a:avLst/>
          </a:prstGeom>
          <a:noFill/>
          <a:ln/>
        </p:spPr>
        <p:txBody>
          <a:bodyPr wrap="square" lIns="0" tIns="0" rIns="0" bIns="0" rtlCol="0" anchor="t"/>
          <a:lstStyle/>
          <a:p>
            <a:pPr indent="0" marL="0">
              <a:lnSpc>
                <a:spcPts val="1600"/>
              </a:lnSpc>
              <a:buNone/>
            </a:pPr>
            <a:r>
              <a:rPr lang="en-US" sz="1200" dirty="0">
                <a:solidFill>
                  <a:srgbClr val="C9C2C0"/>
                </a:solidFill>
                <a:latin typeface="Calibri" pitchFamily="34" charset="0"/>
                <a:ea typeface="Calibri" pitchFamily="34" charset="-122"/>
                <a:cs typeface="Calibri" pitchFamily="34" charset="-120"/>
              </a:rPr>
              <a:t>Functional tests on device; access boundaries tested as each role</a:t>
            </a:r>
            <a:endParaRPr lang="en-US" sz="1200" dirty="0"/>
          </a:p>
        </p:txBody>
      </p:sp>
      <p:sp>
        <p:nvSpPr>
          <p:cNvPr id="10" name="Shape 8"/>
          <p:cNvSpPr/>
          <p:nvPr/>
        </p:nvSpPr>
        <p:spPr>
          <a:xfrm>
            <a:off x="7991856" y="3977640"/>
            <a:ext cx="3493008" cy="1371600"/>
          </a:xfrm>
          <a:prstGeom prst="roundRect">
            <a:avLst>
              <a:gd name="adj" fmla="val 5333"/>
            </a:avLst>
          </a:prstGeom>
          <a:solidFill>
            <a:srgbClr val="26292A"/>
          </a:solidFill>
          <a:ln w="9525">
            <a:solidFill>
              <a:srgbClr val="3A3D3E"/>
            </a:solidFill>
            <a:prstDash val="solid"/>
          </a:ln>
        </p:spPr>
      </p:sp>
      <p:sp>
        <p:nvSpPr>
          <p:cNvPr id="11" name="Text 9"/>
          <p:cNvSpPr txBox="1"/>
          <p:nvPr/>
        </p:nvSpPr>
        <p:spPr>
          <a:xfrm>
            <a:off x="8266176" y="4169664"/>
            <a:ext cx="2926080" cy="310896"/>
          </a:xfrm>
          <a:prstGeom prst="rect">
            <a:avLst/>
          </a:prstGeom>
          <a:noFill/>
          <a:ln/>
        </p:spPr>
        <p:txBody>
          <a:bodyPr wrap="square" lIns="0" tIns="0" rIns="0" bIns="0" rtlCol="0" anchor="ctr"/>
          <a:lstStyle/>
          <a:p>
            <a:pPr indent="0" marL="0">
              <a:buNone/>
            </a:pPr>
            <a:r>
              <a:rPr lang="en-US" sz="1300" b="1" spc="150" kern="0" dirty="0">
                <a:solidFill>
                  <a:srgbClr val="F5C518"/>
                </a:solidFill>
                <a:latin typeface="Calibri" pitchFamily="34" charset="0"/>
                <a:ea typeface="Calibri" pitchFamily="34" charset="-122"/>
                <a:cs typeface="Calibri" pitchFamily="34" charset="-120"/>
              </a:rPr>
              <a:t>Next</a:t>
            </a:r>
            <a:endParaRPr lang="en-US" sz="1300" dirty="0"/>
          </a:p>
        </p:txBody>
      </p:sp>
      <p:sp>
        <p:nvSpPr>
          <p:cNvPr id="12" name="Text 10"/>
          <p:cNvSpPr txBox="1"/>
          <p:nvPr/>
        </p:nvSpPr>
        <p:spPr>
          <a:xfrm>
            <a:off x="8266176" y="4517136"/>
            <a:ext cx="2980944" cy="694944"/>
          </a:xfrm>
          <a:prstGeom prst="rect">
            <a:avLst/>
          </a:prstGeom>
          <a:noFill/>
          <a:ln/>
        </p:spPr>
        <p:txBody>
          <a:bodyPr wrap="square" lIns="0" tIns="0" rIns="0" bIns="0" rtlCol="0" anchor="t"/>
          <a:lstStyle/>
          <a:p>
            <a:pPr indent="0" marL="0">
              <a:lnSpc>
                <a:spcPts val="1600"/>
              </a:lnSpc>
              <a:buNone/>
            </a:pPr>
            <a:r>
              <a:rPr lang="en-US" sz="1200" dirty="0">
                <a:solidFill>
                  <a:srgbClr val="C9C2C0"/>
                </a:solidFill>
                <a:latin typeface="Calibri" pitchFamily="34" charset="0"/>
                <a:ea typeface="Calibri" pitchFamily="34" charset="-122"/>
                <a:cs typeface="Calibri" pitchFamily="34" charset="-120"/>
              </a:rPr>
              <a:t>Push delivery, technician portal, offline drafts</a:t>
            </a:r>
            <a:endParaRPr lang="en-US" sz="1200" dirty="0"/>
          </a:p>
        </p:txBody>
      </p:sp>
      <p:sp>
        <p:nvSpPr>
          <p:cNvPr id="13" name="Text 11"/>
          <p:cNvSpPr txBox="1"/>
          <p:nvPr/>
        </p:nvSpPr>
        <p:spPr>
          <a:xfrm>
            <a:off x="566928" y="5705856"/>
            <a:ext cx="10607040" cy="365760"/>
          </a:xfrm>
          <a:prstGeom prst="rect">
            <a:avLst/>
          </a:prstGeom>
          <a:noFill/>
          <a:ln/>
        </p:spPr>
        <p:txBody>
          <a:bodyPr wrap="square" lIns="0" tIns="0" rIns="0" bIns="0" rtlCol="0" anchor="ctr"/>
          <a:lstStyle/>
          <a:p>
            <a:pPr indent="0" marL="0">
              <a:buNone/>
            </a:pPr>
            <a:r>
              <a:rPr lang="en-US" sz="1800" b="1" i="1" dirty="0">
                <a:solidFill>
                  <a:srgbClr val="FFFFFF"/>
                </a:solidFill>
                <a:latin typeface="Cambria" pitchFamily="34" charset="0"/>
                <a:ea typeface="Cambria" pitchFamily="34" charset="-122"/>
                <a:cs typeface="Cambria" pitchFamily="34" charset="-120"/>
              </a:rPr>
              <a:t>Thank you — questions welcome</a:t>
            </a:r>
            <a:endParaRPr lang="en-US" sz="1800" dirty="0"/>
          </a:p>
        </p:txBody>
      </p:sp>
      <p:sp>
        <p:nvSpPr>
          <p:cNvPr id="14" name="Shape 12"/>
          <p:cNvSpPr/>
          <p:nvPr/>
        </p:nvSpPr>
        <p:spPr>
          <a:xfrm>
            <a:off x="0" y="6547104"/>
            <a:ext cx="12188952" cy="310896"/>
          </a:xfrm>
          <a:prstGeom prst="rect">
            <a:avLst/>
          </a:prstGeom>
          <a:solidFill>
            <a:srgbClr val="AF101A"/>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SnapFix — KNUST Hall Maintenance System</dc:title>
  <dc:subject>PptxGenJS Presentation</dc:subject>
  <dc:creator>SnapFix Project Team</dc:creator>
  <cp:lastModifiedBy>SnapFix Project Team</cp:lastModifiedBy>
  <cp:revision>1</cp:revision>
  <dcterms:created xsi:type="dcterms:W3CDTF">2026-09-09T10:50:55Z</dcterms:created>
  <dcterms:modified xsi:type="dcterms:W3CDTF">2026-09-09T10:50:55Z</dcterms:modified>
</cp:coreProperties>
</file>